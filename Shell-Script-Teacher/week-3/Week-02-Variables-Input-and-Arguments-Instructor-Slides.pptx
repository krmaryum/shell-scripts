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6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Connect Week 2 to Week 1: scripts now receive and transform data.</a:t>
            </a:r>
          </a:p>
          <a:p>
            <a:r>
              <a:t>State the milestone: students must preserve spaces and reject bad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outcomes as evidence students will produce.</a:t>
            </a:r>
          </a:p>
          <a:p>
            <a:r>
              <a:t>Ask which input source is interactive and which is automation-friendly.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Demonstrate assignment, expansion, and output with one full name.</a:t>
            </a:r>
          </a:p>
          <a:p>
            <a:r>
              <a:t>Ask why the value is quoted during expansion.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four-stage model for every Week 2 lab.</a:t>
            </a:r>
          </a:p>
          <a:p>
            <a:r>
              <a:t>Ask what should happen when validation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no-spaces rule around equals.</a:t>
            </a:r>
          </a:p>
          <a:p>
            <a:r>
              <a:t>Explain braces as a boundary marker, not a different variable type.</a:t>
            </a:r>
          </a:p>
          <a:p>
            <a:r>
              <a:t>Preview command substitution as run first, then capture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Run the variable-quoting-demo.sh script.</a:t>
            </a:r>
          </a:p>
          <a:p>
            <a:r>
              <a:t>Ask students to predict literal versus expanded output.</a:t>
            </a:r>
          </a:p>
          <a:p>
            <a:r>
              <a:t>Show unquoted expansion only as a risk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Run the interactive-server-greeting.sh script.</a:t>
            </a:r>
          </a:p>
          <a:p>
            <a:r>
              <a:t>Test a full name, backslash input, and empty input.</a:t>
            </a:r>
          </a:p>
          <a:p>
            <a:r>
              <a:t>Require students to explain read -r and -z.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read, validate, and use as separate responsibilities.</a:t>
            </a:r>
          </a:p>
          <a:p>
            <a:r>
              <a:t>Ask whether a prompt guarantees valid input. Expected: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Run argument-demo.sh with a quoted first argument.</a:t>
            </a:r>
          </a:p>
          <a:p>
            <a:r>
              <a:t>Map each token to $0, $1, $2, and $#.</a:t>
            </a:r>
          </a:p>
          <a:p>
            <a:r>
              <a:t>Emphasize quoted $@ as the safe all-arguments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Create a file named server report.txt before the demo.</a:t>
            </a:r>
          </a:p>
          <a:p>
            <a:r>
              <a:t>Test normal, missing, and no-argument invocations.</a:t>
            </a:r>
          </a:p>
          <a:p>
            <a:r>
              <a:t>Ask why the script checks $# before reading $1.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Week-02-Student-Labs.md.</a:t>
            </a:r>
          </a:p>
          <a:p>
            <a:r>
              <a:t>Require a spaces test and a failure-path test for each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practical checkpoint in the assessment file.</a:t>
            </a:r>
          </a:p>
          <a:p>
            <a:r>
              <a:t>Award M2 only when the student explains quoting and validation.</a:t>
            </a:r>
          </a:p>
          <a:p>
            <a:r>
              <a:t>Preview Week 3 decisions and conditionals.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ver-accent">
            <a:extLst>
              <a:ext uri="{FF2B5EF4-FFF2-40B4-BE49-F238E27FC236}">
                <a16:creationId xmlns:a16="http://schemas.microsoft.com/office/drawing/2014/main" id="{F29C4EF9-3148-4EDC-A53D-CADEEAA224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9050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cover-eyebrow">
            <a:extLst>
              <a:ext uri="{FF2B5EF4-FFF2-40B4-BE49-F238E27FC236}">
                <a16:creationId xmlns:a16="http://schemas.microsoft.com/office/drawing/2014/main" id="{39B2893C-FB00-423C-A557-A5262FAF05B0}"/>
              </a:ext>
            </a:extLst>
          </p:cNvPr>
          <p:cNvSpPr>
            <a:spLocks noGrp="1"/>
          </p:cNvSpPr>
          <p:nvPr/>
        </p:nvSpPr>
        <p:spPr>
          <a:xfrm>
            <a:off x="457200" y="523875"/>
            <a:ext cx="4572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BASH SCRIPTING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E8F11F62-AAF8-4B6A-9957-FBF04B74A106}"/>
              </a:ext>
            </a:extLst>
          </p:cNvPr>
          <p:cNvSpPr>
            <a:spLocks noGrp="1"/>
          </p:cNvSpPr>
          <p:nvPr/>
        </p:nvSpPr>
        <p:spPr>
          <a:xfrm>
            <a:off x="457200" y="1476375"/>
            <a:ext cx="8382000" cy="2095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Week 2</a:t>
            </a:r>
          </a:p>
          <a:p>
            <a:pPr algn="l">
              <a:buNone/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Variables and Input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C57B6EA8-D094-430E-A709-F4A3E76A9872}"/>
              </a:ext>
            </a:extLst>
          </p:cNvPr>
          <p:cNvSpPr>
            <a:spLocks noGrp="1"/>
          </p:cNvSpPr>
          <p:nvPr/>
        </p:nvSpPr>
        <p:spPr>
          <a:xfrm>
            <a:off x="495300" y="3905250"/>
            <a:ext cx="781050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2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Store, protect, validate, and use script data</a:t>
            </a:r>
          </a:p>
        </p:txBody>
      </p:sp>
      <p:sp>
        <p:nvSpPr>
          <p:cNvPr id="5" name="cover-rule">
            <a:extLst>
              <a:ext uri="{FF2B5EF4-FFF2-40B4-BE49-F238E27FC236}">
                <a16:creationId xmlns:a16="http://schemas.microsoft.com/office/drawing/2014/main" id="{66B110D6-30AB-4625-958B-04D3A2A515AE}"/>
              </a:ext>
            </a:extLst>
          </p:cNvPr>
          <p:cNvSpPr>
            <a:spLocks noGrp="1"/>
          </p:cNvSpPr>
          <p:nvPr/>
        </p:nvSpPr>
        <p:spPr>
          <a:xfrm>
            <a:off x="457200" y="5095875"/>
            <a:ext cx="3429000" cy="476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ver-meta">
            <a:extLst>
              <a:ext uri="{FF2B5EF4-FFF2-40B4-BE49-F238E27FC236}">
                <a16:creationId xmlns:a16="http://schemas.microsoft.com/office/drawing/2014/main" id="{AD1948E2-DEEB-490A-B505-000C7ABE725F}"/>
              </a:ext>
            </a:extLst>
          </p:cNvPr>
          <p:cNvSpPr>
            <a:spLocks noGrp="1"/>
          </p:cNvSpPr>
          <p:nvPr/>
        </p:nvSpPr>
        <p:spPr>
          <a:xfrm>
            <a:off x="457200" y="5429250"/>
            <a:ext cx="72390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Two 90-minute lessons  |  Milestone M2: Input Handler</a:t>
            </a:r>
          </a:p>
        </p:txBody>
      </p:sp>
      <p:sp>
        <p:nvSpPr>
          <p:cNvPr id="7" name="cover-instructor">
            <a:extLst>
              <a:ext uri="{FF2B5EF4-FFF2-40B4-BE49-F238E27FC236}">
                <a16:creationId xmlns:a16="http://schemas.microsoft.com/office/drawing/2014/main" id="{7529F661-7ED4-4516-8D8B-9AEE920508FF}"/>
              </a:ext>
            </a:extLst>
          </p:cNvPr>
          <p:cNvSpPr>
            <a:spLocks noGrp="1"/>
          </p:cNvSpPr>
          <p:nvPr/>
        </p:nvSpPr>
        <p:spPr>
          <a:xfrm>
            <a:off x="457200" y="6115050"/>
            <a:ext cx="49530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Instructor: Muhammad Khalid Khan</a:t>
            </a:r>
          </a:p>
        </p:txBody>
      </p:sp>
    </p:spTree>
    <p:extLst>
      <p:ext uri="{BB962C8B-B14F-4D97-AF65-F5344CB8AC3E}">
        <p14:creationId xmlns:p14="http://schemas.microsoft.com/office/powerpoint/2010/main" val="1131664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-2">
            <a:extLst>
              <a:ext uri="{FF2B5EF4-FFF2-40B4-BE49-F238E27FC236}">
                <a16:creationId xmlns:a16="http://schemas.microsoft.com/office/drawing/2014/main" id="{EB155FB7-DA7E-4412-8798-ABF492A81864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000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BASH SCRIPTING | WEEK 2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263FC082-5C44-4E1B-816B-18939B4F2326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0668000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By the end of Week 2, you can control script input</a:t>
            </a:r>
          </a:p>
        </p:txBody>
      </p:sp>
      <p:sp>
        <p:nvSpPr>
          <p:cNvPr id="3" name="header-rule-2">
            <a:extLst>
              <a:ext uri="{FF2B5EF4-FFF2-40B4-BE49-F238E27FC236}">
                <a16:creationId xmlns:a16="http://schemas.microsoft.com/office/drawing/2014/main" id="{A31ECC28-15D7-4F07-9D50-57C3ADF8C389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2776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2">
            <a:extLst>
              <a:ext uri="{FF2B5EF4-FFF2-40B4-BE49-F238E27FC236}">
                <a16:creationId xmlns:a16="http://schemas.microsoft.com/office/drawing/2014/main" id="{3C9A45C8-F802-42EC-AD55-1DE2207AF47E}"/>
              </a:ext>
            </a:extLst>
          </p:cNvPr>
          <p:cNvSpPr>
            <a:spLocks noGrp="1"/>
          </p:cNvSpPr>
          <p:nvPr/>
        </p:nvSpPr>
        <p:spPr>
          <a:xfrm>
            <a:off x="11239500" y="6238875"/>
            <a:ext cx="4953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5" name="footer-2">
            <a:extLst>
              <a:ext uri="{FF2B5EF4-FFF2-40B4-BE49-F238E27FC236}">
                <a16:creationId xmlns:a16="http://schemas.microsoft.com/office/drawing/2014/main" id="{D38D3D57-282B-47DD-A858-390677418146}"/>
              </a:ext>
            </a:extLst>
          </p:cNvPr>
          <p:cNvSpPr>
            <a:spLocks noGrp="1"/>
          </p:cNvSpPr>
          <p:nvPr/>
        </p:nvSpPr>
        <p:spPr>
          <a:xfrm>
            <a:off x="457200" y="6238875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outcome-number-1">
            <a:extLst>
              <a:ext uri="{FF2B5EF4-FFF2-40B4-BE49-F238E27FC236}">
                <a16:creationId xmlns:a16="http://schemas.microsoft.com/office/drawing/2014/main" id="{EDA781FF-6709-42AF-B154-FA986A62EC70}"/>
              </a:ext>
            </a:extLst>
          </p:cNvPr>
          <p:cNvSpPr>
            <a:spLocks noGrp="1"/>
          </p:cNvSpPr>
          <p:nvPr/>
        </p:nvSpPr>
        <p:spPr>
          <a:xfrm>
            <a:off x="457200" y="1847850"/>
            <a:ext cx="552450" cy="4572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utcome-num-text-1">
            <a:extLst>
              <a:ext uri="{FF2B5EF4-FFF2-40B4-BE49-F238E27FC236}">
                <a16:creationId xmlns:a16="http://schemas.microsoft.com/office/drawing/2014/main" id="{21136BE8-C515-4B6B-8868-0A2F44154265}"/>
              </a:ext>
            </a:extLst>
          </p:cNvPr>
          <p:cNvSpPr>
            <a:spLocks noGrp="1"/>
          </p:cNvSpPr>
          <p:nvPr/>
        </p:nvSpPr>
        <p:spPr>
          <a:xfrm>
            <a:off x="457200" y="1943100"/>
            <a:ext cx="5524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8" name="outcome-text-1">
            <a:extLst>
              <a:ext uri="{FF2B5EF4-FFF2-40B4-BE49-F238E27FC236}">
                <a16:creationId xmlns:a16="http://schemas.microsoft.com/office/drawing/2014/main" id="{C7FD2EB6-2E43-410F-832A-D6248DE12BCE}"/>
              </a:ext>
            </a:extLst>
          </p:cNvPr>
          <p:cNvSpPr>
            <a:spLocks noGrp="1"/>
          </p:cNvSpPr>
          <p:nvPr/>
        </p:nvSpPr>
        <p:spPr>
          <a:xfrm>
            <a:off x="1257300" y="1895475"/>
            <a:ext cx="9715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Create and expand variables correctly</a:t>
            </a:r>
          </a:p>
        </p:txBody>
      </p:sp>
      <p:sp>
        <p:nvSpPr>
          <p:cNvPr id="9" name="outcome-rule-1">
            <a:extLst>
              <a:ext uri="{FF2B5EF4-FFF2-40B4-BE49-F238E27FC236}">
                <a16:creationId xmlns:a16="http://schemas.microsoft.com/office/drawing/2014/main" id="{88E3E2B5-2DE0-4E8F-A32F-4215672A7453}"/>
              </a:ext>
            </a:extLst>
          </p:cNvPr>
          <p:cNvSpPr>
            <a:spLocks noGrp="1"/>
          </p:cNvSpPr>
          <p:nvPr/>
        </p:nvSpPr>
        <p:spPr>
          <a:xfrm>
            <a:off x="1257300" y="234315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utcome-number-2">
            <a:extLst>
              <a:ext uri="{FF2B5EF4-FFF2-40B4-BE49-F238E27FC236}">
                <a16:creationId xmlns:a16="http://schemas.microsoft.com/office/drawing/2014/main" id="{CD01714D-FEA7-4428-8D84-079D86BA9A51}"/>
              </a:ext>
            </a:extLst>
          </p:cNvPr>
          <p:cNvSpPr>
            <a:spLocks noGrp="1"/>
          </p:cNvSpPr>
          <p:nvPr/>
        </p:nvSpPr>
        <p:spPr>
          <a:xfrm>
            <a:off x="457200" y="2514600"/>
            <a:ext cx="552450" cy="4572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utcome-num-text-2">
            <a:extLst>
              <a:ext uri="{FF2B5EF4-FFF2-40B4-BE49-F238E27FC236}">
                <a16:creationId xmlns:a16="http://schemas.microsoft.com/office/drawing/2014/main" id="{8D7FD6D3-C485-49F3-9CCF-509D5BE10D2A}"/>
              </a:ext>
            </a:extLst>
          </p:cNvPr>
          <p:cNvSpPr>
            <a:spLocks noGrp="1"/>
          </p:cNvSpPr>
          <p:nvPr/>
        </p:nvSpPr>
        <p:spPr>
          <a:xfrm>
            <a:off x="457200" y="2609850"/>
            <a:ext cx="5524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2" name="outcome-text-2">
            <a:extLst>
              <a:ext uri="{FF2B5EF4-FFF2-40B4-BE49-F238E27FC236}">
                <a16:creationId xmlns:a16="http://schemas.microsoft.com/office/drawing/2014/main" id="{AC627734-9853-418E-ABC0-6AA34CFFF465}"/>
              </a:ext>
            </a:extLst>
          </p:cNvPr>
          <p:cNvSpPr>
            <a:spLocks noGrp="1"/>
          </p:cNvSpPr>
          <p:nvPr/>
        </p:nvSpPr>
        <p:spPr>
          <a:xfrm>
            <a:off x="1257300" y="2562225"/>
            <a:ext cx="9715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Compare unquoted, single-quoted, and double-quoted text</a:t>
            </a:r>
          </a:p>
        </p:txBody>
      </p:sp>
      <p:sp>
        <p:nvSpPr>
          <p:cNvPr id="13" name="outcome-rule-2">
            <a:extLst>
              <a:ext uri="{FF2B5EF4-FFF2-40B4-BE49-F238E27FC236}">
                <a16:creationId xmlns:a16="http://schemas.microsoft.com/office/drawing/2014/main" id="{727A6B94-9BDF-453C-A419-4BA5B417DAF1}"/>
              </a:ext>
            </a:extLst>
          </p:cNvPr>
          <p:cNvSpPr>
            <a:spLocks noGrp="1"/>
          </p:cNvSpPr>
          <p:nvPr/>
        </p:nvSpPr>
        <p:spPr>
          <a:xfrm>
            <a:off x="1257300" y="300990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utcome-number-3">
            <a:extLst>
              <a:ext uri="{FF2B5EF4-FFF2-40B4-BE49-F238E27FC236}">
                <a16:creationId xmlns:a16="http://schemas.microsoft.com/office/drawing/2014/main" id="{D026C946-011F-4984-90F1-AFD987CB66EB}"/>
              </a:ext>
            </a:extLst>
          </p:cNvPr>
          <p:cNvSpPr>
            <a:spLocks noGrp="1"/>
          </p:cNvSpPr>
          <p:nvPr/>
        </p:nvSpPr>
        <p:spPr>
          <a:xfrm>
            <a:off x="457200" y="3181350"/>
            <a:ext cx="552450" cy="4572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utcome-num-text-3">
            <a:extLst>
              <a:ext uri="{FF2B5EF4-FFF2-40B4-BE49-F238E27FC236}">
                <a16:creationId xmlns:a16="http://schemas.microsoft.com/office/drawing/2014/main" id="{CE511409-81CB-462E-91B5-31D8AE48503F}"/>
              </a:ext>
            </a:extLst>
          </p:cNvPr>
          <p:cNvSpPr>
            <a:spLocks noGrp="1"/>
          </p:cNvSpPr>
          <p:nvPr/>
        </p:nvSpPr>
        <p:spPr>
          <a:xfrm>
            <a:off x="457200" y="3276600"/>
            <a:ext cx="5524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outcome-text-3">
            <a:extLst>
              <a:ext uri="{FF2B5EF4-FFF2-40B4-BE49-F238E27FC236}">
                <a16:creationId xmlns:a16="http://schemas.microsoft.com/office/drawing/2014/main" id="{9590294A-3511-4526-A530-B2AE28BE3195}"/>
              </a:ext>
            </a:extLst>
          </p:cNvPr>
          <p:cNvSpPr>
            <a:spLocks noGrp="1"/>
          </p:cNvSpPr>
          <p:nvPr/>
        </p:nvSpPr>
        <p:spPr>
          <a:xfrm>
            <a:off x="1257300" y="3228975"/>
            <a:ext cx="9715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Capture command output with $(command)</a:t>
            </a:r>
          </a:p>
        </p:txBody>
      </p:sp>
      <p:sp>
        <p:nvSpPr>
          <p:cNvPr id="17" name="outcome-rule-3">
            <a:extLst>
              <a:ext uri="{FF2B5EF4-FFF2-40B4-BE49-F238E27FC236}">
                <a16:creationId xmlns:a16="http://schemas.microsoft.com/office/drawing/2014/main" id="{BDFA86D9-CD1B-4555-B442-A193CE97CFC5}"/>
              </a:ext>
            </a:extLst>
          </p:cNvPr>
          <p:cNvSpPr>
            <a:spLocks noGrp="1"/>
          </p:cNvSpPr>
          <p:nvPr/>
        </p:nvSpPr>
        <p:spPr>
          <a:xfrm>
            <a:off x="1257300" y="367665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utcome-number-4">
            <a:extLst>
              <a:ext uri="{FF2B5EF4-FFF2-40B4-BE49-F238E27FC236}">
                <a16:creationId xmlns:a16="http://schemas.microsoft.com/office/drawing/2014/main" id="{DF8186AB-D085-45EE-B87C-09D6E95F2E8A}"/>
              </a:ext>
            </a:extLst>
          </p:cNvPr>
          <p:cNvSpPr>
            <a:spLocks noGrp="1"/>
          </p:cNvSpPr>
          <p:nvPr/>
        </p:nvSpPr>
        <p:spPr>
          <a:xfrm>
            <a:off x="457200" y="3848100"/>
            <a:ext cx="552450" cy="4572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utcome-num-text-4">
            <a:extLst>
              <a:ext uri="{FF2B5EF4-FFF2-40B4-BE49-F238E27FC236}">
                <a16:creationId xmlns:a16="http://schemas.microsoft.com/office/drawing/2014/main" id="{F63FA980-8719-439B-8E91-BF05B7C53A4F}"/>
              </a:ext>
            </a:extLst>
          </p:cNvPr>
          <p:cNvSpPr>
            <a:spLocks noGrp="1"/>
          </p:cNvSpPr>
          <p:nvPr/>
        </p:nvSpPr>
        <p:spPr>
          <a:xfrm>
            <a:off x="457200" y="3943350"/>
            <a:ext cx="5524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20" name="outcome-text-4">
            <a:extLst>
              <a:ext uri="{FF2B5EF4-FFF2-40B4-BE49-F238E27FC236}">
                <a16:creationId xmlns:a16="http://schemas.microsoft.com/office/drawing/2014/main" id="{180B6F4C-5801-43DE-A5E9-4593C3E41EA8}"/>
              </a:ext>
            </a:extLst>
          </p:cNvPr>
          <p:cNvSpPr>
            <a:spLocks noGrp="1"/>
          </p:cNvSpPr>
          <p:nvPr/>
        </p:nvSpPr>
        <p:spPr>
          <a:xfrm>
            <a:off x="1257300" y="3895725"/>
            <a:ext cx="9715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Accept interactive input with read -r</a:t>
            </a:r>
          </a:p>
        </p:txBody>
      </p:sp>
      <p:sp>
        <p:nvSpPr>
          <p:cNvPr id="21" name="outcome-rule-4">
            <a:extLst>
              <a:ext uri="{FF2B5EF4-FFF2-40B4-BE49-F238E27FC236}">
                <a16:creationId xmlns:a16="http://schemas.microsoft.com/office/drawing/2014/main" id="{DB3DA7BD-8DEF-4251-858D-200C26B0C61D}"/>
              </a:ext>
            </a:extLst>
          </p:cNvPr>
          <p:cNvSpPr>
            <a:spLocks noGrp="1"/>
          </p:cNvSpPr>
          <p:nvPr/>
        </p:nvSpPr>
        <p:spPr>
          <a:xfrm>
            <a:off x="1257300" y="434340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utcome-number-5">
            <a:extLst>
              <a:ext uri="{FF2B5EF4-FFF2-40B4-BE49-F238E27FC236}">
                <a16:creationId xmlns:a16="http://schemas.microsoft.com/office/drawing/2014/main" id="{8E95CFD8-E784-4674-BB26-E0F338B3333B}"/>
              </a:ext>
            </a:extLst>
          </p:cNvPr>
          <p:cNvSpPr>
            <a:spLocks noGrp="1"/>
          </p:cNvSpPr>
          <p:nvPr/>
        </p:nvSpPr>
        <p:spPr>
          <a:xfrm>
            <a:off x="457200" y="4514850"/>
            <a:ext cx="552450" cy="4572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utcome-num-text-5">
            <a:extLst>
              <a:ext uri="{FF2B5EF4-FFF2-40B4-BE49-F238E27FC236}">
                <a16:creationId xmlns:a16="http://schemas.microsoft.com/office/drawing/2014/main" id="{6C040571-E3F0-478D-BAED-AB7DAC4726DA}"/>
              </a:ext>
            </a:extLst>
          </p:cNvPr>
          <p:cNvSpPr>
            <a:spLocks noGrp="1"/>
          </p:cNvSpPr>
          <p:nvPr/>
        </p:nvSpPr>
        <p:spPr>
          <a:xfrm>
            <a:off x="457200" y="4610100"/>
            <a:ext cx="5524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24" name="outcome-text-5">
            <a:extLst>
              <a:ext uri="{FF2B5EF4-FFF2-40B4-BE49-F238E27FC236}">
                <a16:creationId xmlns:a16="http://schemas.microsoft.com/office/drawing/2014/main" id="{F5BBCB94-6096-44F9-B4E3-7D3F9FCEA5CC}"/>
              </a:ext>
            </a:extLst>
          </p:cNvPr>
          <p:cNvSpPr>
            <a:spLocks noGrp="1"/>
          </p:cNvSpPr>
          <p:nvPr/>
        </p:nvSpPr>
        <p:spPr>
          <a:xfrm>
            <a:off x="1257300" y="4562475"/>
            <a:ext cx="9715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Use $0, $1, $#, and quoted $@</a:t>
            </a:r>
          </a:p>
        </p:txBody>
      </p:sp>
      <p:sp>
        <p:nvSpPr>
          <p:cNvPr id="25" name="outcome-rule-5">
            <a:extLst>
              <a:ext uri="{FF2B5EF4-FFF2-40B4-BE49-F238E27FC236}">
                <a16:creationId xmlns:a16="http://schemas.microsoft.com/office/drawing/2014/main" id="{F32DA851-84E8-40D2-83D0-0BA9EDF1FD1E}"/>
              </a:ext>
            </a:extLst>
          </p:cNvPr>
          <p:cNvSpPr>
            <a:spLocks noGrp="1"/>
          </p:cNvSpPr>
          <p:nvPr/>
        </p:nvSpPr>
        <p:spPr>
          <a:xfrm>
            <a:off x="1257300" y="501015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utcome-number-6">
            <a:extLst>
              <a:ext uri="{FF2B5EF4-FFF2-40B4-BE49-F238E27FC236}">
                <a16:creationId xmlns:a16="http://schemas.microsoft.com/office/drawing/2014/main" id="{DE36D6C3-8886-42D7-A63A-6A02A3E817EC}"/>
              </a:ext>
            </a:extLst>
          </p:cNvPr>
          <p:cNvSpPr>
            <a:spLocks noGrp="1"/>
          </p:cNvSpPr>
          <p:nvPr/>
        </p:nvSpPr>
        <p:spPr>
          <a:xfrm>
            <a:off x="457200" y="5181600"/>
            <a:ext cx="552450" cy="45720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utcome-num-text-6">
            <a:extLst>
              <a:ext uri="{FF2B5EF4-FFF2-40B4-BE49-F238E27FC236}">
                <a16:creationId xmlns:a16="http://schemas.microsoft.com/office/drawing/2014/main" id="{FAFB0493-535E-475A-9B67-CFD7200AB9FE}"/>
              </a:ext>
            </a:extLst>
          </p:cNvPr>
          <p:cNvSpPr>
            <a:spLocks noGrp="1"/>
          </p:cNvSpPr>
          <p:nvPr/>
        </p:nvSpPr>
        <p:spPr>
          <a:xfrm>
            <a:off x="457200" y="5276850"/>
            <a:ext cx="5524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28" name="outcome-text-6">
            <a:extLst>
              <a:ext uri="{FF2B5EF4-FFF2-40B4-BE49-F238E27FC236}">
                <a16:creationId xmlns:a16="http://schemas.microsoft.com/office/drawing/2014/main" id="{45BCFF60-D6CC-42F8-AEE5-F628F163491E}"/>
              </a:ext>
            </a:extLst>
          </p:cNvPr>
          <p:cNvSpPr>
            <a:spLocks noGrp="1"/>
          </p:cNvSpPr>
          <p:nvPr/>
        </p:nvSpPr>
        <p:spPr>
          <a:xfrm>
            <a:off x="1257300" y="5229225"/>
            <a:ext cx="9715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Validate arguments and preserve spaces</a:t>
            </a:r>
          </a:p>
        </p:txBody>
      </p:sp>
      <p:sp>
        <p:nvSpPr>
          <p:cNvPr id="29" name="outcome-rule-6">
            <a:extLst>
              <a:ext uri="{FF2B5EF4-FFF2-40B4-BE49-F238E27FC236}">
                <a16:creationId xmlns:a16="http://schemas.microsoft.com/office/drawing/2014/main" id="{5949294E-1E70-4523-9B80-1D675FB7C9E0}"/>
              </a:ext>
            </a:extLst>
          </p:cNvPr>
          <p:cNvSpPr>
            <a:spLocks noGrp="1"/>
          </p:cNvSpPr>
          <p:nvPr/>
        </p:nvSpPr>
        <p:spPr>
          <a:xfrm>
            <a:off x="1257300" y="567690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202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yebrow-3">
            <a:extLst>
              <a:ext uri="{FF2B5EF4-FFF2-40B4-BE49-F238E27FC236}">
                <a16:creationId xmlns:a16="http://schemas.microsoft.com/office/drawing/2014/main" id="{041FA14F-106F-4177-AD80-816055CE3198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000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BASH SCRIPTING | WEEK 2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8F6B2ADC-64E7-44F8-9055-3D93163A37A9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0668000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Variables give reusable names to script data</a:t>
            </a:r>
          </a:p>
        </p:txBody>
      </p:sp>
      <p:sp>
        <p:nvSpPr>
          <p:cNvPr id="3" name="header-rule-3">
            <a:extLst>
              <a:ext uri="{FF2B5EF4-FFF2-40B4-BE49-F238E27FC236}">
                <a16:creationId xmlns:a16="http://schemas.microsoft.com/office/drawing/2014/main" id="{DC986DC3-3A83-4609-B478-53D0115683EC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2776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3">
            <a:extLst>
              <a:ext uri="{FF2B5EF4-FFF2-40B4-BE49-F238E27FC236}">
                <a16:creationId xmlns:a16="http://schemas.microsoft.com/office/drawing/2014/main" id="{EBDE47DC-70E3-40E0-ADD1-C94518E07664}"/>
              </a:ext>
            </a:extLst>
          </p:cNvPr>
          <p:cNvSpPr>
            <a:spLocks noGrp="1"/>
          </p:cNvSpPr>
          <p:nvPr/>
        </p:nvSpPr>
        <p:spPr>
          <a:xfrm>
            <a:off x="11239500" y="6238875"/>
            <a:ext cx="4953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5" name="footer-3">
            <a:extLst>
              <a:ext uri="{FF2B5EF4-FFF2-40B4-BE49-F238E27FC236}">
                <a16:creationId xmlns:a16="http://schemas.microsoft.com/office/drawing/2014/main" id="{F9EA1177-84B7-4548-8D14-BA367FE16449}"/>
              </a:ext>
            </a:extLst>
          </p:cNvPr>
          <p:cNvSpPr>
            <a:spLocks noGrp="1"/>
          </p:cNvSpPr>
          <p:nvPr/>
        </p:nvSpPr>
        <p:spPr>
          <a:xfrm>
            <a:off x="457200" y="6238875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relationship-path">
            <a:extLst>
              <a:ext uri="{FF2B5EF4-FFF2-40B4-BE49-F238E27FC236}">
                <a16:creationId xmlns:a16="http://schemas.microsoft.com/office/drawing/2014/main" id="{611DA6F6-2925-4997-86F9-22FCED8CFEA4}"/>
              </a:ext>
            </a:extLst>
          </p:cNvPr>
          <p:cNvSpPr>
            <a:spLocks noGrp="1"/>
          </p:cNvSpPr>
          <p:nvPr/>
        </p:nvSpPr>
        <p:spPr>
          <a:xfrm>
            <a:off x="2152650" y="3524250"/>
            <a:ext cx="7886700" cy="76200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lationship-node-1">
            <a:extLst>
              <a:ext uri="{FF2B5EF4-FFF2-40B4-BE49-F238E27FC236}">
                <a16:creationId xmlns:a16="http://schemas.microsoft.com/office/drawing/2014/main" id="{F33E9FF6-1F35-4ECD-AD61-1138C6A0BCD3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3143250" cy="23812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lationship-title-1">
            <a:extLst>
              <a:ext uri="{FF2B5EF4-FFF2-40B4-BE49-F238E27FC236}">
                <a16:creationId xmlns:a16="http://schemas.microsoft.com/office/drawing/2014/main" id="{39CF22C8-59E4-470A-B5B7-F663C36904D6}"/>
              </a:ext>
            </a:extLst>
          </p:cNvPr>
          <p:cNvSpPr>
            <a:spLocks noGrp="1"/>
          </p:cNvSpPr>
          <p:nvPr/>
        </p:nvSpPr>
        <p:spPr>
          <a:xfrm>
            <a:off x="933450" y="2714625"/>
            <a:ext cx="26098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ASSIGN</a:t>
            </a:r>
          </a:p>
        </p:txBody>
      </p:sp>
      <p:sp>
        <p:nvSpPr>
          <p:cNvPr id="9" name="relationship-body-1">
            <a:extLst>
              <a:ext uri="{FF2B5EF4-FFF2-40B4-BE49-F238E27FC236}">
                <a16:creationId xmlns:a16="http://schemas.microsoft.com/office/drawing/2014/main" id="{89E2F3BC-9DFC-4D5B-828D-F6A2AADDA5C8}"/>
              </a:ext>
            </a:extLst>
          </p:cNvPr>
          <p:cNvSpPr>
            <a:spLocks noGrp="1"/>
          </p:cNvSpPr>
          <p:nvPr/>
        </p:nvSpPr>
        <p:spPr>
          <a:xfrm>
            <a:off x="933450" y="3381375"/>
            <a:ext cx="260985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name="Ali Khan"</a:t>
            </a:r>
          </a:p>
          <a:p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Store one value</a:t>
            </a:r>
          </a:p>
        </p:txBody>
      </p:sp>
      <p:sp>
        <p:nvSpPr>
          <p:cNvPr id="10" name="relationship-node-2">
            <a:extLst>
              <a:ext uri="{FF2B5EF4-FFF2-40B4-BE49-F238E27FC236}">
                <a16:creationId xmlns:a16="http://schemas.microsoft.com/office/drawing/2014/main" id="{0FB3F145-D143-4468-A861-7B04CD933DAC}"/>
              </a:ext>
            </a:extLst>
          </p:cNvPr>
          <p:cNvSpPr>
            <a:spLocks noGrp="1"/>
          </p:cNvSpPr>
          <p:nvPr/>
        </p:nvSpPr>
        <p:spPr>
          <a:xfrm>
            <a:off x="4333875" y="2381250"/>
            <a:ext cx="3143250" cy="2381250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lationship-title-2">
            <a:extLst>
              <a:ext uri="{FF2B5EF4-FFF2-40B4-BE49-F238E27FC236}">
                <a16:creationId xmlns:a16="http://schemas.microsoft.com/office/drawing/2014/main" id="{227657E8-0483-4099-9207-17557FB3BEEC}"/>
              </a:ext>
            </a:extLst>
          </p:cNvPr>
          <p:cNvSpPr>
            <a:spLocks noGrp="1"/>
          </p:cNvSpPr>
          <p:nvPr/>
        </p:nvSpPr>
        <p:spPr>
          <a:xfrm>
            <a:off x="4600575" y="2714625"/>
            <a:ext cx="26098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EXPAND</a:t>
            </a:r>
          </a:p>
        </p:txBody>
      </p:sp>
      <p:sp>
        <p:nvSpPr>
          <p:cNvPr id="12" name="relationship-body-2">
            <a:extLst>
              <a:ext uri="{FF2B5EF4-FFF2-40B4-BE49-F238E27FC236}">
                <a16:creationId xmlns:a16="http://schemas.microsoft.com/office/drawing/2014/main" id="{47C09B77-BF70-47E1-92FA-28E97F927CC0}"/>
              </a:ext>
            </a:extLst>
          </p:cNvPr>
          <p:cNvSpPr>
            <a:spLocks noGrp="1"/>
          </p:cNvSpPr>
          <p:nvPr/>
        </p:nvSpPr>
        <p:spPr>
          <a:xfrm>
            <a:off x="4600575" y="3381375"/>
            <a:ext cx="260985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"$name"</a:t>
            </a:r>
          </a:p>
          <a:p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Read it safely</a:t>
            </a:r>
          </a:p>
        </p:txBody>
      </p:sp>
      <p:sp>
        <p:nvSpPr>
          <p:cNvPr id="13" name="relationship-node-3">
            <a:extLst>
              <a:ext uri="{FF2B5EF4-FFF2-40B4-BE49-F238E27FC236}">
                <a16:creationId xmlns:a16="http://schemas.microsoft.com/office/drawing/2014/main" id="{74B13D7E-A619-44D5-8466-43C4983AB5D4}"/>
              </a:ext>
            </a:extLst>
          </p:cNvPr>
          <p:cNvSpPr>
            <a:spLocks noGrp="1"/>
          </p:cNvSpPr>
          <p:nvPr/>
        </p:nvSpPr>
        <p:spPr>
          <a:xfrm>
            <a:off x="8001000" y="2381250"/>
            <a:ext cx="3143250" cy="23812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lationship-title-3">
            <a:extLst>
              <a:ext uri="{FF2B5EF4-FFF2-40B4-BE49-F238E27FC236}">
                <a16:creationId xmlns:a16="http://schemas.microsoft.com/office/drawing/2014/main" id="{CFEC1852-757E-4AB1-A5EC-C165776B7A74}"/>
              </a:ext>
            </a:extLst>
          </p:cNvPr>
          <p:cNvSpPr>
            <a:spLocks noGrp="1"/>
          </p:cNvSpPr>
          <p:nvPr/>
        </p:nvSpPr>
        <p:spPr>
          <a:xfrm>
            <a:off x="8267700" y="2714625"/>
            <a:ext cx="26098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USE</a:t>
            </a:r>
          </a:p>
        </p:txBody>
      </p:sp>
      <p:sp>
        <p:nvSpPr>
          <p:cNvPr id="15" name="relationship-body-3">
            <a:extLst>
              <a:ext uri="{FF2B5EF4-FFF2-40B4-BE49-F238E27FC236}">
                <a16:creationId xmlns:a16="http://schemas.microsoft.com/office/drawing/2014/main" id="{79E96D82-46E3-46D8-98B5-F85DEEC0BDCB}"/>
              </a:ext>
            </a:extLst>
          </p:cNvPr>
          <p:cNvSpPr>
            <a:spLocks noGrp="1"/>
          </p:cNvSpPr>
          <p:nvPr/>
        </p:nvSpPr>
        <p:spPr>
          <a:xfrm>
            <a:off x="8267700" y="3381375"/>
            <a:ext cx="260985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Hello, Ali Khan</a:t>
            </a:r>
          </a:p>
          <a:p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Build the result</a:t>
            </a:r>
          </a:p>
        </p:txBody>
      </p:sp>
      <p:sp>
        <p:nvSpPr>
          <p:cNvPr id="16" name="input-label">
            <a:extLst>
              <a:ext uri="{FF2B5EF4-FFF2-40B4-BE49-F238E27FC236}">
                <a16:creationId xmlns:a16="http://schemas.microsoft.com/office/drawing/2014/main" id="{F6D47144-0975-498B-A0EE-E01FBB7DC4EA}"/>
              </a:ext>
            </a:extLst>
          </p:cNvPr>
          <p:cNvSpPr>
            <a:spLocks noGrp="1"/>
          </p:cNvSpPr>
          <p:nvPr/>
        </p:nvSpPr>
        <p:spPr>
          <a:xfrm>
            <a:off x="3095625" y="3238500"/>
            <a:ext cx="809625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STORE</a:t>
            </a:r>
          </a:p>
        </p:txBody>
      </p:sp>
      <p:sp>
        <p:nvSpPr>
          <p:cNvPr id="17" name="action-label">
            <a:extLst>
              <a:ext uri="{FF2B5EF4-FFF2-40B4-BE49-F238E27FC236}">
                <a16:creationId xmlns:a16="http://schemas.microsoft.com/office/drawing/2014/main" id="{FE51A771-E5EA-49F8-8C11-150D48FA0A41}"/>
              </a:ext>
            </a:extLst>
          </p:cNvPr>
          <p:cNvSpPr>
            <a:spLocks noGrp="1"/>
          </p:cNvSpPr>
          <p:nvPr/>
        </p:nvSpPr>
        <p:spPr>
          <a:xfrm>
            <a:off x="6762750" y="3238500"/>
            <a:ext cx="809625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READ</a:t>
            </a:r>
          </a:p>
        </p:txBody>
      </p:sp>
      <p:sp>
        <p:nvSpPr>
          <p:cNvPr id="18" name="relationship-takeaway">
            <a:extLst>
              <a:ext uri="{FF2B5EF4-FFF2-40B4-BE49-F238E27FC236}">
                <a16:creationId xmlns:a16="http://schemas.microsoft.com/office/drawing/2014/main" id="{F34F5E5B-2525-441C-9D37-27D7FEF88ACC}"/>
              </a:ext>
            </a:extLst>
          </p:cNvPr>
          <p:cNvSpPr>
            <a:spLocks noGrp="1"/>
          </p:cNvSpPr>
          <p:nvPr/>
        </p:nvSpPr>
        <p:spPr>
          <a:xfrm>
            <a:off x="1285875" y="5238750"/>
            <a:ext cx="9620250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Assignment stores data. Expansion retrieves it. Quoting protects the value's boundaries.</a:t>
            </a:r>
          </a:p>
        </p:txBody>
      </p:sp>
    </p:spTree>
    <p:extLst>
      <p:ext uri="{BB962C8B-B14F-4D97-AF65-F5344CB8AC3E}">
        <p14:creationId xmlns:p14="http://schemas.microsoft.com/office/powerpoint/2010/main" val="628048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-4">
            <a:extLst>
              <a:ext uri="{FF2B5EF4-FFF2-40B4-BE49-F238E27FC236}">
                <a16:creationId xmlns:a16="http://schemas.microsoft.com/office/drawing/2014/main" id="{F570B76C-9F05-477B-A5BA-8220FF0D5A43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000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BASH SCRIPTING | WEEK 2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32D3A018-F001-4A1A-8763-37037D9B2472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0668000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Reliable input follows a four-stage path</a:t>
            </a:r>
          </a:p>
        </p:txBody>
      </p:sp>
      <p:sp>
        <p:nvSpPr>
          <p:cNvPr id="3" name="header-rule-4">
            <a:extLst>
              <a:ext uri="{FF2B5EF4-FFF2-40B4-BE49-F238E27FC236}">
                <a16:creationId xmlns:a16="http://schemas.microsoft.com/office/drawing/2014/main" id="{EBC005E9-968F-4919-B7C4-2949DD1490FC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2776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4">
            <a:extLst>
              <a:ext uri="{FF2B5EF4-FFF2-40B4-BE49-F238E27FC236}">
                <a16:creationId xmlns:a16="http://schemas.microsoft.com/office/drawing/2014/main" id="{24D1D9F1-B903-44B5-962A-A3CB7AB08D9A}"/>
              </a:ext>
            </a:extLst>
          </p:cNvPr>
          <p:cNvSpPr>
            <a:spLocks noGrp="1"/>
          </p:cNvSpPr>
          <p:nvPr/>
        </p:nvSpPr>
        <p:spPr>
          <a:xfrm>
            <a:off x="11239500" y="6238875"/>
            <a:ext cx="4953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5" name="footer-4">
            <a:extLst>
              <a:ext uri="{FF2B5EF4-FFF2-40B4-BE49-F238E27FC236}">
                <a16:creationId xmlns:a16="http://schemas.microsoft.com/office/drawing/2014/main" id="{500FE300-6093-410B-BE99-009D30BC2698}"/>
              </a:ext>
            </a:extLst>
          </p:cNvPr>
          <p:cNvSpPr>
            <a:spLocks noGrp="1"/>
          </p:cNvSpPr>
          <p:nvPr/>
        </p:nvSpPr>
        <p:spPr>
          <a:xfrm>
            <a:off x="457200" y="6238875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execution-path">
            <a:extLst>
              <a:ext uri="{FF2B5EF4-FFF2-40B4-BE49-F238E27FC236}">
                <a16:creationId xmlns:a16="http://schemas.microsoft.com/office/drawing/2014/main" id="{3F702DAC-ED39-4CB8-8B9C-B37950CA3CA0}"/>
              </a:ext>
            </a:extLst>
          </p:cNvPr>
          <p:cNvSpPr>
            <a:spLocks noGrp="1"/>
          </p:cNvSpPr>
          <p:nvPr/>
        </p:nvSpPr>
        <p:spPr>
          <a:xfrm>
            <a:off x="1352550" y="3381375"/>
            <a:ext cx="9382125" cy="66675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execution-step-1">
            <a:extLst>
              <a:ext uri="{FF2B5EF4-FFF2-40B4-BE49-F238E27FC236}">
                <a16:creationId xmlns:a16="http://schemas.microsoft.com/office/drawing/2014/main" id="{07B98355-83F4-408A-B9E8-2205544BF5D0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2286000" cy="1952625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execution-num-1">
            <a:extLst>
              <a:ext uri="{FF2B5EF4-FFF2-40B4-BE49-F238E27FC236}">
                <a16:creationId xmlns:a16="http://schemas.microsoft.com/office/drawing/2014/main" id="{983EECBF-BA31-4A15-8469-043981A5FD68}"/>
              </a:ext>
            </a:extLst>
          </p:cNvPr>
          <p:cNvSpPr>
            <a:spLocks noGrp="1"/>
          </p:cNvSpPr>
          <p:nvPr/>
        </p:nvSpPr>
        <p:spPr>
          <a:xfrm>
            <a:off x="857250" y="2647950"/>
            <a:ext cx="381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9" name="execution-title-1">
            <a:extLst>
              <a:ext uri="{FF2B5EF4-FFF2-40B4-BE49-F238E27FC236}">
                <a16:creationId xmlns:a16="http://schemas.microsoft.com/office/drawing/2014/main" id="{7B858F0E-B991-4F1E-B0A9-A501DEB9BB46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809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INPUT</a:t>
            </a:r>
          </a:p>
        </p:txBody>
      </p:sp>
      <p:sp>
        <p:nvSpPr>
          <p:cNvPr id="10" name="execution-body-1">
            <a:extLst>
              <a:ext uri="{FF2B5EF4-FFF2-40B4-BE49-F238E27FC236}">
                <a16:creationId xmlns:a16="http://schemas.microsoft.com/office/drawing/2014/main" id="{0EF33212-9203-453F-9845-C654ED005231}"/>
              </a:ext>
            </a:extLst>
          </p:cNvPr>
          <p:cNvSpPr>
            <a:spLocks noGrp="1"/>
          </p:cNvSpPr>
          <p:nvPr/>
        </p:nvSpPr>
        <p:spPr>
          <a:xfrm>
            <a:off x="857250" y="3762375"/>
            <a:ext cx="18097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Argument or prompt</a:t>
            </a:r>
          </a:p>
        </p:txBody>
      </p:sp>
      <p:sp>
        <p:nvSpPr>
          <p:cNvPr id="11" name="execution-step-2">
            <a:extLst>
              <a:ext uri="{FF2B5EF4-FFF2-40B4-BE49-F238E27FC236}">
                <a16:creationId xmlns:a16="http://schemas.microsoft.com/office/drawing/2014/main" id="{FA4A07CB-9612-4490-8783-77905AFE80C8}"/>
              </a:ext>
            </a:extLst>
          </p:cNvPr>
          <p:cNvSpPr>
            <a:spLocks noGrp="1"/>
          </p:cNvSpPr>
          <p:nvPr/>
        </p:nvSpPr>
        <p:spPr>
          <a:xfrm>
            <a:off x="3476625" y="2457450"/>
            <a:ext cx="2286000" cy="1952625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execution-num-2">
            <a:extLst>
              <a:ext uri="{FF2B5EF4-FFF2-40B4-BE49-F238E27FC236}">
                <a16:creationId xmlns:a16="http://schemas.microsoft.com/office/drawing/2014/main" id="{C49EF0B8-D641-4AD3-812B-D76FFA4CD4EA}"/>
              </a:ext>
            </a:extLst>
          </p:cNvPr>
          <p:cNvSpPr>
            <a:spLocks noGrp="1"/>
          </p:cNvSpPr>
          <p:nvPr/>
        </p:nvSpPr>
        <p:spPr>
          <a:xfrm>
            <a:off x="3667125" y="2647950"/>
            <a:ext cx="381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3" name="execution-title-2">
            <a:extLst>
              <a:ext uri="{FF2B5EF4-FFF2-40B4-BE49-F238E27FC236}">
                <a16:creationId xmlns:a16="http://schemas.microsoft.com/office/drawing/2014/main" id="{DE757F37-9477-40EE-B134-4A114798FE76}"/>
              </a:ext>
            </a:extLst>
          </p:cNvPr>
          <p:cNvSpPr>
            <a:spLocks noGrp="1"/>
          </p:cNvSpPr>
          <p:nvPr/>
        </p:nvSpPr>
        <p:spPr>
          <a:xfrm>
            <a:off x="3667125" y="3143250"/>
            <a:ext cx="1809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VALIDATE</a:t>
            </a:r>
          </a:p>
        </p:txBody>
      </p:sp>
      <p:sp>
        <p:nvSpPr>
          <p:cNvPr id="14" name="execution-body-2">
            <a:extLst>
              <a:ext uri="{FF2B5EF4-FFF2-40B4-BE49-F238E27FC236}">
                <a16:creationId xmlns:a16="http://schemas.microsoft.com/office/drawing/2014/main" id="{054335C5-BB77-41E0-8B1F-8EA36C7F5C94}"/>
              </a:ext>
            </a:extLst>
          </p:cNvPr>
          <p:cNvSpPr>
            <a:spLocks noGrp="1"/>
          </p:cNvSpPr>
          <p:nvPr/>
        </p:nvSpPr>
        <p:spPr>
          <a:xfrm>
            <a:off x="3667125" y="3762375"/>
            <a:ext cx="18097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Required and usable?</a:t>
            </a:r>
          </a:p>
        </p:txBody>
      </p:sp>
      <p:sp>
        <p:nvSpPr>
          <p:cNvPr id="15" name="execution-step-3">
            <a:extLst>
              <a:ext uri="{FF2B5EF4-FFF2-40B4-BE49-F238E27FC236}">
                <a16:creationId xmlns:a16="http://schemas.microsoft.com/office/drawing/2014/main" id="{49FFC168-3767-4AA1-A8D9-3842DCF81766}"/>
              </a:ext>
            </a:extLst>
          </p:cNvPr>
          <p:cNvSpPr>
            <a:spLocks noGrp="1"/>
          </p:cNvSpPr>
          <p:nvPr/>
        </p:nvSpPr>
        <p:spPr>
          <a:xfrm>
            <a:off x="6286500" y="2457450"/>
            <a:ext cx="2286000" cy="1952625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execution-num-3">
            <a:extLst>
              <a:ext uri="{FF2B5EF4-FFF2-40B4-BE49-F238E27FC236}">
                <a16:creationId xmlns:a16="http://schemas.microsoft.com/office/drawing/2014/main" id="{F2B2BC9F-C098-428D-A63A-BB81CE035A23}"/>
              </a:ext>
            </a:extLst>
          </p:cNvPr>
          <p:cNvSpPr>
            <a:spLocks noGrp="1"/>
          </p:cNvSpPr>
          <p:nvPr/>
        </p:nvSpPr>
        <p:spPr>
          <a:xfrm>
            <a:off x="6477000" y="2647950"/>
            <a:ext cx="381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7" name="execution-title-3">
            <a:extLst>
              <a:ext uri="{FF2B5EF4-FFF2-40B4-BE49-F238E27FC236}">
                <a16:creationId xmlns:a16="http://schemas.microsoft.com/office/drawing/2014/main" id="{B8702EAC-ADEC-434B-B3F2-0068D365B1E9}"/>
              </a:ext>
            </a:extLst>
          </p:cNvPr>
          <p:cNvSpPr>
            <a:spLocks noGrp="1"/>
          </p:cNvSpPr>
          <p:nvPr/>
        </p:nvSpPr>
        <p:spPr>
          <a:xfrm>
            <a:off x="6477000" y="3143250"/>
            <a:ext cx="1809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STORE</a:t>
            </a:r>
          </a:p>
        </p:txBody>
      </p:sp>
      <p:sp>
        <p:nvSpPr>
          <p:cNvPr id="18" name="execution-body-3">
            <a:extLst>
              <a:ext uri="{FF2B5EF4-FFF2-40B4-BE49-F238E27FC236}">
                <a16:creationId xmlns:a16="http://schemas.microsoft.com/office/drawing/2014/main" id="{86B0658D-A335-4AF5-9389-5C0DC047FFB8}"/>
              </a:ext>
            </a:extLst>
          </p:cNvPr>
          <p:cNvSpPr>
            <a:spLocks noGrp="1"/>
          </p:cNvSpPr>
          <p:nvPr/>
        </p:nvSpPr>
        <p:spPr>
          <a:xfrm>
            <a:off x="6477000" y="3762375"/>
            <a:ext cx="18097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Assign a variable</a:t>
            </a:r>
          </a:p>
        </p:txBody>
      </p:sp>
      <p:sp>
        <p:nvSpPr>
          <p:cNvPr id="19" name="execution-step-4">
            <a:extLst>
              <a:ext uri="{FF2B5EF4-FFF2-40B4-BE49-F238E27FC236}">
                <a16:creationId xmlns:a16="http://schemas.microsoft.com/office/drawing/2014/main" id="{8414DC0E-9C4D-43B1-9E4A-BEA5A149F9DA}"/>
              </a:ext>
            </a:extLst>
          </p:cNvPr>
          <p:cNvSpPr>
            <a:spLocks noGrp="1"/>
          </p:cNvSpPr>
          <p:nvPr/>
        </p:nvSpPr>
        <p:spPr>
          <a:xfrm>
            <a:off x="9096375" y="2457450"/>
            <a:ext cx="2286000" cy="1952625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execution-num-4">
            <a:extLst>
              <a:ext uri="{FF2B5EF4-FFF2-40B4-BE49-F238E27FC236}">
                <a16:creationId xmlns:a16="http://schemas.microsoft.com/office/drawing/2014/main" id="{C1116C0C-6503-4E20-A0EA-E632175EBFB9}"/>
              </a:ext>
            </a:extLst>
          </p:cNvPr>
          <p:cNvSpPr>
            <a:spLocks noGrp="1"/>
          </p:cNvSpPr>
          <p:nvPr/>
        </p:nvSpPr>
        <p:spPr>
          <a:xfrm>
            <a:off x="9286875" y="2647950"/>
            <a:ext cx="381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1" name="execution-title-4">
            <a:extLst>
              <a:ext uri="{FF2B5EF4-FFF2-40B4-BE49-F238E27FC236}">
                <a16:creationId xmlns:a16="http://schemas.microsoft.com/office/drawing/2014/main" id="{1D3B09F2-B96D-4551-9BF4-C99444125028}"/>
              </a:ext>
            </a:extLst>
          </p:cNvPr>
          <p:cNvSpPr>
            <a:spLocks noGrp="1"/>
          </p:cNvSpPr>
          <p:nvPr/>
        </p:nvSpPr>
        <p:spPr>
          <a:xfrm>
            <a:off x="9286875" y="3143250"/>
            <a:ext cx="1809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USE</a:t>
            </a:r>
          </a:p>
        </p:txBody>
      </p:sp>
      <p:sp>
        <p:nvSpPr>
          <p:cNvPr id="22" name="execution-body-4">
            <a:extLst>
              <a:ext uri="{FF2B5EF4-FFF2-40B4-BE49-F238E27FC236}">
                <a16:creationId xmlns:a16="http://schemas.microsoft.com/office/drawing/2014/main" id="{8467F825-5D62-4BC6-94B6-403AFAF552C3}"/>
              </a:ext>
            </a:extLst>
          </p:cNvPr>
          <p:cNvSpPr>
            <a:spLocks noGrp="1"/>
          </p:cNvSpPr>
          <p:nvPr/>
        </p:nvSpPr>
        <p:spPr>
          <a:xfrm>
            <a:off x="9286875" y="3762375"/>
            <a:ext cx="18097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Quote and process</a:t>
            </a:r>
          </a:p>
        </p:txBody>
      </p:sp>
      <p:sp>
        <p:nvSpPr>
          <p:cNvPr id="23" name="execution-command">
            <a:extLst>
              <a:ext uri="{FF2B5EF4-FFF2-40B4-BE49-F238E27FC236}">
                <a16:creationId xmlns:a16="http://schemas.microsoft.com/office/drawing/2014/main" id="{B48B9923-7B17-4440-B3FF-36A0AB6EF094}"/>
              </a:ext>
            </a:extLst>
          </p:cNvPr>
          <p:cNvSpPr>
            <a:spLocks noGrp="1"/>
          </p:cNvSpPr>
          <p:nvPr/>
        </p:nvSpPr>
        <p:spPr>
          <a:xfrm>
            <a:off x="1905000" y="4953000"/>
            <a:ext cx="8382000" cy="68580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execution-code">
            <a:extLst>
              <a:ext uri="{FF2B5EF4-FFF2-40B4-BE49-F238E27FC236}">
                <a16:creationId xmlns:a16="http://schemas.microsoft.com/office/drawing/2014/main" id="{4B9843A0-2184-452E-BEDF-6FE4400E046D}"/>
              </a:ext>
            </a:extLst>
          </p:cNvPr>
          <p:cNvSpPr>
            <a:spLocks noGrp="1"/>
          </p:cNvSpPr>
          <p:nvPr/>
        </p:nvSpPr>
        <p:spPr>
          <a:xfrm>
            <a:off x="2143125" y="5172075"/>
            <a:ext cx="79057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input -&gt; validate -&gt; variable -&gt; quoted expansion -&gt; output + exit status</a:t>
            </a:r>
          </a:p>
        </p:txBody>
      </p:sp>
    </p:spTree>
    <p:extLst>
      <p:ext uri="{BB962C8B-B14F-4D97-AF65-F5344CB8AC3E}">
        <p14:creationId xmlns:p14="http://schemas.microsoft.com/office/powerpoint/2010/main" val="885234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yebrow-5">
            <a:extLst>
              <a:ext uri="{FF2B5EF4-FFF2-40B4-BE49-F238E27FC236}">
                <a16:creationId xmlns:a16="http://schemas.microsoft.com/office/drawing/2014/main" id="{09913971-F80D-4251-8101-1C2DE336536B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000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LESSON 3 | VARIABLES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61C671B4-382C-42F0-8AE1-4949E263990F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0668000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Four patterns make variable expansion predictable</a:t>
            </a:r>
          </a:p>
        </p:txBody>
      </p:sp>
      <p:sp>
        <p:nvSpPr>
          <p:cNvPr id="3" name="header-rule-5">
            <a:extLst>
              <a:ext uri="{FF2B5EF4-FFF2-40B4-BE49-F238E27FC236}">
                <a16:creationId xmlns:a16="http://schemas.microsoft.com/office/drawing/2014/main" id="{3DE6CFB6-C85B-4201-813B-828665EF712A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2776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5">
            <a:extLst>
              <a:ext uri="{FF2B5EF4-FFF2-40B4-BE49-F238E27FC236}">
                <a16:creationId xmlns:a16="http://schemas.microsoft.com/office/drawing/2014/main" id="{1DBA51ED-3636-4850-B68E-7871538A82AA}"/>
              </a:ext>
            </a:extLst>
          </p:cNvPr>
          <p:cNvSpPr>
            <a:spLocks noGrp="1"/>
          </p:cNvSpPr>
          <p:nvPr/>
        </p:nvSpPr>
        <p:spPr>
          <a:xfrm>
            <a:off x="11239500" y="6238875"/>
            <a:ext cx="4953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5" name="footer-5">
            <a:extLst>
              <a:ext uri="{FF2B5EF4-FFF2-40B4-BE49-F238E27FC236}">
                <a16:creationId xmlns:a16="http://schemas.microsoft.com/office/drawing/2014/main" id="{15B03105-F2D5-4653-A692-D7D902E69CF9}"/>
              </a:ext>
            </a:extLst>
          </p:cNvPr>
          <p:cNvSpPr>
            <a:spLocks noGrp="1"/>
          </p:cNvSpPr>
          <p:nvPr/>
        </p:nvSpPr>
        <p:spPr>
          <a:xfrm>
            <a:off x="457200" y="6238875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anatomy-code-bg">
            <a:extLst>
              <a:ext uri="{FF2B5EF4-FFF2-40B4-BE49-F238E27FC236}">
                <a16:creationId xmlns:a16="http://schemas.microsoft.com/office/drawing/2014/main" id="{0B4E4A24-ABEB-4B67-B1A1-562E7F9707C7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5619750" cy="37147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natomy-code">
            <a:extLst>
              <a:ext uri="{FF2B5EF4-FFF2-40B4-BE49-F238E27FC236}">
                <a16:creationId xmlns:a16="http://schemas.microsoft.com/office/drawing/2014/main" id="{7DCF98A9-4819-464C-A623-F976356E80BF}"/>
              </a:ext>
            </a:extLst>
          </p:cNvPr>
          <p:cNvSpPr>
            <a:spLocks noGrp="1"/>
          </p:cNvSpPr>
          <p:nvPr/>
        </p:nvSpPr>
        <p:spPr>
          <a:xfrm>
            <a:off x="742950" y="2286000"/>
            <a:ext cx="5048250" cy="3000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course_name="Bash Scripting"</a:t>
            </a:r>
          </a:p>
          <a:p>
            <a:pPr algn="l"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student_name="Ali Khan"</a:t>
            </a:r>
          </a:p>
          <a:p>
            <a:pPr algn="l"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today="$(date +%F)"</a:t>
            </a:r>
          </a:p>
          <a:p>
            <a:pPr algn="l"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endParaRPr/>
          </a:p>
          <a:p>
            <a:pPr algn="l"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printf 'Student: %s\n' "$student_name"</a:t>
            </a:r>
          </a:p>
          <a:p>
            <a:pPr algn="l"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printf 'File: %s\n' "${student_name}_report"</a:t>
            </a:r>
          </a:p>
        </p:txBody>
      </p:sp>
      <p:sp>
        <p:nvSpPr>
          <p:cNvPr id="8" name="anatomy-num-01">
            <a:extLst>
              <a:ext uri="{FF2B5EF4-FFF2-40B4-BE49-F238E27FC236}">
                <a16:creationId xmlns:a16="http://schemas.microsoft.com/office/drawing/2014/main" id="{24C2E370-F44B-478F-A290-6DA0939A1A4B}"/>
              </a:ext>
            </a:extLst>
          </p:cNvPr>
          <p:cNvSpPr>
            <a:spLocks noGrp="1"/>
          </p:cNvSpPr>
          <p:nvPr/>
        </p:nvSpPr>
        <p:spPr>
          <a:xfrm>
            <a:off x="6572250" y="1981200"/>
            <a:ext cx="4572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9" name="anatomy-title-01">
            <a:extLst>
              <a:ext uri="{FF2B5EF4-FFF2-40B4-BE49-F238E27FC236}">
                <a16:creationId xmlns:a16="http://schemas.microsoft.com/office/drawing/2014/main" id="{F9737FEC-25B1-4E0D-A6AC-5960297AC105}"/>
              </a:ext>
            </a:extLst>
          </p:cNvPr>
          <p:cNvSpPr>
            <a:spLocks noGrp="1"/>
          </p:cNvSpPr>
          <p:nvPr/>
        </p:nvSpPr>
        <p:spPr>
          <a:xfrm>
            <a:off x="7181850" y="1981200"/>
            <a:ext cx="25717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ASSIGNMENT</a:t>
            </a:r>
          </a:p>
        </p:txBody>
      </p:sp>
      <p:sp>
        <p:nvSpPr>
          <p:cNvPr id="10" name="anatomy-body-01">
            <a:extLst>
              <a:ext uri="{FF2B5EF4-FFF2-40B4-BE49-F238E27FC236}">
                <a16:creationId xmlns:a16="http://schemas.microsoft.com/office/drawing/2014/main" id="{25E227FB-214B-4680-BD58-3590E627C978}"/>
              </a:ext>
            </a:extLst>
          </p:cNvPr>
          <p:cNvSpPr>
            <a:spLocks noGrp="1"/>
          </p:cNvSpPr>
          <p:nvPr/>
        </p:nvSpPr>
        <p:spPr>
          <a:xfrm>
            <a:off x="7181850" y="2352675"/>
            <a:ext cx="4095750" cy="3714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No spaces around the equals sign.</a:t>
            </a:r>
          </a:p>
        </p:txBody>
      </p:sp>
      <p:sp>
        <p:nvSpPr>
          <p:cNvPr id="11" name="anatomy-num-02">
            <a:extLst>
              <a:ext uri="{FF2B5EF4-FFF2-40B4-BE49-F238E27FC236}">
                <a16:creationId xmlns:a16="http://schemas.microsoft.com/office/drawing/2014/main" id="{564F6392-DE3F-4E2E-919E-31048CF154BC}"/>
              </a:ext>
            </a:extLst>
          </p:cNvPr>
          <p:cNvSpPr>
            <a:spLocks noGrp="1"/>
          </p:cNvSpPr>
          <p:nvPr/>
        </p:nvSpPr>
        <p:spPr>
          <a:xfrm>
            <a:off x="6572250" y="2905125"/>
            <a:ext cx="4572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2" name="anatomy-title-02">
            <a:extLst>
              <a:ext uri="{FF2B5EF4-FFF2-40B4-BE49-F238E27FC236}">
                <a16:creationId xmlns:a16="http://schemas.microsoft.com/office/drawing/2014/main" id="{957779C8-3430-4170-B077-ED2D4CF714F7}"/>
              </a:ext>
            </a:extLst>
          </p:cNvPr>
          <p:cNvSpPr>
            <a:spLocks noGrp="1"/>
          </p:cNvSpPr>
          <p:nvPr/>
        </p:nvSpPr>
        <p:spPr>
          <a:xfrm>
            <a:off x="7181850" y="2905125"/>
            <a:ext cx="25717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EXPANSION</a:t>
            </a:r>
          </a:p>
        </p:txBody>
      </p:sp>
      <p:sp>
        <p:nvSpPr>
          <p:cNvPr id="13" name="anatomy-body-02">
            <a:extLst>
              <a:ext uri="{FF2B5EF4-FFF2-40B4-BE49-F238E27FC236}">
                <a16:creationId xmlns:a16="http://schemas.microsoft.com/office/drawing/2014/main" id="{D48ED6C5-FFED-4B87-A22E-22C7F8923ED3}"/>
              </a:ext>
            </a:extLst>
          </p:cNvPr>
          <p:cNvSpPr>
            <a:spLocks noGrp="1"/>
          </p:cNvSpPr>
          <p:nvPr/>
        </p:nvSpPr>
        <p:spPr>
          <a:xfrm>
            <a:off x="7181850" y="3276600"/>
            <a:ext cx="4095750" cy="3714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Double quotes preserve one value.</a:t>
            </a:r>
          </a:p>
        </p:txBody>
      </p:sp>
      <p:sp>
        <p:nvSpPr>
          <p:cNvPr id="14" name="anatomy-num-03">
            <a:extLst>
              <a:ext uri="{FF2B5EF4-FFF2-40B4-BE49-F238E27FC236}">
                <a16:creationId xmlns:a16="http://schemas.microsoft.com/office/drawing/2014/main" id="{3E18E715-59A4-4156-B892-A72A3EF056E6}"/>
              </a:ext>
            </a:extLst>
          </p:cNvPr>
          <p:cNvSpPr>
            <a:spLocks noGrp="1"/>
          </p:cNvSpPr>
          <p:nvPr/>
        </p:nvSpPr>
        <p:spPr>
          <a:xfrm>
            <a:off x="6572250" y="3829050"/>
            <a:ext cx="4572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5" name="anatomy-title-03">
            <a:extLst>
              <a:ext uri="{FF2B5EF4-FFF2-40B4-BE49-F238E27FC236}">
                <a16:creationId xmlns:a16="http://schemas.microsoft.com/office/drawing/2014/main" id="{FE58FDE6-9B2A-48AF-81DE-292E0D0007A7}"/>
              </a:ext>
            </a:extLst>
          </p:cNvPr>
          <p:cNvSpPr>
            <a:spLocks noGrp="1"/>
          </p:cNvSpPr>
          <p:nvPr/>
        </p:nvSpPr>
        <p:spPr>
          <a:xfrm>
            <a:off x="7181850" y="3829050"/>
            <a:ext cx="25717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BRACES</a:t>
            </a:r>
          </a:p>
        </p:txBody>
      </p:sp>
      <p:sp>
        <p:nvSpPr>
          <p:cNvPr id="16" name="anatomy-body-03">
            <a:extLst>
              <a:ext uri="{FF2B5EF4-FFF2-40B4-BE49-F238E27FC236}">
                <a16:creationId xmlns:a16="http://schemas.microsoft.com/office/drawing/2014/main" id="{B0D2B9F4-ED1D-4D26-836F-8712C48BC219}"/>
              </a:ext>
            </a:extLst>
          </p:cNvPr>
          <p:cNvSpPr>
            <a:spLocks noGrp="1"/>
          </p:cNvSpPr>
          <p:nvPr/>
        </p:nvSpPr>
        <p:spPr>
          <a:xfrm>
            <a:off x="7181850" y="4200525"/>
            <a:ext cx="4095750" cy="3714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Clarify where the name ends.</a:t>
            </a:r>
          </a:p>
        </p:txBody>
      </p:sp>
      <p:sp>
        <p:nvSpPr>
          <p:cNvPr id="17" name="anatomy-num-04">
            <a:extLst>
              <a:ext uri="{FF2B5EF4-FFF2-40B4-BE49-F238E27FC236}">
                <a16:creationId xmlns:a16="http://schemas.microsoft.com/office/drawing/2014/main" id="{3BF27C17-6DA1-47C7-BEB1-A452313FE5D5}"/>
              </a:ext>
            </a:extLst>
          </p:cNvPr>
          <p:cNvSpPr>
            <a:spLocks noGrp="1"/>
          </p:cNvSpPr>
          <p:nvPr/>
        </p:nvSpPr>
        <p:spPr>
          <a:xfrm>
            <a:off x="6572250" y="4752975"/>
            <a:ext cx="4572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8" name="anatomy-title-04">
            <a:extLst>
              <a:ext uri="{FF2B5EF4-FFF2-40B4-BE49-F238E27FC236}">
                <a16:creationId xmlns:a16="http://schemas.microsoft.com/office/drawing/2014/main" id="{27DE7CEC-526D-48B9-8848-5C18C5384341}"/>
              </a:ext>
            </a:extLst>
          </p:cNvPr>
          <p:cNvSpPr>
            <a:spLocks noGrp="1"/>
          </p:cNvSpPr>
          <p:nvPr/>
        </p:nvSpPr>
        <p:spPr>
          <a:xfrm>
            <a:off x="7181850" y="4752975"/>
            <a:ext cx="25717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SUBSTITUTION</a:t>
            </a:r>
          </a:p>
        </p:txBody>
      </p:sp>
      <p:sp>
        <p:nvSpPr>
          <p:cNvPr id="19" name="anatomy-body-04">
            <a:extLst>
              <a:ext uri="{FF2B5EF4-FFF2-40B4-BE49-F238E27FC236}">
                <a16:creationId xmlns:a16="http://schemas.microsoft.com/office/drawing/2014/main" id="{6EC9FE61-0710-4010-855A-D25D5AB8C882}"/>
              </a:ext>
            </a:extLst>
          </p:cNvPr>
          <p:cNvSpPr>
            <a:spLocks noGrp="1"/>
          </p:cNvSpPr>
          <p:nvPr/>
        </p:nvSpPr>
        <p:spPr>
          <a:xfrm>
            <a:off x="7181850" y="5124450"/>
            <a:ext cx="4095750" cy="3714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$(command) captures output.</a:t>
            </a:r>
          </a:p>
        </p:txBody>
      </p:sp>
    </p:spTree>
    <p:extLst>
      <p:ext uri="{BB962C8B-B14F-4D97-AF65-F5344CB8AC3E}">
        <p14:creationId xmlns:p14="http://schemas.microsoft.com/office/powerpoint/2010/main" val="576189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yebrow-6">
            <a:extLst>
              <a:ext uri="{FF2B5EF4-FFF2-40B4-BE49-F238E27FC236}">
                <a16:creationId xmlns:a16="http://schemas.microsoft.com/office/drawing/2014/main" id="{DA0FC8E9-B56B-4A1C-8B97-165F74A8D058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000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LESSON 3 | QUOTING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88963E5D-627C-44CC-9041-7F8EDE31B38C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0668000" cy="723900"/>
          </a:xfrm>
          <a:prstGeom prst="rect">
            <a:avLst/>
          </a:prstGeom>
        </p:spPr>
        <p:txBody>
          <a:bodyPr wrap="square" lIns="0" tIns="0" rIns="0" bIns="0" anchor="t">
            <a:normAutofit fontScale="98508"/>
          </a:bodyPr>
          <a:lstStyle/>
          <a:p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Single and double quotes preserve different meanings</a:t>
            </a:r>
          </a:p>
        </p:txBody>
      </p:sp>
      <p:sp>
        <p:nvSpPr>
          <p:cNvPr id="3" name="header-rule-6">
            <a:extLst>
              <a:ext uri="{FF2B5EF4-FFF2-40B4-BE49-F238E27FC236}">
                <a16:creationId xmlns:a16="http://schemas.microsoft.com/office/drawing/2014/main" id="{5BF57935-73D8-4044-9B9F-90A94190011F}"/>
              </a:ext>
            </a:extLst>
          </p:cNvPr>
          <p:cNvSpPr>
            <a:spLocks noGrp="1"/>
          </p:cNvSpPr>
          <p:nvPr/>
        </p:nvSpPr>
        <p:spPr>
          <a:xfrm>
            <a:off x="457200" y="1766580"/>
            <a:ext cx="112776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6">
            <a:extLst>
              <a:ext uri="{FF2B5EF4-FFF2-40B4-BE49-F238E27FC236}">
                <a16:creationId xmlns:a16="http://schemas.microsoft.com/office/drawing/2014/main" id="{9C8B7B92-8270-4AEE-A46D-568FBCC224A1}"/>
              </a:ext>
            </a:extLst>
          </p:cNvPr>
          <p:cNvSpPr>
            <a:spLocks noGrp="1"/>
          </p:cNvSpPr>
          <p:nvPr/>
        </p:nvSpPr>
        <p:spPr>
          <a:xfrm>
            <a:off x="11239500" y="6238875"/>
            <a:ext cx="4953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5" name="footer-6">
            <a:extLst>
              <a:ext uri="{FF2B5EF4-FFF2-40B4-BE49-F238E27FC236}">
                <a16:creationId xmlns:a16="http://schemas.microsoft.com/office/drawing/2014/main" id="{5C4E846F-FCFE-49FC-939B-6131EAEBC183}"/>
              </a:ext>
            </a:extLst>
          </p:cNvPr>
          <p:cNvSpPr>
            <a:spLocks noGrp="1"/>
          </p:cNvSpPr>
          <p:nvPr/>
        </p:nvSpPr>
        <p:spPr>
          <a:xfrm>
            <a:off x="457200" y="6238875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run-bash-panel">
            <a:extLst>
              <a:ext uri="{FF2B5EF4-FFF2-40B4-BE49-F238E27FC236}">
                <a16:creationId xmlns:a16="http://schemas.microsoft.com/office/drawing/2014/main" id="{3DE93601-35E3-4C20-8AF9-B0E533FBE8EA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5334000" cy="32385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un-direct-panel">
            <a:extLst>
              <a:ext uri="{FF2B5EF4-FFF2-40B4-BE49-F238E27FC236}">
                <a16:creationId xmlns:a16="http://schemas.microsoft.com/office/drawing/2014/main" id="{478F4704-4666-4F64-80CF-8F72640A0FD3}"/>
              </a:ext>
            </a:extLst>
          </p:cNvPr>
          <p:cNvSpPr>
            <a:spLocks noGrp="1"/>
          </p:cNvSpPr>
          <p:nvPr/>
        </p:nvSpPr>
        <p:spPr>
          <a:xfrm>
            <a:off x="6400800" y="1952625"/>
            <a:ext cx="5334000" cy="3238500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method1-label">
            <a:extLst>
              <a:ext uri="{FF2B5EF4-FFF2-40B4-BE49-F238E27FC236}">
                <a16:creationId xmlns:a16="http://schemas.microsoft.com/office/drawing/2014/main" id="{0D997D63-31BF-423C-9EC2-657CEF560E83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1714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SINGLE QUOTES</a:t>
            </a:r>
          </a:p>
        </p:txBody>
      </p:sp>
      <p:sp>
        <p:nvSpPr>
          <p:cNvPr id="9" name="method1-code">
            <a:extLst>
              <a:ext uri="{FF2B5EF4-FFF2-40B4-BE49-F238E27FC236}">
                <a16:creationId xmlns:a16="http://schemas.microsoft.com/office/drawing/2014/main" id="{2DDE7B55-4599-46C8-AE8A-81F945980803}"/>
              </a:ext>
            </a:extLst>
          </p:cNvPr>
          <p:cNvSpPr>
            <a:spLocks noGrp="1"/>
          </p:cNvSpPr>
          <p:nvPr/>
        </p:nvSpPr>
        <p:spPr>
          <a:xfrm>
            <a:off x="781050" y="2809875"/>
            <a:ext cx="447675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'$name'</a:t>
            </a:r>
          </a:p>
        </p:txBody>
      </p:sp>
      <p:sp>
        <p:nvSpPr>
          <p:cNvPr id="10" name="method1-body">
            <a:extLst>
              <a:ext uri="{FF2B5EF4-FFF2-40B4-BE49-F238E27FC236}">
                <a16:creationId xmlns:a16="http://schemas.microsoft.com/office/drawing/2014/main" id="{D43F6CDD-7139-49C5-89CD-088361E2A808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4286250" cy="1143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Everything remains literal.</a:t>
            </a:r>
          </a:p>
          <a:p>
            <a:pPr algn="l">
              <a:buNone/>
              <a:defRPr sz="15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Variables do not expand.</a:t>
            </a:r>
          </a:p>
          <a:p>
            <a:pPr algn="l">
              <a:buNone/>
              <a:defRPr sz="15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Commands are not substituted.</a:t>
            </a:r>
          </a:p>
        </p:txBody>
      </p:sp>
      <p:sp>
        <p:nvSpPr>
          <p:cNvPr id="11" name="method2-label">
            <a:extLst>
              <a:ext uri="{FF2B5EF4-FFF2-40B4-BE49-F238E27FC236}">
                <a16:creationId xmlns:a16="http://schemas.microsoft.com/office/drawing/2014/main" id="{5269CF32-EECF-490C-85E9-F49BC7E2664D}"/>
              </a:ext>
            </a:extLst>
          </p:cNvPr>
          <p:cNvSpPr>
            <a:spLocks noGrp="1"/>
          </p:cNvSpPr>
          <p:nvPr/>
        </p:nvSpPr>
        <p:spPr>
          <a:xfrm>
            <a:off x="6724650" y="2247900"/>
            <a:ext cx="1714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DOUBLE QUOTES</a:t>
            </a:r>
          </a:p>
        </p:txBody>
      </p:sp>
      <p:sp>
        <p:nvSpPr>
          <p:cNvPr id="12" name="method2-code">
            <a:extLst>
              <a:ext uri="{FF2B5EF4-FFF2-40B4-BE49-F238E27FC236}">
                <a16:creationId xmlns:a16="http://schemas.microsoft.com/office/drawing/2014/main" id="{7E411E53-9859-40F9-AEAF-FD5381E20674}"/>
              </a:ext>
            </a:extLst>
          </p:cNvPr>
          <p:cNvSpPr>
            <a:spLocks noGrp="1"/>
          </p:cNvSpPr>
          <p:nvPr/>
        </p:nvSpPr>
        <p:spPr>
          <a:xfrm>
            <a:off x="6724650" y="2809875"/>
            <a:ext cx="447675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"$name"</a:t>
            </a:r>
          </a:p>
        </p:txBody>
      </p:sp>
      <p:sp>
        <p:nvSpPr>
          <p:cNvPr id="13" name="method2-body">
            <a:extLst>
              <a:ext uri="{FF2B5EF4-FFF2-40B4-BE49-F238E27FC236}">
                <a16:creationId xmlns:a16="http://schemas.microsoft.com/office/drawing/2014/main" id="{D334C155-859E-4828-BDF2-9645024633F8}"/>
              </a:ext>
            </a:extLst>
          </p:cNvPr>
          <p:cNvSpPr>
            <a:spLocks noGrp="1"/>
          </p:cNvSpPr>
          <p:nvPr/>
        </p:nvSpPr>
        <p:spPr>
          <a:xfrm>
            <a:off x="6724650" y="3714750"/>
            <a:ext cx="4286250" cy="1143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Variables expand.</a:t>
            </a:r>
          </a:p>
          <a:p>
            <a:pPr algn="l">
              <a:buNone/>
              <a:defRPr sz="15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Spaces remain one value.</a:t>
            </a:r>
          </a:p>
          <a:p>
            <a:pPr algn="l">
              <a:buNone/>
              <a:defRPr sz="15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Wildcards remain protected.</a:t>
            </a:r>
          </a:p>
        </p:txBody>
      </p:sp>
      <p:sp>
        <p:nvSpPr>
          <p:cNvPr id="14" name="permission-takeaway-bg">
            <a:extLst>
              <a:ext uri="{FF2B5EF4-FFF2-40B4-BE49-F238E27FC236}">
                <a16:creationId xmlns:a16="http://schemas.microsoft.com/office/drawing/2014/main" id="{43E6BADE-E45A-4482-9D47-2416E43CE333}"/>
              </a:ext>
            </a:extLst>
          </p:cNvPr>
          <p:cNvSpPr>
            <a:spLocks noGrp="1"/>
          </p:cNvSpPr>
          <p:nvPr/>
        </p:nvSpPr>
        <p:spPr>
          <a:xfrm>
            <a:off x="2019300" y="5476875"/>
            <a:ext cx="8153400" cy="5238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permission-takeaway">
            <a:extLst>
              <a:ext uri="{FF2B5EF4-FFF2-40B4-BE49-F238E27FC236}">
                <a16:creationId xmlns:a16="http://schemas.microsoft.com/office/drawing/2014/main" id="{2BC849AD-9BE5-45B8-8239-1553B1502A2A}"/>
              </a:ext>
            </a:extLst>
          </p:cNvPr>
          <p:cNvSpPr>
            <a:spLocks noGrp="1"/>
          </p:cNvSpPr>
          <p:nvPr/>
        </p:nvSpPr>
        <p:spPr>
          <a:xfrm>
            <a:off x="2247900" y="5619750"/>
            <a:ext cx="769620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Default safety: double quote variable expansions unless splitting or globbing is intentional.</a:t>
            </a:r>
          </a:p>
        </p:txBody>
      </p:sp>
    </p:spTree>
    <p:extLst>
      <p:ext uri="{BB962C8B-B14F-4D97-AF65-F5344CB8AC3E}">
        <p14:creationId xmlns:p14="http://schemas.microsoft.com/office/powerpoint/2010/main" val="2004146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yebrow-7">
            <a:extLst>
              <a:ext uri="{FF2B5EF4-FFF2-40B4-BE49-F238E27FC236}">
                <a16:creationId xmlns:a16="http://schemas.microsoft.com/office/drawing/2014/main" id="{AE7AC8AB-7816-46AF-A688-6C22148A60D8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000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LESSON 3 | GUIDED DEMONSTRATION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CB56BA25-468E-4FEC-93D9-904C43896037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0668000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Guided demo: build a personalized server greeting</a:t>
            </a:r>
          </a:p>
        </p:txBody>
      </p:sp>
      <p:sp>
        <p:nvSpPr>
          <p:cNvPr id="3" name="header-rule-7">
            <a:extLst>
              <a:ext uri="{FF2B5EF4-FFF2-40B4-BE49-F238E27FC236}">
                <a16:creationId xmlns:a16="http://schemas.microsoft.com/office/drawing/2014/main" id="{34A5244D-9F72-478C-A6B7-552E4F3DBC81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2776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7">
            <a:extLst>
              <a:ext uri="{FF2B5EF4-FFF2-40B4-BE49-F238E27FC236}">
                <a16:creationId xmlns:a16="http://schemas.microsoft.com/office/drawing/2014/main" id="{095644F5-BA94-4CAC-B91F-6294CCB177E3}"/>
              </a:ext>
            </a:extLst>
          </p:cNvPr>
          <p:cNvSpPr>
            <a:spLocks noGrp="1"/>
          </p:cNvSpPr>
          <p:nvPr/>
        </p:nvSpPr>
        <p:spPr>
          <a:xfrm>
            <a:off x="11239500" y="6238875"/>
            <a:ext cx="4953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5" name="footer-7">
            <a:extLst>
              <a:ext uri="{FF2B5EF4-FFF2-40B4-BE49-F238E27FC236}">
                <a16:creationId xmlns:a16="http://schemas.microsoft.com/office/drawing/2014/main" id="{193CF4C1-69C6-46BB-A680-6C57095728AB}"/>
              </a:ext>
            </a:extLst>
          </p:cNvPr>
          <p:cNvSpPr>
            <a:spLocks noGrp="1"/>
          </p:cNvSpPr>
          <p:nvPr/>
        </p:nvSpPr>
        <p:spPr>
          <a:xfrm>
            <a:off x="457200" y="6238875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demo1-code-bg">
            <a:extLst>
              <a:ext uri="{FF2B5EF4-FFF2-40B4-BE49-F238E27FC236}">
                <a16:creationId xmlns:a16="http://schemas.microsoft.com/office/drawing/2014/main" id="{2A82FC4C-13D6-4E30-8D57-3E3A903B61E3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7239000" cy="381000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demo1-code">
            <a:extLst>
              <a:ext uri="{FF2B5EF4-FFF2-40B4-BE49-F238E27FC236}">
                <a16:creationId xmlns:a16="http://schemas.microsoft.com/office/drawing/2014/main" id="{64333386-F9AD-4EF7-B1DA-B71915B9632A}"/>
              </a:ext>
            </a:extLst>
          </p:cNvPr>
          <p:cNvSpPr>
            <a:spLocks noGrp="1"/>
          </p:cNvSpPr>
          <p:nvPr/>
        </p:nvSpPr>
        <p:spPr>
          <a:xfrm>
            <a:off x="742950" y="2238375"/>
            <a:ext cx="6667500" cy="3143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#!/usr/bin/env bash</a:t>
            </a:r>
          </a:p>
          <a:p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endParaRPr/>
          </a:p>
          <a:p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read -r -p "Enter your full name: " student_name</a:t>
            </a:r>
          </a:p>
          <a:p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endParaRPr/>
          </a:p>
          <a:p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if [[ -z "$student_name" ]]; then</a:t>
            </a:r>
          </a:p>
          <a:p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printf '%s\n' 'Name is required' &gt;&amp;2</a:t>
            </a:r>
          </a:p>
          <a:p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exit 1</a:t>
            </a:r>
          </a:p>
          <a:p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fi</a:t>
            </a:r>
          </a:p>
          <a:p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endParaRPr/>
          </a:p>
          <a:p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current_user="$(whoami)"</a:t>
            </a:r>
          </a:p>
          <a:p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printf 'Hello %s from %s\n' "$student_name" "$current_user"</a:t>
            </a:r>
          </a:p>
        </p:txBody>
      </p:sp>
      <p:sp>
        <p:nvSpPr>
          <p:cNvPr id="8" name="demo1-run-label">
            <a:extLst>
              <a:ext uri="{FF2B5EF4-FFF2-40B4-BE49-F238E27FC236}">
                <a16:creationId xmlns:a16="http://schemas.microsoft.com/office/drawing/2014/main" id="{51E76662-30E3-460F-9A63-08F48C8DCCEC}"/>
              </a:ext>
            </a:extLst>
          </p:cNvPr>
          <p:cNvSpPr>
            <a:spLocks noGrp="1"/>
          </p:cNvSpPr>
          <p:nvPr/>
        </p:nvSpPr>
        <p:spPr>
          <a:xfrm>
            <a:off x="8191500" y="2047875"/>
            <a:ext cx="11430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TEST</a:t>
            </a:r>
          </a:p>
        </p:txBody>
      </p:sp>
      <p:sp>
        <p:nvSpPr>
          <p:cNvPr id="9" name="demo1-run-code">
            <a:extLst>
              <a:ext uri="{FF2B5EF4-FFF2-40B4-BE49-F238E27FC236}">
                <a16:creationId xmlns:a16="http://schemas.microsoft.com/office/drawing/2014/main" id="{9814E36F-D784-4E41-A250-37620BE6499D}"/>
              </a:ext>
            </a:extLst>
          </p:cNvPr>
          <p:cNvSpPr>
            <a:spLocks noGrp="1"/>
          </p:cNvSpPr>
          <p:nvPr/>
        </p:nvSpPr>
        <p:spPr>
          <a:xfrm>
            <a:off x="8191500" y="2524125"/>
            <a:ext cx="3143250" cy="1857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bash server-greeting.sh</a:t>
            </a:r>
          </a:p>
          <a:p>
            <a:pPr algn="l">
              <a:buNone/>
              <a:defRPr sz="17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endParaRPr/>
          </a:p>
          <a:p>
            <a:pPr algn="l">
              <a:buNone/>
              <a:defRPr sz="17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Input: Ali Khan</a:t>
            </a:r>
          </a:p>
          <a:p>
            <a:pPr algn="l">
              <a:buNone/>
              <a:defRPr sz="17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Input: Lab\User</a:t>
            </a:r>
          </a:p>
          <a:p>
            <a:pPr algn="l">
              <a:buNone/>
              <a:defRPr sz="17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Input: &lt;empty&gt;</a:t>
            </a:r>
          </a:p>
        </p:txBody>
      </p:sp>
      <p:sp>
        <p:nvSpPr>
          <p:cNvPr id="10" name="demo1-check">
            <a:extLst>
              <a:ext uri="{FF2B5EF4-FFF2-40B4-BE49-F238E27FC236}">
                <a16:creationId xmlns:a16="http://schemas.microsoft.com/office/drawing/2014/main" id="{BF3465A7-970A-4801-976D-5B1262500507}"/>
              </a:ext>
            </a:extLst>
          </p:cNvPr>
          <p:cNvSpPr>
            <a:spLocks noGrp="1"/>
          </p:cNvSpPr>
          <p:nvPr/>
        </p:nvSpPr>
        <p:spPr>
          <a:xfrm>
            <a:off x="8115300" y="4762500"/>
            <a:ext cx="3190875" cy="904875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demo1-check-text">
            <a:extLst>
              <a:ext uri="{FF2B5EF4-FFF2-40B4-BE49-F238E27FC236}">
                <a16:creationId xmlns:a16="http://schemas.microsoft.com/office/drawing/2014/main" id="{D89D9198-2DFE-4E1B-847E-894CF16DC5C7}"/>
              </a:ext>
            </a:extLst>
          </p:cNvPr>
          <p:cNvSpPr>
            <a:spLocks noGrp="1"/>
          </p:cNvSpPr>
          <p:nvPr/>
        </p:nvSpPr>
        <p:spPr>
          <a:xfrm>
            <a:off x="8362950" y="4953000"/>
            <a:ext cx="2714625" cy="533400"/>
          </a:xfrm>
          <a:prstGeom prst="rect">
            <a:avLst/>
          </a:prstGeom>
        </p:spPr>
        <p:txBody>
          <a:bodyPr wrap="square" lIns="0" tIns="0" rIns="0" bIns="0" anchor="t">
            <a:normAutofit fontScale="77778"/>
          </a:bodyPr>
          <a:lstStyle/>
          <a:p>
            <a:pPr algn="l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CHECK</a:t>
            </a:r>
          </a:p>
          <a:p>
            <a:pPr algn="l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Spaces stay intact. Empty input fails safely.</a:t>
            </a:r>
          </a:p>
        </p:txBody>
      </p:sp>
    </p:spTree>
    <p:extLst>
      <p:ext uri="{BB962C8B-B14F-4D97-AF65-F5344CB8AC3E}">
        <p14:creationId xmlns:p14="http://schemas.microsoft.com/office/powerpoint/2010/main" val="248875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-8">
            <a:extLst>
              <a:ext uri="{FF2B5EF4-FFF2-40B4-BE49-F238E27FC236}">
                <a16:creationId xmlns:a16="http://schemas.microsoft.com/office/drawing/2014/main" id="{45FA9238-4C5B-4FAB-A148-7DCDD6406875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000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LESSON 4 | INTERACTIVE INPUT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FF85B6F2-EC8F-458D-9041-3A8E7585D4F2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0668000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Interactive input must be read, validated, and quoted</a:t>
            </a:r>
          </a:p>
        </p:txBody>
      </p:sp>
      <p:sp>
        <p:nvSpPr>
          <p:cNvPr id="3" name="header-rule-8">
            <a:extLst>
              <a:ext uri="{FF2B5EF4-FFF2-40B4-BE49-F238E27FC236}">
                <a16:creationId xmlns:a16="http://schemas.microsoft.com/office/drawing/2014/main" id="{55B326D4-4AE9-41CA-BDB9-2562CF7D82CA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2776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8">
            <a:extLst>
              <a:ext uri="{FF2B5EF4-FFF2-40B4-BE49-F238E27FC236}">
                <a16:creationId xmlns:a16="http://schemas.microsoft.com/office/drawing/2014/main" id="{3994DCB7-48BC-4446-BD6A-FCCDC146B24D}"/>
              </a:ext>
            </a:extLst>
          </p:cNvPr>
          <p:cNvSpPr>
            <a:spLocks noGrp="1"/>
          </p:cNvSpPr>
          <p:nvPr/>
        </p:nvSpPr>
        <p:spPr>
          <a:xfrm>
            <a:off x="11239500" y="6238875"/>
            <a:ext cx="4953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5" name="footer-8">
            <a:extLst>
              <a:ext uri="{FF2B5EF4-FFF2-40B4-BE49-F238E27FC236}">
                <a16:creationId xmlns:a16="http://schemas.microsoft.com/office/drawing/2014/main" id="{828B2ECF-52CC-4F0A-8DFD-95FCFA956350}"/>
              </a:ext>
            </a:extLst>
          </p:cNvPr>
          <p:cNvSpPr>
            <a:spLocks noGrp="1"/>
          </p:cNvSpPr>
          <p:nvPr/>
        </p:nvSpPr>
        <p:spPr>
          <a:xfrm>
            <a:off x="457200" y="6238875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evidence-panel-1">
            <a:extLst>
              <a:ext uri="{FF2B5EF4-FFF2-40B4-BE49-F238E27FC236}">
                <a16:creationId xmlns:a16="http://schemas.microsoft.com/office/drawing/2014/main" id="{07FCABAB-9BE9-4660-BC0F-929D00D39CF6}"/>
              </a:ext>
            </a:extLst>
          </p:cNvPr>
          <p:cNvSpPr>
            <a:spLocks noGrp="1"/>
          </p:cNvSpPr>
          <p:nvPr/>
        </p:nvSpPr>
        <p:spPr>
          <a:xfrm>
            <a:off x="457200" y="2047875"/>
            <a:ext cx="3429000" cy="34290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evidence-title-1">
            <a:extLst>
              <a:ext uri="{FF2B5EF4-FFF2-40B4-BE49-F238E27FC236}">
                <a16:creationId xmlns:a16="http://schemas.microsoft.com/office/drawing/2014/main" id="{2562575A-9E3E-422B-ABF3-712C80F5E07E}"/>
              </a:ext>
            </a:extLst>
          </p:cNvPr>
          <p:cNvSpPr>
            <a:spLocks noGrp="1"/>
          </p:cNvSpPr>
          <p:nvPr/>
        </p:nvSpPr>
        <p:spPr>
          <a:xfrm>
            <a:off x="704850" y="2333625"/>
            <a:ext cx="29337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READ</a:t>
            </a:r>
          </a:p>
        </p:txBody>
      </p:sp>
      <p:sp>
        <p:nvSpPr>
          <p:cNvPr id="8" name="evidence-question-1">
            <a:extLst>
              <a:ext uri="{FF2B5EF4-FFF2-40B4-BE49-F238E27FC236}">
                <a16:creationId xmlns:a16="http://schemas.microsoft.com/office/drawing/2014/main" id="{C21EEAEC-E396-4A08-94AF-AAF765F76FD5}"/>
              </a:ext>
            </a:extLst>
          </p:cNvPr>
          <p:cNvSpPr>
            <a:spLocks noGrp="1"/>
          </p:cNvSpPr>
          <p:nvPr/>
        </p:nvSpPr>
        <p:spPr>
          <a:xfrm>
            <a:off x="704850" y="3095625"/>
            <a:ext cx="293370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Accept the user's</a:t>
            </a:r>
          </a:p>
          <a:p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complete input</a:t>
            </a:r>
          </a:p>
        </p:txBody>
      </p:sp>
      <p:sp>
        <p:nvSpPr>
          <p:cNvPr id="9" name="evidence-code-bg-1">
            <a:extLst>
              <a:ext uri="{FF2B5EF4-FFF2-40B4-BE49-F238E27FC236}">
                <a16:creationId xmlns:a16="http://schemas.microsoft.com/office/drawing/2014/main" id="{E013D934-7CC5-4969-B49D-D0B041818BA0}"/>
              </a:ext>
            </a:extLst>
          </p:cNvPr>
          <p:cNvSpPr>
            <a:spLocks noGrp="1"/>
          </p:cNvSpPr>
          <p:nvPr/>
        </p:nvSpPr>
        <p:spPr>
          <a:xfrm>
            <a:off x="704850" y="4143375"/>
            <a:ext cx="2933700" cy="9715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evidence-code-1">
            <a:extLst>
              <a:ext uri="{FF2B5EF4-FFF2-40B4-BE49-F238E27FC236}">
                <a16:creationId xmlns:a16="http://schemas.microsoft.com/office/drawing/2014/main" id="{C442C201-A32D-422E-94E3-ED31405460E2}"/>
              </a:ext>
            </a:extLst>
          </p:cNvPr>
          <p:cNvSpPr>
            <a:spLocks noGrp="1"/>
          </p:cNvSpPr>
          <p:nvPr/>
        </p:nvSpPr>
        <p:spPr>
          <a:xfrm>
            <a:off x="876300" y="4362450"/>
            <a:ext cx="259080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read -r name</a:t>
            </a:r>
          </a:p>
        </p:txBody>
      </p:sp>
      <p:sp>
        <p:nvSpPr>
          <p:cNvPr id="11" name="evidence-panel-2">
            <a:extLst>
              <a:ext uri="{FF2B5EF4-FFF2-40B4-BE49-F238E27FC236}">
                <a16:creationId xmlns:a16="http://schemas.microsoft.com/office/drawing/2014/main" id="{912F2156-F4B4-46A4-825E-9FD5391C65D6}"/>
              </a:ext>
            </a:extLst>
          </p:cNvPr>
          <p:cNvSpPr>
            <a:spLocks noGrp="1"/>
          </p:cNvSpPr>
          <p:nvPr/>
        </p:nvSpPr>
        <p:spPr>
          <a:xfrm>
            <a:off x="4305300" y="2047875"/>
            <a:ext cx="3429000" cy="3429000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evidence-title-2">
            <a:extLst>
              <a:ext uri="{FF2B5EF4-FFF2-40B4-BE49-F238E27FC236}">
                <a16:creationId xmlns:a16="http://schemas.microsoft.com/office/drawing/2014/main" id="{D990DB48-CFC0-44EE-936E-3711656FB965}"/>
              </a:ext>
            </a:extLst>
          </p:cNvPr>
          <p:cNvSpPr>
            <a:spLocks noGrp="1"/>
          </p:cNvSpPr>
          <p:nvPr/>
        </p:nvSpPr>
        <p:spPr>
          <a:xfrm>
            <a:off x="4552950" y="2333625"/>
            <a:ext cx="29337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VALIDATE</a:t>
            </a:r>
          </a:p>
        </p:txBody>
      </p:sp>
      <p:sp>
        <p:nvSpPr>
          <p:cNvPr id="13" name="evidence-question-2">
            <a:extLst>
              <a:ext uri="{FF2B5EF4-FFF2-40B4-BE49-F238E27FC236}">
                <a16:creationId xmlns:a16="http://schemas.microsoft.com/office/drawing/2014/main" id="{1371BCEA-1C91-472B-8212-05171180692D}"/>
              </a:ext>
            </a:extLst>
          </p:cNvPr>
          <p:cNvSpPr>
            <a:spLocks noGrp="1"/>
          </p:cNvSpPr>
          <p:nvPr/>
        </p:nvSpPr>
        <p:spPr>
          <a:xfrm>
            <a:off x="4552950" y="3095625"/>
            <a:ext cx="293370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Reject missing or</a:t>
            </a:r>
          </a:p>
          <a:p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invalid data</a:t>
            </a:r>
          </a:p>
        </p:txBody>
      </p:sp>
      <p:sp>
        <p:nvSpPr>
          <p:cNvPr id="14" name="evidence-code-bg-2">
            <a:extLst>
              <a:ext uri="{FF2B5EF4-FFF2-40B4-BE49-F238E27FC236}">
                <a16:creationId xmlns:a16="http://schemas.microsoft.com/office/drawing/2014/main" id="{967219A0-3F46-4CBF-9BDC-58413F8E26A3}"/>
              </a:ext>
            </a:extLst>
          </p:cNvPr>
          <p:cNvSpPr>
            <a:spLocks noGrp="1"/>
          </p:cNvSpPr>
          <p:nvPr/>
        </p:nvSpPr>
        <p:spPr>
          <a:xfrm>
            <a:off x="4552950" y="4143375"/>
            <a:ext cx="2933700" cy="9715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evidence-code-2">
            <a:extLst>
              <a:ext uri="{FF2B5EF4-FFF2-40B4-BE49-F238E27FC236}">
                <a16:creationId xmlns:a16="http://schemas.microsoft.com/office/drawing/2014/main" id="{3023073F-0272-4484-A32B-1E63619C2482}"/>
              </a:ext>
            </a:extLst>
          </p:cNvPr>
          <p:cNvSpPr>
            <a:spLocks noGrp="1"/>
          </p:cNvSpPr>
          <p:nvPr/>
        </p:nvSpPr>
        <p:spPr>
          <a:xfrm>
            <a:off x="4724400" y="4362450"/>
            <a:ext cx="259080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[[ -z "$name" ]]</a:t>
            </a:r>
          </a:p>
        </p:txBody>
      </p:sp>
      <p:sp>
        <p:nvSpPr>
          <p:cNvPr id="16" name="evidence-panel-3">
            <a:extLst>
              <a:ext uri="{FF2B5EF4-FFF2-40B4-BE49-F238E27FC236}">
                <a16:creationId xmlns:a16="http://schemas.microsoft.com/office/drawing/2014/main" id="{0170A2EC-3979-4799-BB10-72E545182AEC}"/>
              </a:ext>
            </a:extLst>
          </p:cNvPr>
          <p:cNvSpPr>
            <a:spLocks noGrp="1"/>
          </p:cNvSpPr>
          <p:nvPr/>
        </p:nvSpPr>
        <p:spPr>
          <a:xfrm>
            <a:off x="8153400" y="2047875"/>
            <a:ext cx="3429000" cy="34290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evidence-title-3">
            <a:extLst>
              <a:ext uri="{FF2B5EF4-FFF2-40B4-BE49-F238E27FC236}">
                <a16:creationId xmlns:a16="http://schemas.microsoft.com/office/drawing/2014/main" id="{79D1ABD4-289A-4613-8565-996AC47A6E6E}"/>
              </a:ext>
            </a:extLst>
          </p:cNvPr>
          <p:cNvSpPr>
            <a:spLocks noGrp="1"/>
          </p:cNvSpPr>
          <p:nvPr/>
        </p:nvSpPr>
        <p:spPr>
          <a:xfrm>
            <a:off x="8401050" y="2333625"/>
            <a:ext cx="29337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USE</a:t>
            </a:r>
          </a:p>
        </p:txBody>
      </p:sp>
      <p:sp>
        <p:nvSpPr>
          <p:cNvPr id="18" name="evidence-question-3">
            <a:extLst>
              <a:ext uri="{FF2B5EF4-FFF2-40B4-BE49-F238E27FC236}">
                <a16:creationId xmlns:a16="http://schemas.microsoft.com/office/drawing/2014/main" id="{E8414609-1BD1-4E93-9A59-7705D3EFCDDC}"/>
              </a:ext>
            </a:extLst>
          </p:cNvPr>
          <p:cNvSpPr>
            <a:spLocks noGrp="1"/>
          </p:cNvSpPr>
          <p:nvPr/>
        </p:nvSpPr>
        <p:spPr>
          <a:xfrm>
            <a:off x="8401050" y="3095625"/>
            <a:ext cx="293370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Preserve the value</a:t>
            </a:r>
          </a:p>
          <a:p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as one argument</a:t>
            </a:r>
          </a:p>
        </p:txBody>
      </p:sp>
      <p:sp>
        <p:nvSpPr>
          <p:cNvPr id="19" name="evidence-code-bg-3">
            <a:extLst>
              <a:ext uri="{FF2B5EF4-FFF2-40B4-BE49-F238E27FC236}">
                <a16:creationId xmlns:a16="http://schemas.microsoft.com/office/drawing/2014/main" id="{7E6AD74C-A695-4D82-BFF9-AE5063252322}"/>
              </a:ext>
            </a:extLst>
          </p:cNvPr>
          <p:cNvSpPr>
            <a:spLocks noGrp="1"/>
          </p:cNvSpPr>
          <p:nvPr/>
        </p:nvSpPr>
        <p:spPr>
          <a:xfrm>
            <a:off x="8401050" y="4143375"/>
            <a:ext cx="2933700" cy="9715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evidence-code-3">
            <a:extLst>
              <a:ext uri="{FF2B5EF4-FFF2-40B4-BE49-F238E27FC236}">
                <a16:creationId xmlns:a16="http://schemas.microsoft.com/office/drawing/2014/main" id="{EAA23B77-C754-4BB3-9A99-536F1A8A9F8B}"/>
              </a:ext>
            </a:extLst>
          </p:cNvPr>
          <p:cNvSpPr>
            <a:spLocks noGrp="1"/>
          </p:cNvSpPr>
          <p:nvPr/>
        </p:nvSpPr>
        <p:spPr>
          <a:xfrm>
            <a:off x="8572500" y="4362450"/>
            <a:ext cx="259080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printf '%s' "$name"</a:t>
            </a:r>
          </a:p>
        </p:txBody>
      </p:sp>
      <p:sp>
        <p:nvSpPr>
          <p:cNvPr id="21" name="status-warning">
            <a:extLst>
              <a:ext uri="{FF2B5EF4-FFF2-40B4-BE49-F238E27FC236}">
                <a16:creationId xmlns:a16="http://schemas.microsoft.com/office/drawing/2014/main" id="{92420787-CEF1-419F-8443-7B51957E7659}"/>
              </a:ext>
            </a:extLst>
          </p:cNvPr>
          <p:cNvSpPr>
            <a:spLocks noGrp="1"/>
          </p:cNvSpPr>
          <p:nvPr/>
        </p:nvSpPr>
        <p:spPr>
          <a:xfrm>
            <a:off x="2381250" y="5762625"/>
            <a:ext cx="7429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725" b="1">
                <a:solidFill>
                  <a:srgbClr val="C64B4B"/>
                </a:solidFill>
                <a:latin typeface="Arial"/>
                <a:ea typeface="Arial"/>
                <a:cs typeface="Arial"/>
              </a:defRPr>
            </a:pPr>
            <a:r>
              <a:t>A prompt does not make input trustworthy - validation does.</a:t>
            </a:r>
          </a:p>
        </p:txBody>
      </p:sp>
    </p:spTree>
    <p:extLst>
      <p:ext uri="{BB962C8B-B14F-4D97-AF65-F5344CB8AC3E}">
        <p14:creationId xmlns:p14="http://schemas.microsoft.com/office/powerpoint/2010/main" val="472615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yebrow-9">
            <a:extLst>
              <a:ext uri="{FF2B5EF4-FFF2-40B4-BE49-F238E27FC236}">
                <a16:creationId xmlns:a16="http://schemas.microsoft.com/office/drawing/2014/main" id="{2A69F51D-725C-4556-B633-B1E3431E943A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000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LESSON 4 | POSITIONAL ARGUMENTS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8540932F-11D4-4B33-8FDC-ACA685297DFF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0668000" cy="723900"/>
          </a:xfrm>
          <a:prstGeom prst="rect">
            <a:avLst/>
          </a:prstGeom>
        </p:spPr>
        <p:txBody>
          <a:bodyPr wrap="square" lIns="0" tIns="0" rIns="0" bIns="0" anchor="t">
            <a:normAutofit fontScale="99608"/>
          </a:bodyPr>
          <a:lstStyle/>
          <a:p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Arguments make scripts reusable and non-interactive</a:t>
            </a:r>
          </a:p>
        </p:txBody>
      </p:sp>
      <p:sp>
        <p:nvSpPr>
          <p:cNvPr id="3" name="header-rule-9">
            <a:extLst>
              <a:ext uri="{FF2B5EF4-FFF2-40B4-BE49-F238E27FC236}">
                <a16:creationId xmlns:a16="http://schemas.microsoft.com/office/drawing/2014/main" id="{8EF39D69-1E33-4AD6-ABB9-2D1EDDF5ECB5}"/>
              </a:ext>
            </a:extLst>
          </p:cNvPr>
          <p:cNvSpPr>
            <a:spLocks noGrp="1"/>
          </p:cNvSpPr>
          <p:nvPr/>
        </p:nvSpPr>
        <p:spPr>
          <a:xfrm>
            <a:off x="457200" y="1734155"/>
            <a:ext cx="112776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9">
            <a:extLst>
              <a:ext uri="{FF2B5EF4-FFF2-40B4-BE49-F238E27FC236}">
                <a16:creationId xmlns:a16="http://schemas.microsoft.com/office/drawing/2014/main" id="{7C3E4A98-EB28-430B-8D7D-ACFDEA7EBE74}"/>
              </a:ext>
            </a:extLst>
          </p:cNvPr>
          <p:cNvSpPr>
            <a:spLocks noGrp="1"/>
          </p:cNvSpPr>
          <p:nvPr/>
        </p:nvSpPr>
        <p:spPr>
          <a:xfrm>
            <a:off x="11239500" y="6238875"/>
            <a:ext cx="4953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5" name="footer-9">
            <a:extLst>
              <a:ext uri="{FF2B5EF4-FFF2-40B4-BE49-F238E27FC236}">
                <a16:creationId xmlns:a16="http://schemas.microsoft.com/office/drawing/2014/main" id="{B9206F7C-0924-4A16-9CED-881651A38EAF}"/>
              </a:ext>
            </a:extLst>
          </p:cNvPr>
          <p:cNvSpPr>
            <a:spLocks noGrp="1"/>
          </p:cNvSpPr>
          <p:nvPr/>
        </p:nvSpPr>
        <p:spPr>
          <a:xfrm>
            <a:off x="457200" y="6238875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and-panel">
            <a:extLst>
              <a:ext uri="{FF2B5EF4-FFF2-40B4-BE49-F238E27FC236}">
                <a16:creationId xmlns:a16="http://schemas.microsoft.com/office/drawing/2014/main" id="{F95D802C-670A-4C3B-AF76-05C4B6D7DCBA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5334000" cy="3143250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r-panel">
            <a:extLst>
              <a:ext uri="{FF2B5EF4-FFF2-40B4-BE49-F238E27FC236}">
                <a16:creationId xmlns:a16="http://schemas.microsoft.com/office/drawing/2014/main" id="{78D8D5FB-B597-465B-81FA-F4B20A80898A}"/>
              </a:ext>
            </a:extLst>
          </p:cNvPr>
          <p:cNvSpPr>
            <a:spLocks noGrp="1"/>
          </p:cNvSpPr>
          <p:nvPr/>
        </p:nvSpPr>
        <p:spPr>
          <a:xfrm>
            <a:off x="6400800" y="1952625"/>
            <a:ext cx="5334000" cy="31432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and-label">
            <a:extLst>
              <a:ext uri="{FF2B5EF4-FFF2-40B4-BE49-F238E27FC236}">
                <a16:creationId xmlns:a16="http://schemas.microsoft.com/office/drawing/2014/main" id="{BC3531E2-6D89-49C4-AC15-95E856740917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25717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F8A63"/>
                </a:solidFill>
                <a:latin typeface="Arial"/>
                <a:ea typeface="Arial"/>
                <a:cs typeface="Arial"/>
              </a:defRPr>
            </a:pPr>
            <a:r>
              <a:t>POSITIONAL PARAMETERS</a:t>
            </a:r>
          </a:p>
        </p:txBody>
      </p:sp>
      <p:sp>
        <p:nvSpPr>
          <p:cNvPr id="9" name="and-code">
            <a:extLst>
              <a:ext uri="{FF2B5EF4-FFF2-40B4-BE49-F238E27FC236}">
                <a16:creationId xmlns:a16="http://schemas.microsoft.com/office/drawing/2014/main" id="{8B787CAA-1E24-40F1-816D-E5C0053CA182}"/>
              </a:ext>
            </a:extLst>
          </p:cNvPr>
          <p:cNvSpPr>
            <a:spLocks noGrp="1"/>
          </p:cNvSpPr>
          <p:nvPr/>
        </p:nvSpPr>
        <p:spPr>
          <a:xfrm>
            <a:off x="762000" y="2809875"/>
            <a:ext cx="45720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$0   $1   $2   $#</a:t>
            </a:r>
          </a:p>
        </p:txBody>
      </p:sp>
      <p:sp>
        <p:nvSpPr>
          <p:cNvPr id="10" name="and-body">
            <a:extLst>
              <a:ext uri="{FF2B5EF4-FFF2-40B4-BE49-F238E27FC236}">
                <a16:creationId xmlns:a16="http://schemas.microsoft.com/office/drawing/2014/main" id="{F83FA301-D39D-45FE-98A2-F9A36796F202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4286250" cy="1000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$0 = script name</a:t>
            </a:r>
          </a:p>
          <a:p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$1 and $2 = arguments</a:t>
            </a:r>
          </a:p>
          <a:p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$# = argument count</a:t>
            </a:r>
          </a:p>
        </p:txBody>
      </p:sp>
      <p:sp>
        <p:nvSpPr>
          <p:cNvPr id="11" name="or-label">
            <a:extLst>
              <a:ext uri="{FF2B5EF4-FFF2-40B4-BE49-F238E27FC236}">
                <a16:creationId xmlns:a16="http://schemas.microsoft.com/office/drawing/2014/main" id="{499FED21-8800-44B6-A7B2-AC1772FC229F}"/>
              </a:ext>
            </a:extLst>
          </p:cNvPr>
          <p:cNvSpPr>
            <a:spLocks noGrp="1"/>
          </p:cNvSpPr>
          <p:nvPr/>
        </p:nvSpPr>
        <p:spPr>
          <a:xfrm>
            <a:off x="6705600" y="2238375"/>
            <a:ext cx="25717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C64B4B"/>
                </a:solidFill>
                <a:latin typeface="Arial"/>
                <a:ea typeface="Arial"/>
                <a:cs typeface="Arial"/>
              </a:defRPr>
            </a:pPr>
            <a:r>
              <a:t>ALL ARGUMENTS</a:t>
            </a:r>
          </a:p>
        </p:txBody>
      </p:sp>
      <p:sp>
        <p:nvSpPr>
          <p:cNvPr id="12" name="or-code">
            <a:extLst>
              <a:ext uri="{FF2B5EF4-FFF2-40B4-BE49-F238E27FC236}">
                <a16:creationId xmlns:a16="http://schemas.microsoft.com/office/drawing/2014/main" id="{CA93B9C6-0305-45D9-852F-AA221E3A2191}"/>
              </a:ext>
            </a:extLst>
          </p:cNvPr>
          <p:cNvSpPr>
            <a:spLocks noGrp="1"/>
          </p:cNvSpPr>
          <p:nvPr/>
        </p:nvSpPr>
        <p:spPr>
          <a:xfrm>
            <a:off x="6705600" y="2809875"/>
            <a:ext cx="45720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"$@"</a:t>
            </a:r>
          </a:p>
        </p:txBody>
      </p:sp>
      <p:sp>
        <p:nvSpPr>
          <p:cNvPr id="13" name="or-body">
            <a:extLst>
              <a:ext uri="{FF2B5EF4-FFF2-40B4-BE49-F238E27FC236}">
                <a16:creationId xmlns:a16="http://schemas.microsoft.com/office/drawing/2014/main" id="{0CCA83AF-7922-40B0-A965-C43DEAE7176F}"/>
              </a:ext>
            </a:extLst>
          </p:cNvPr>
          <p:cNvSpPr>
            <a:spLocks noGrp="1"/>
          </p:cNvSpPr>
          <p:nvPr/>
        </p:nvSpPr>
        <p:spPr>
          <a:xfrm>
            <a:off x="6705600" y="3714750"/>
            <a:ext cx="4286250" cy="1000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Every argument is preserved</a:t>
            </a:r>
          </a:p>
          <a:p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including values with spaces</a:t>
            </a:r>
          </a:p>
        </p:txBody>
      </p:sp>
      <p:sp>
        <p:nvSpPr>
          <p:cNvPr id="14" name="andor-example-bg">
            <a:extLst>
              <a:ext uri="{FF2B5EF4-FFF2-40B4-BE49-F238E27FC236}">
                <a16:creationId xmlns:a16="http://schemas.microsoft.com/office/drawing/2014/main" id="{E73EC4BD-8B3F-4F86-8CEC-66B7F618F576}"/>
              </a:ext>
            </a:extLst>
          </p:cNvPr>
          <p:cNvSpPr>
            <a:spLocks noGrp="1"/>
          </p:cNvSpPr>
          <p:nvPr/>
        </p:nvSpPr>
        <p:spPr>
          <a:xfrm>
            <a:off x="1809750" y="5429250"/>
            <a:ext cx="8572500" cy="5524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andor-example">
            <a:extLst>
              <a:ext uri="{FF2B5EF4-FFF2-40B4-BE49-F238E27FC236}">
                <a16:creationId xmlns:a16="http://schemas.microsoft.com/office/drawing/2014/main" id="{11E37C21-19A5-4AAA-81A9-AD5FDAE0673B}"/>
              </a:ext>
            </a:extLst>
          </p:cNvPr>
          <p:cNvSpPr>
            <a:spLocks noGrp="1"/>
          </p:cNvSpPr>
          <p:nvPr/>
        </p:nvSpPr>
        <p:spPr>
          <a:xfrm>
            <a:off x="2047875" y="5591175"/>
            <a:ext cx="8096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./argument-demo.sh "Linux Admin" WSL AWS</a:t>
            </a:r>
          </a:p>
        </p:txBody>
      </p:sp>
    </p:spTree>
    <p:extLst>
      <p:ext uri="{BB962C8B-B14F-4D97-AF65-F5344CB8AC3E}">
        <p14:creationId xmlns:p14="http://schemas.microsoft.com/office/powerpoint/2010/main" val="2067657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-10">
            <a:extLst>
              <a:ext uri="{FF2B5EF4-FFF2-40B4-BE49-F238E27FC236}">
                <a16:creationId xmlns:a16="http://schemas.microsoft.com/office/drawing/2014/main" id="{D814AF9C-3E9B-430E-9C3A-BE6A989CCD6E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000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LESSON 4 | GUIDED DEMONSTRATION</a:t>
            </a:r>
          </a:p>
        </p:txBody>
      </p:sp>
      <p:sp>
        <p:nvSpPr>
          <p:cNvPr id="2" name="title-10">
            <a:extLst>
              <a:ext uri="{FF2B5EF4-FFF2-40B4-BE49-F238E27FC236}">
                <a16:creationId xmlns:a16="http://schemas.microsoft.com/office/drawing/2014/main" id="{1C91B384-7106-4E7D-94F4-1647B9F52D05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0668000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 safe file inspector validates before using $1</a:t>
            </a:r>
          </a:p>
        </p:txBody>
      </p:sp>
      <p:sp>
        <p:nvSpPr>
          <p:cNvPr id="3" name="header-rule-10">
            <a:extLst>
              <a:ext uri="{FF2B5EF4-FFF2-40B4-BE49-F238E27FC236}">
                <a16:creationId xmlns:a16="http://schemas.microsoft.com/office/drawing/2014/main" id="{CBF59525-BD80-439B-92A3-81CD8F5776DA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2776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10">
            <a:extLst>
              <a:ext uri="{FF2B5EF4-FFF2-40B4-BE49-F238E27FC236}">
                <a16:creationId xmlns:a16="http://schemas.microsoft.com/office/drawing/2014/main" id="{09978007-92E1-4FC2-A840-C61B3D559870}"/>
              </a:ext>
            </a:extLst>
          </p:cNvPr>
          <p:cNvSpPr>
            <a:spLocks noGrp="1"/>
          </p:cNvSpPr>
          <p:nvPr/>
        </p:nvSpPr>
        <p:spPr>
          <a:xfrm>
            <a:off x="11239500" y="6238875"/>
            <a:ext cx="4953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5" name="footer-10">
            <a:extLst>
              <a:ext uri="{FF2B5EF4-FFF2-40B4-BE49-F238E27FC236}">
                <a16:creationId xmlns:a16="http://schemas.microsoft.com/office/drawing/2014/main" id="{5B2C862A-0282-4BE6-943D-EF5F57606F07}"/>
              </a:ext>
            </a:extLst>
          </p:cNvPr>
          <p:cNvSpPr>
            <a:spLocks noGrp="1"/>
          </p:cNvSpPr>
          <p:nvPr/>
        </p:nvSpPr>
        <p:spPr>
          <a:xfrm>
            <a:off x="457200" y="6238875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snapshot-code-bg">
            <a:extLst>
              <a:ext uri="{FF2B5EF4-FFF2-40B4-BE49-F238E27FC236}">
                <a16:creationId xmlns:a16="http://schemas.microsoft.com/office/drawing/2014/main" id="{AD6443B7-967A-4DC8-AB14-0B3DDEBDBF7F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6477000" cy="381000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napshot-code">
            <a:extLst>
              <a:ext uri="{FF2B5EF4-FFF2-40B4-BE49-F238E27FC236}">
                <a16:creationId xmlns:a16="http://schemas.microsoft.com/office/drawing/2014/main" id="{20A89C88-1613-4CCF-B085-3A97C5FAD598}"/>
              </a:ext>
            </a:extLst>
          </p:cNvPr>
          <p:cNvSpPr>
            <a:spLocks noGrp="1"/>
          </p:cNvSpPr>
          <p:nvPr/>
        </p:nvSpPr>
        <p:spPr>
          <a:xfrm>
            <a:off x="723900" y="2209800"/>
            <a:ext cx="5953125" cy="3238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#!/usr/bin/env bash</a:t>
            </a:r>
          </a:p>
          <a:p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endParaRPr/>
          </a:p>
          <a:p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if [[ $# -ne 1 ]]; then</a:t>
            </a:r>
          </a:p>
          <a:p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printf 'Usage: %s &lt;path&gt;\n' "$0" &gt;&amp;2</a:t>
            </a:r>
          </a:p>
          <a:p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exit 2</a:t>
            </a:r>
          </a:p>
          <a:p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fi</a:t>
            </a:r>
          </a:p>
          <a:p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endParaRPr/>
          </a:p>
          <a:p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target_path="$1"</a:t>
            </a:r>
          </a:p>
          <a:p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endParaRPr/>
          </a:p>
          <a:p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if [[ ! -e "$target_path" ]]; then</a:t>
            </a:r>
          </a:p>
          <a:p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printf 'Missing: %s\n' "$target_path" &gt;&amp;2</a:t>
            </a:r>
          </a:p>
          <a:p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exit 1</a:t>
            </a:r>
          </a:p>
          <a:p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fi</a:t>
            </a:r>
          </a:p>
        </p:txBody>
      </p:sp>
      <p:sp>
        <p:nvSpPr>
          <p:cNvPr id="8" name="snapshot-section-label">
            <a:extLst>
              <a:ext uri="{FF2B5EF4-FFF2-40B4-BE49-F238E27FC236}">
                <a16:creationId xmlns:a16="http://schemas.microsoft.com/office/drawing/2014/main" id="{58631A5E-F822-4A6A-91B6-827725D7AABA}"/>
              </a:ext>
            </a:extLst>
          </p:cNvPr>
          <p:cNvSpPr>
            <a:spLocks noGrp="1"/>
          </p:cNvSpPr>
          <p:nvPr/>
        </p:nvSpPr>
        <p:spPr>
          <a:xfrm>
            <a:off x="7429500" y="2076450"/>
            <a:ext cx="3429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VALIDATION ORDER</a:t>
            </a:r>
          </a:p>
        </p:txBody>
      </p:sp>
      <p:sp>
        <p:nvSpPr>
          <p:cNvPr id="9" name="snapshot-num-1">
            <a:extLst>
              <a:ext uri="{FF2B5EF4-FFF2-40B4-BE49-F238E27FC236}">
                <a16:creationId xmlns:a16="http://schemas.microsoft.com/office/drawing/2014/main" id="{623C89DF-2DC9-4B14-B808-803BD684072D}"/>
              </a:ext>
            </a:extLst>
          </p:cNvPr>
          <p:cNvSpPr>
            <a:spLocks noGrp="1"/>
          </p:cNvSpPr>
          <p:nvPr/>
        </p:nvSpPr>
        <p:spPr>
          <a:xfrm>
            <a:off x="7429500" y="2714625"/>
            <a:ext cx="4381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snapshot-section-1">
            <a:extLst>
              <a:ext uri="{FF2B5EF4-FFF2-40B4-BE49-F238E27FC236}">
                <a16:creationId xmlns:a16="http://schemas.microsoft.com/office/drawing/2014/main" id="{FB4510FE-13E3-4B8A-BFFF-52EF13024672}"/>
              </a:ext>
            </a:extLst>
          </p:cNvPr>
          <p:cNvSpPr>
            <a:spLocks noGrp="1"/>
          </p:cNvSpPr>
          <p:nvPr/>
        </p:nvSpPr>
        <p:spPr>
          <a:xfrm>
            <a:off x="8020050" y="2714625"/>
            <a:ext cx="3143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Check argument count</a:t>
            </a:r>
          </a:p>
        </p:txBody>
      </p:sp>
      <p:sp>
        <p:nvSpPr>
          <p:cNvPr id="11" name="snapshot-rule-1">
            <a:extLst>
              <a:ext uri="{FF2B5EF4-FFF2-40B4-BE49-F238E27FC236}">
                <a16:creationId xmlns:a16="http://schemas.microsoft.com/office/drawing/2014/main" id="{E06436F2-7088-4F2B-AB72-551AFF69BE04}"/>
              </a:ext>
            </a:extLst>
          </p:cNvPr>
          <p:cNvSpPr>
            <a:spLocks noGrp="1"/>
          </p:cNvSpPr>
          <p:nvPr/>
        </p:nvSpPr>
        <p:spPr>
          <a:xfrm>
            <a:off x="8020050" y="3067050"/>
            <a:ext cx="31432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napshot-num-2">
            <a:extLst>
              <a:ext uri="{FF2B5EF4-FFF2-40B4-BE49-F238E27FC236}">
                <a16:creationId xmlns:a16="http://schemas.microsoft.com/office/drawing/2014/main" id="{36F68005-31B4-49E9-B07F-E5B3C9803A07}"/>
              </a:ext>
            </a:extLst>
          </p:cNvPr>
          <p:cNvSpPr>
            <a:spLocks noGrp="1"/>
          </p:cNvSpPr>
          <p:nvPr/>
        </p:nvSpPr>
        <p:spPr>
          <a:xfrm>
            <a:off x="7429500" y="3286125"/>
            <a:ext cx="4381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snapshot-section-2">
            <a:extLst>
              <a:ext uri="{FF2B5EF4-FFF2-40B4-BE49-F238E27FC236}">
                <a16:creationId xmlns:a16="http://schemas.microsoft.com/office/drawing/2014/main" id="{F33591DA-BB59-4389-933E-6BDBAEE165BE}"/>
              </a:ext>
            </a:extLst>
          </p:cNvPr>
          <p:cNvSpPr>
            <a:spLocks noGrp="1"/>
          </p:cNvSpPr>
          <p:nvPr/>
        </p:nvSpPr>
        <p:spPr>
          <a:xfrm>
            <a:off x="8020050" y="3286125"/>
            <a:ext cx="3143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Display usage</a:t>
            </a:r>
          </a:p>
        </p:txBody>
      </p:sp>
      <p:sp>
        <p:nvSpPr>
          <p:cNvPr id="14" name="snapshot-rule-2">
            <a:extLst>
              <a:ext uri="{FF2B5EF4-FFF2-40B4-BE49-F238E27FC236}">
                <a16:creationId xmlns:a16="http://schemas.microsoft.com/office/drawing/2014/main" id="{E750E528-55F5-4DE1-A65E-D8DC65D72D74}"/>
              </a:ext>
            </a:extLst>
          </p:cNvPr>
          <p:cNvSpPr>
            <a:spLocks noGrp="1"/>
          </p:cNvSpPr>
          <p:nvPr/>
        </p:nvSpPr>
        <p:spPr>
          <a:xfrm>
            <a:off x="8020050" y="3638550"/>
            <a:ext cx="31432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napshot-num-3">
            <a:extLst>
              <a:ext uri="{FF2B5EF4-FFF2-40B4-BE49-F238E27FC236}">
                <a16:creationId xmlns:a16="http://schemas.microsoft.com/office/drawing/2014/main" id="{E4752FE8-9F24-4D4E-BDC5-DAB740F42AA5}"/>
              </a:ext>
            </a:extLst>
          </p:cNvPr>
          <p:cNvSpPr>
            <a:spLocks noGrp="1"/>
          </p:cNvSpPr>
          <p:nvPr/>
        </p:nvSpPr>
        <p:spPr>
          <a:xfrm>
            <a:off x="7429500" y="3857625"/>
            <a:ext cx="4381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snapshot-section-3">
            <a:extLst>
              <a:ext uri="{FF2B5EF4-FFF2-40B4-BE49-F238E27FC236}">
                <a16:creationId xmlns:a16="http://schemas.microsoft.com/office/drawing/2014/main" id="{E75403E3-7161-49C5-997A-5FEECEF2F431}"/>
              </a:ext>
            </a:extLst>
          </p:cNvPr>
          <p:cNvSpPr>
            <a:spLocks noGrp="1"/>
          </p:cNvSpPr>
          <p:nvPr/>
        </p:nvSpPr>
        <p:spPr>
          <a:xfrm>
            <a:off x="8020050" y="3857625"/>
            <a:ext cx="3143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Store quoted $1</a:t>
            </a:r>
          </a:p>
        </p:txBody>
      </p:sp>
      <p:sp>
        <p:nvSpPr>
          <p:cNvPr id="17" name="snapshot-rule-3">
            <a:extLst>
              <a:ext uri="{FF2B5EF4-FFF2-40B4-BE49-F238E27FC236}">
                <a16:creationId xmlns:a16="http://schemas.microsoft.com/office/drawing/2014/main" id="{6B35351E-5E0F-43E3-894A-97A92C19A19F}"/>
              </a:ext>
            </a:extLst>
          </p:cNvPr>
          <p:cNvSpPr>
            <a:spLocks noGrp="1"/>
          </p:cNvSpPr>
          <p:nvPr/>
        </p:nvSpPr>
        <p:spPr>
          <a:xfrm>
            <a:off x="8020050" y="4210050"/>
            <a:ext cx="31432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napshot-num-4">
            <a:extLst>
              <a:ext uri="{FF2B5EF4-FFF2-40B4-BE49-F238E27FC236}">
                <a16:creationId xmlns:a16="http://schemas.microsoft.com/office/drawing/2014/main" id="{0DFD7C95-1224-4A0F-86EE-0B91A8C94595}"/>
              </a:ext>
            </a:extLst>
          </p:cNvPr>
          <p:cNvSpPr>
            <a:spLocks noGrp="1"/>
          </p:cNvSpPr>
          <p:nvPr/>
        </p:nvSpPr>
        <p:spPr>
          <a:xfrm>
            <a:off x="7429500" y="4429125"/>
            <a:ext cx="4381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9" name="snapshot-section-4">
            <a:extLst>
              <a:ext uri="{FF2B5EF4-FFF2-40B4-BE49-F238E27FC236}">
                <a16:creationId xmlns:a16="http://schemas.microsoft.com/office/drawing/2014/main" id="{0E0A47C9-306A-4B03-B3AA-9FB67CE407A4}"/>
              </a:ext>
            </a:extLst>
          </p:cNvPr>
          <p:cNvSpPr>
            <a:spLocks noGrp="1"/>
          </p:cNvSpPr>
          <p:nvPr/>
        </p:nvSpPr>
        <p:spPr>
          <a:xfrm>
            <a:off x="8020050" y="4429125"/>
            <a:ext cx="3143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Check the path</a:t>
            </a:r>
          </a:p>
        </p:txBody>
      </p:sp>
      <p:sp>
        <p:nvSpPr>
          <p:cNvPr id="20" name="snapshot-rule-4">
            <a:extLst>
              <a:ext uri="{FF2B5EF4-FFF2-40B4-BE49-F238E27FC236}">
                <a16:creationId xmlns:a16="http://schemas.microsoft.com/office/drawing/2014/main" id="{D54599B5-55B7-4E04-A088-3D50446AE8F4}"/>
              </a:ext>
            </a:extLst>
          </p:cNvPr>
          <p:cNvSpPr>
            <a:spLocks noGrp="1"/>
          </p:cNvSpPr>
          <p:nvPr/>
        </p:nvSpPr>
        <p:spPr>
          <a:xfrm>
            <a:off x="8020050" y="4781550"/>
            <a:ext cx="31432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napshot-num-5">
            <a:extLst>
              <a:ext uri="{FF2B5EF4-FFF2-40B4-BE49-F238E27FC236}">
                <a16:creationId xmlns:a16="http://schemas.microsoft.com/office/drawing/2014/main" id="{84DD665B-76AB-46F1-B24C-6937BB58CB5E}"/>
              </a:ext>
            </a:extLst>
          </p:cNvPr>
          <p:cNvSpPr>
            <a:spLocks noGrp="1"/>
          </p:cNvSpPr>
          <p:nvPr/>
        </p:nvSpPr>
        <p:spPr>
          <a:xfrm>
            <a:off x="7429500" y="5000625"/>
            <a:ext cx="4381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22" name="snapshot-section-5">
            <a:extLst>
              <a:ext uri="{FF2B5EF4-FFF2-40B4-BE49-F238E27FC236}">
                <a16:creationId xmlns:a16="http://schemas.microsoft.com/office/drawing/2014/main" id="{8F267F2E-8D24-4D70-A92D-96BA0D5FBAA2}"/>
              </a:ext>
            </a:extLst>
          </p:cNvPr>
          <p:cNvSpPr>
            <a:spLocks noGrp="1"/>
          </p:cNvSpPr>
          <p:nvPr/>
        </p:nvSpPr>
        <p:spPr>
          <a:xfrm>
            <a:off x="8020050" y="5000625"/>
            <a:ext cx="3143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Report and exit</a:t>
            </a:r>
          </a:p>
        </p:txBody>
      </p:sp>
      <p:sp>
        <p:nvSpPr>
          <p:cNvPr id="23" name="snapshot-rule-5">
            <a:extLst>
              <a:ext uri="{FF2B5EF4-FFF2-40B4-BE49-F238E27FC236}">
                <a16:creationId xmlns:a16="http://schemas.microsoft.com/office/drawing/2014/main" id="{B7BE9EFA-0262-4DC6-A1D4-0E082F54DD1A}"/>
              </a:ext>
            </a:extLst>
          </p:cNvPr>
          <p:cNvSpPr>
            <a:spLocks noGrp="1"/>
          </p:cNvSpPr>
          <p:nvPr/>
        </p:nvSpPr>
        <p:spPr>
          <a:xfrm>
            <a:off x="8020050" y="5353050"/>
            <a:ext cx="31432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napshot-safety">
            <a:extLst>
              <a:ext uri="{FF2B5EF4-FFF2-40B4-BE49-F238E27FC236}">
                <a16:creationId xmlns:a16="http://schemas.microsoft.com/office/drawing/2014/main" id="{D106E49B-47E2-4C28-B0D1-6639D2B5499A}"/>
              </a:ext>
            </a:extLst>
          </p:cNvPr>
          <p:cNvSpPr>
            <a:spLocks noGrp="1"/>
          </p:cNvSpPr>
          <p:nvPr/>
        </p:nvSpPr>
        <p:spPr>
          <a:xfrm>
            <a:off x="7429500" y="5429250"/>
            <a:ext cx="3857625" cy="361950"/>
          </a:xfrm>
          <a:prstGeom prst="rect">
            <a:avLst/>
          </a:prstGeom>
        </p:spPr>
        <p:txBody>
          <a:bodyPr wrap="square" lIns="0" tIns="0" rIns="0" bIns="0" anchor="t">
            <a:normAutofit fontScale="83333"/>
          </a:bodyPr>
          <a:lstStyle/>
          <a:p>
            <a:pPr algn="l">
              <a:buNone/>
              <a:defRPr sz="1425" b="1">
                <a:solidFill>
                  <a:srgbClr val="1F8A63"/>
                </a:solidFill>
                <a:latin typeface="Arial"/>
                <a:ea typeface="Arial"/>
                <a:cs typeface="Arial"/>
              </a:defRPr>
            </a:pPr>
            <a:r>
              <a:t>Critical test: a path containing spaces must remain one value.</a:t>
            </a:r>
          </a:p>
        </p:txBody>
      </p:sp>
    </p:spTree>
    <p:extLst>
      <p:ext uri="{BB962C8B-B14F-4D97-AF65-F5344CB8AC3E}">
        <p14:creationId xmlns:p14="http://schemas.microsoft.com/office/powerpoint/2010/main" val="510100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yebrow-11">
            <a:extLst>
              <a:ext uri="{FF2B5EF4-FFF2-40B4-BE49-F238E27FC236}">
                <a16:creationId xmlns:a16="http://schemas.microsoft.com/office/drawing/2014/main" id="{E308FB94-B97B-4CD0-A400-A842CB4465E4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000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WEEK 2 | STUDENT PRACTICE</a:t>
            </a:r>
          </a:p>
        </p:txBody>
      </p:sp>
      <p:sp>
        <p:nvSpPr>
          <p:cNvPr id="2" name="title-11">
            <a:extLst>
              <a:ext uri="{FF2B5EF4-FFF2-40B4-BE49-F238E27FC236}">
                <a16:creationId xmlns:a16="http://schemas.microsoft.com/office/drawing/2014/main" id="{E54CFA0A-55B2-4730-B064-6F06DF21C463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0668000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Two labs turn data handling into evidence</a:t>
            </a:r>
          </a:p>
        </p:txBody>
      </p:sp>
      <p:sp>
        <p:nvSpPr>
          <p:cNvPr id="3" name="header-rule-11">
            <a:extLst>
              <a:ext uri="{FF2B5EF4-FFF2-40B4-BE49-F238E27FC236}">
                <a16:creationId xmlns:a16="http://schemas.microsoft.com/office/drawing/2014/main" id="{DC39F79E-D1DF-4129-8421-E02A7901CAAA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2776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11">
            <a:extLst>
              <a:ext uri="{FF2B5EF4-FFF2-40B4-BE49-F238E27FC236}">
                <a16:creationId xmlns:a16="http://schemas.microsoft.com/office/drawing/2014/main" id="{EAF54168-8F26-4EEF-B00B-B4ABDDF5887B}"/>
              </a:ext>
            </a:extLst>
          </p:cNvPr>
          <p:cNvSpPr>
            <a:spLocks noGrp="1"/>
          </p:cNvSpPr>
          <p:nvPr/>
        </p:nvSpPr>
        <p:spPr>
          <a:xfrm>
            <a:off x="11239500" y="6238875"/>
            <a:ext cx="4953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5" name="footer-11">
            <a:extLst>
              <a:ext uri="{FF2B5EF4-FFF2-40B4-BE49-F238E27FC236}">
                <a16:creationId xmlns:a16="http://schemas.microsoft.com/office/drawing/2014/main" id="{62BE47A5-51B2-40B6-86C2-E2F093D524C1}"/>
              </a:ext>
            </a:extLst>
          </p:cNvPr>
          <p:cNvSpPr>
            <a:spLocks noGrp="1"/>
          </p:cNvSpPr>
          <p:nvPr/>
        </p:nvSpPr>
        <p:spPr>
          <a:xfrm>
            <a:off x="457200" y="6238875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lab1-panel">
            <a:extLst>
              <a:ext uri="{FF2B5EF4-FFF2-40B4-BE49-F238E27FC236}">
                <a16:creationId xmlns:a16="http://schemas.microsoft.com/office/drawing/2014/main" id="{8AB1B801-3AF3-4277-A13A-4C8043B757F3}"/>
              </a:ext>
            </a:extLst>
          </p:cNvPr>
          <p:cNvSpPr>
            <a:spLocks noGrp="1"/>
          </p:cNvSpPr>
          <p:nvPr/>
        </p:nvSpPr>
        <p:spPr>
          <a:xfrm>
            <a:off x="457200" y="2000250"/>
            <a:ext cx="5334000" cy="3286125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lab2-panel">
            <a:extLst>
              <a:ext uri="{FF2B5EF4-FFF2-40B4-BE49-F238E27FC236}">
                <a16:creationId xmlns:a16="http://schemas.microsoft.com/office/drawing/2014/main" id="{D1FE4433-1890-4F19-BE6D-031919F7E845}"/>
              </a:ext>
            </a:extLst>
          </p:cNvPr>
          <p:cNvSpPr>
            <a:spLocks noGrp="1"/>
          </p:cNvSpPr>
          <p:nvPr/>
        </p:nvSpPr>
        <p:spPr>
          <a:xfrm>
            <a:off x="6400800" y="2000250"/>
            <a:ext cx="5334000" cy="3286125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lab1-label">
            <a:extLst>
              <a:ext uri="{FF2B5EF4-FFF2-40B4-BE49-F238E27FC236}">
                <a16:creationId xmlns:a16="http://schemas.microsoft.com/office/drawing/2014/main" id="{2175BBE7-8AF3-4A10-84CC-6A43E6AB6493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11430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LAB 1</a:t>
            </a:r>
          </a:p>
        </p:txBody>
      </p:sp>
      <p:sp>
        <p:nvSpPr>
          <p:cNvPr id="9" name="lab1-title">
            <a:extLst>
              <a:ext uri="{FF2B5EF4-FFF2-40B4-BE49-F238E27FC236}">
                <a16:creationId xmlns:a16="http://schemas.microsoft.com/office/drawing/2014/main" id="{7DC4A901-7AD9-4691-801C-3B3DB6E05635}"/>
              </a:ext>
            </a:extLst>
          </p:cNvPr>
          <p:cNvSpPr>
            <a:spLocks noGrp="1"/>
          </p:cNvSpPr>
          <p:nvPr/>
        </p:nvSpPr>
        <p:spPr>
          <a:xfrm>
            <a:off x="762000" y="2762250"/>
            <a:ext cx="4286250" cy="419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Server Greeting</a:t>
            </a:r>
          </a:p>
        </p:txBody>
      </p:sp>
      <p:sp>
        <p:nvSpPr>
          <p:cNvPr id="10" name="lab1-list">
            <a:extLst>
              <a:ext uri="{FF2B5EF4-FFF2-40B4-BE49-F238E27FC236}">
                <a16:creationId xmlns:a16="http://schemas.microsoft.com/office/drawing/2014/main" id="{118C2AF8-169F-4E1D-B2D9-94D4F68B2F63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4191000" cy="1428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Prompt with read -r</a:t>
            </a:r>
          </a:p>
          <a:p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Reject empty input</a:t>
            </a:r>
          </a:p>
          <a:p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Use command substitution</a:t>
            </a:r>
          </a:p>
          <a:p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Preserve a full name</a:t>
            </a:r>
          </a:p>
          <a:p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Explain each expansion</a:t>
            </a:r>
          </a:p>
        </p:txBody>
      </p:sp>
      <p:sp>
        <p:nvSpPr>
          <p:cNvPr id="11" name="lab2-label">
            <a:extLst>
              <a:ext uri="{FF2B5EF4-FFF2-40B4-BE49-F238E27FC236}">
                <a16:creationId xmlns:a16="http://schemas.microsoft.com/office/drawing/2014/main" id="{A94DB6B2-64C2-46CD-A6F7-3EF293B5B300}"/>
              </a:ext>
            </a:extLst>
          </p:cNvPr>
          <p:cNvSpPr>
            <a:spLocks noGrp="1"/>
          </p:cNvSpPr>
          <p:nvPr/>
        </p:nvSpPr>
        <p:spPr>
          <a:xfrm>
            <a:off x="6705600" y="2266950"/>
            <a:ext cx="11430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LAB 2</a:t>
            </a:r>
          </a:p>
        </p:txBody>
      </p:sp>
      <p:sp>
        <p:nvSpPr>
          <p:cNvPr id="12" name="lab2-title">
            <a:extLst>
              <a:ext uri="{FF2B5EF4-FFF2-40B4-BE49-F238E27FC236}">
                <a16:creationId xmlns:a16="http://schemas.microsoft.com/office/drawing/2014/main" id="{82DF3DB1-938C-4965-A87C-68F85D047A79}"/>
              </a:ext>
            </a:extLst>
          </p:cNvPr>
          <p:cNvSpPr>
            <a:spLocks noGrp="1"/>
          </p:cNvSpPr>
          <p:nvPr/>
        </p:nvSpPr>
        <p:spPr>
          <a:xfrm>
            <a:off x="6705600" y="2762250"/>
            <a:ext cx="4381500" cy="419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Safe File Inspector</a:t>
            </a:r>
          </a:p>
        </p:txBody>
      </p:sp>
      <p:sp>
        <p:nvSpPr>
          <p:cNvPr id="13" name="lab2-list">
            <a:extLst>
              <a:ext uri="{FF2B5EF4-FFF2-40B4-BE49-F238E27FC236}">
                <a16:creationId xmlns:a16="http://schemas.microsoft.com/office/drawing/2014/main" id="{403E66A3-D2E3-4ADA-99D7-2D6E7E987F5B}"/>
              </a:ext>
            </a:extLst>
          </p:cNvPr>
          <p:cNvSpPr>
            <a:spLocks noGrp="1"/>
          </p:cNvSpPr>
          <p:nvPr/>
        </p:nvSpPr>
        <p:spPr>
          <a:xfrm>
            <a:off x="6705600" y="3524250"/>
            <a:ext cx="4191000" cy="1428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Require one path argument</a:t>
            </a:r>
          </a:p>
          <a:p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Display usage on error</a:t>
            </a:r>
          </a:p>
          <a:p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Quote $1 every time</a:t>
            </a:r>
          </a:p>
          <a:p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Test a path with spaces</a:t>
            </a:r>
          </a:p>
          <a:p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Use meaningful exit codes</a:t>
            </a:r>
          </a:p>
        </p:txBody>
      </p:sp>
      <p:sp>
        <p:nvSpPr>
          <p:cNvPr id="14" name="lab-proof-bg">
            <a:extLst>
              <a:ext uri="{FF2B5EF4-FFF2-40B4-BE49-F238E27FC236}">
                <a16:creationId xmlns:a16="http://schemas.microsoft.com/office/drawing/2014/main" id="{0DF733BA-2AF6-44BA-ACD5-FB0E2298B9FA}"/>
              </a:ext>
            </a:extLst>
          </p:cNvPr>
          <p:cNvSpPr>
            <a:spLocks noGrp="1"/>
          </p:cNvSpPr>
          <p:nvPr/>
        </p:nvSpPr>
        <p:spPr>
          <a:xfrm>
            <a:off x="1809750" y="5524500"/>
            <a:ext cx="8572500" cy="45720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lab-proof">
            <a:extLst>
              <a:ext uri="{FF2B5EF4-FFF2-40B4-BE49-F238E27FC236}">
                <a16:creationId xmlns:a16="http://schemas.microsoft.com/office/drawing/2014/main" id="{D887C452-8823-4D0F-B3E6-ABCEE6FB14B4}"/>
              </a:ext>
            </a:extLst>
          </p:cNvPr>
          <p:cNvSpPr>
            <a:spLocks noGrp="1"/>
          </p:cNvSpPr>
          <p:nvPr/>
        </p:nvSpPr>
        <p:spPr>
          <a:xfrm>
            <a:off x="2000250" y="5638800"/>
            <a:ext cx="8191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Required proof: normal input + spaces + empty input + missing path + exit status</a:t>
            </a:r>
          </a:p>
        </p:txBody>
      </p:sp>
    </p:spTree>
    <p:extLst>
      <p:ext uri="{BB962C8B-B14F-4D97-AF65-F5344CB8AC3E}">
        <p14:creationId xmlns:p14="http://schemas.microsoft.com/office/powerpoint/2010/main" val="1081542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-12">
            <a:extLst>
              <a:ext uri="{FF2B5EF4-FFF2-40B4-BE49-F238E27FC236}">
                <a16:creationId xmlns:a16="http://schemas.microsoft.com/office/drawing/2014/main" id="{227ED9C2-4DDB-43F0-9A0A-F12DD078E0D6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000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WEEK 2 | CHECKPOINT</a:t>
            </a:r>
          </a:p>
        </p:txBody>
      </p:sp>
      <p:sp>
        <p:nvSpPr>
          <p:cNvPr id="2" name="title-12">
            <a:extLst>
              <a:ext uri="{FF2B5EF4-FFF2-40B4-BE49-F238E27FC236}">
                <a16:creationId xmlns:a16="http://schemas.microsoft.com/office/drawing/2014/main" id="{7279A2D4-F17B-4CE3-95F9-38F3E75DBC0F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0668000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Milestone M2: accept, validate, and preserve input</a:t>
            </a:r>
          </a:p>
        </p:txBody>
      </p:sp>
      <p:sp>
        <p:nvSpPr>
          <p:cNvPr id="3" name="header-rule-12">
            <a:extLst>
              <a:ext uri="{FF2B5EF4-FFF2-40B4-BE49-F238E27FC236}">
                <a16:creationId xmlns:a16="http://schemas.microsoft.com/office/drawing/2014/main" id="{F4DBF4A3-1F0B-44D2-8C17-2E69E999FEEB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2776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12">
            <a:extLst>
              <a:ext uri="{FF2B5EF4-FFF2-40B4-BE49-F238E27FC236}">
                <a16:creationId xmlns:a16="http://schemas.microsoft.com/office/drawing/2014/main" id="{8AAFF38F-9167-4CA3-A2C1-B077EC56A430}"/>
              </a:ext>
            </a:extLst>
          </p:cNvPr>
          <p:cNvSpPr>
            <a:spLocks noGrp="1"/>
          </p:cNvSpPr>
          <p:nvPr/>
        </p:nvSpPr>
        <p:spPr>
          <a:xfrm>
            <a:off x="11239500" y="6238875"/>
            <a:ext cx="4953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5" name="footer-12">
            <a:extLst>
              <a:ext uri="{FF2B5EF4-FFF2-40B4-BE49-F238E27FC236}">
                <a16:creationId xmlns:a16="http://schemas.microsoft.com/office/drawing/2014/main" id="{58E273CA-1FCD-40CF-8FBB-0946589A41FE}"/>
              </a:ext>
            </a:extLst>
          </p:cNvPr>
          <p:cNvSpPr>
            <a:spLocks noGrp="1"/>
          </p:cNvSpPr>
          <p:nvPr/>
        </p:nvSpPr>
        <p:spPr>
          <a:xfrm>
            <a:off x="457200" y="6238875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milestone-title">
            <a:extLst>
              <a:ext uri="{FF2B5EF4-FFF2-40B4-BE49-F238E27FC236}">
                <a16:creationId xmlns:a16="http://schemas.microsoft.com/office/drawing/2014/main" id="{1B16BE1C-17F9-4329-BC54-DFB1160E6D91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4095750" cy="16668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4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INPUT</a:t>
            </a:r>
          </a:p>
          <a:p>
            <a:pPr algn="l">
              <a:buNone/>
              <a:defRPr sz="4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HANDLER</a:t>
            </a:r>
          </a:p>
        </p:txBody>
      </p:sp>
      <p:sp>
        <p:nvSpPr>
          <p:cNvPr id="7" name="milestone-body">
            <a:extLst>
              <a:ext uri="{FF2B5EF4-FFF2-40B4-BE49-F238E27FC236}">
                <a16:creationId xmlns:a16="http://schemas.microsoft.com/office/drawing/2014/main" id="{5BC7E257-8291-4E48-8159-791CE43D56EF}"/>
              </a:ext>
            </a:extLst>
          </p:cNvPr>
          <p:cNvSpPr>
            <a:spLocks noGrp="1"/>
          </p:cNvSpPr>
          <p:nvPr/>
        </p:nvSpPr>
        <p:spPr>
          <a:xfrm>
            <a:off x="457200" y="4000500"/>
            <a:ext cx="4476750" cy="1143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You are ready when your script accepts data, rejects bad input, preserves spaces, and explains each expansion.</a:t>
            </a:r>
          </a:p>
        </p:txBody>
      </p:sp>
      <p:sp>
        <p:nvSpPr>
          <p:cNvPr id="8" name="checkpoint-01">
            <a:extLst>
              <a:ext uri="{FF2B5EF4-FFF2-40B4-BE49-F238E27FC236}">
                <a16:creationId xmlns:a16="http://schemas.microsoft.com/office/drawing/2014/main" id="{0C8A73AD-FB50-45A7-9322-C9A00141D72F}"/>
              </a:ext>
            </a:extLst>
          </p:cNvPr>
          <p:cNvSpPr>
            <a:spLocks noGrp="1"/>
          </p:cNvSpPr>
          <p:nvPr/>
        </p:nvSpPr>
        <p:spPr>
          <a:xfrm>
            <a:off x="5715000" y="2000250"/>
            <a:ext cx="5715000" cy="8572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heckpoint-num-01">
            <a:extLst>
              <a:ext uri="{FF2B5EF4-FFF2-40B4-BE49-F238E27FC236}">
                <a16:creationId xmlns:a16="http://schemas.microsoft.com/office/drawing/2014/main" id="{B0D19891-E9CF-460F-BFF1-753739E98A92}"/>
              </a:ext>
            </a:extLst>
          </p:cNvPr>
          <p:cNvSpPr>
            <a:spLocks noGrp="1"/>
          </p:cNvSpPr>
          <p:nvPr/>
        </p:nvSpPr>
        <p:spPr>
          <a:xfrm>
            <a:off x="5924550" y="2228850"/>
            <a:ext cx="4572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checkpoint-title-01">
            <a:extLst>
              <a:ext uri="{FF2B5EF4-FFF2-40B4-BE49-F238E27FC236}">
                <a16:creationId xmlns:a16="http://schemas.microsoft.com/office/drawing/2014/main" id="{DFCEFA17-7B0D-4FD2-A166-2221E93EE942}"/>
              </a:ext>
            </a:extLst>
          </p:cNvPr>
          <p:cNvSpPr>
            <a:spLocks noGrp="1"/>
          </p:cNvSpPr>
          <p:nvPr/>
        </p:nvSpPr>
        <p:spPr>
          <a:xfrm>
            <a:off x="6591300" y="2162175"/>
            <a:ext cx="1714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STORE</a:t>
            </a:r>
          </a:p>
        </p:txBody>
      </p:sp>
      <p:sp>
        <p:nvSpPr>
          <p:cNvPr id="11" name="checkpoint-body-01">
            <a:extLst>
              <a:ext uri="{FF2B5EF4-FFF2-40B4-BE49-F238E27FC236}">
                <a16:creationId xmlns:a16="http://schemas.microsoft.com/office/drawing/2014/main" id="{3421AA71-2B40-43E1-A1EB-C438F6D1E388}"/>
              </a:ext>
            </a:extLst>
          </p:cNvPr>
          <p:cNvSpPr>
            <a:spLocks noGrp="1"/>
          </p:cNvSpPr>
          <p:nvPr/>
        </p:nvSpPr>
        <p:spPr>
          <a:xfrm>
            <a:off x="6591300" y="2476500"/>
            <a:ext cx="41910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Correct assignment + command substitution</a:t>
            </a:r>
          </a:p>
        </p:txBody>
      </p:sp>
      <p:sp>
        <p:nvSpPr>
          <p:cNvPr id="12" name="checkpoint-02">
            <a:extLst>
              <a:ext uri="{FF2B5EF4-FFF2-40B4-BE49-F238E27FC236}">
                <a16:creationId xmlns:a16="http://schemas.microsoft.com/office/drawing/2014/main" id="{CAC41DB2-341C-41D8-B8DE-62CDE116D259}"/>
              </a:ext>
            </a:extLst>
          </p:cNvPr>
          <p:cNvSpPr>
            <a:spLocks noGrp="1"/>
          </p:cNvSpPr>
          <p:nvPr/>
        </p:nvSpPr>
        <p:spPr>
          <a:xfrm>
            <a:off x="5715000" y="3095625"/>
            <a:ext cx="5715000" cy="8572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checkpoint-num-02">
            <a:extLst>
              <a:ext uri="{FF2B5EF4-FFF2-40B4-BE49-F238E27FC236}">
                <a16:creationId xmlns:a16="http://schemas.microsoft.com/office/drawing/2014/main" id="{49C60BDA-395B-4F8D-AE74-0C0DEC07497A}"/>
              </a:ext>
            </a:extLst>
          </p:cNvPr>
          <p:cNvSpPr>
            <a:spLocks noGrp="1"/>
          </p:cNvSpPr>
          <p:nvPr/>
        </p:nvSpPr>
        <p:spPr>
          <a:xfrm>
            <a:off x="5924550" y="3324225"/>
            <a:ext cx="4572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4" name="checkpoint-title-02">
            <a:extLst>
              <a:ext uri="{FF2B5EF4-FFF2-40B4-BE49-F238E27FC236}">
                <a16:creationId xmlns:a16="http://schemas.microsoft.com/office/drawing/2014/main" id="{7AAC14B9-C1E1-4F37-9526-BD0345E76F37}"/>
              </a:ext>
            </a:extLst>
          </p:cNvPr>
          <p:cNvSpPr>
            <a:spLocks noGrp="1"/>
          </p:cNvSpPr>
          <p:nvPr/>
        </p:nvSpPr>
        <p:spPr>
          <a:xfrm>
            <a:off x="6591300" y="3257550"/>
            <a:ext cx="1714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PROTECT</a:t>
            </a:r>
          </a:p>
        </p:txBody>
      </p:sp>
      <p:sp>
        <p:nvSpPr>
          <p:cNvPr id="15" name="checkpoint-body-02">
            <a:extLst>
              <a:ext uri="{FF2B5EF4-FFF2-40B4-BE49-F238E27FC236}">
                <a16:creationId xmlns:a16="http://schemas.microsoft.com/office/drawing/2014/main" id="{0E031E6F-0737-4D36-B551-5D5EBE0895D0}"/>
              </a:ext>
            </a:extLst>
          </p:cNvPr>
          <p:cNvSpPr>
            <a:spLocks noGrp="1"/>
          </p:cNvSpPr>
          <p:nvPr/>
        </p:nvSpPr>
        <p:spPr>
          <a:xfrm>
            <a:off x="6591300" y="3571875"/>
            <a:ext cx="41910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Double quotes preserve boundaries</a:t>
            </a:r>
          </a:p>
        </p:txBody>
      </p:sp>
      <p:sp>
        <p:nvSpPr>
          <p:cNvPr id="16" name="checkpoint-03">
            <a:extLst>
              <a:ext uri="{FF2B5EF4-FFF2-40B4-BE49-F238E27FC236}">
                <a16:creationId xmlns:a16="http://schemas.microsoft.com/office/drawing/2014/main" id="{391C2D55-DB18-481B-B3E9-3427F7F70A2E}"/>
              </a:ext>
            </a:extLst>
          </p:cNvPr>
          <p:cNvSpPr>
            <a:spLocks noGrp="1"/>
          </p:cNvSpPr>
          <p:nvPr/>
        </p:nvSpPr>
        <p:spPr>
          <a:xfrm>
            <a:off x="5715000" y="4191000"/>
            <a:ext cx="5715000" cy="857250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checkpoint-num-03">
            <a:extLst>
              <a:ext uri="{FF2B5EF4-FFF2-40B4-BE49-F238E27FC236}">
                <a16:creationId xmlns:a16="http://schemas.microsoft.com/office/drawing/2014/main" id="{440FC51A-9B95-4E28-922D-70487DE61C35}"/>
              </a:ext>
            </a:extLst>
          </p:cNvPr>
          <p:cNvSpPr>
            <a:spLocks noGrp="1"/>
          </p:cNvSpPr>
          <p:nvPr/>
        </p:nvSpPr>
        <p:spPr>
          <a:xfrm>
            <a:off x="5924550" y="4419600"/>
            <a:ext cx="4572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8" name="checkpoint-title-03">
            <a:extLst>
              <a:ext uri="{FF2B5EF4-FFF2-40B4-BE49-F238E27FC236}">
                <a16:creationId xmlns:a16="http://schemas.microsoft.com/office/drawing/2014/main" id="{93B5C000-5C51-4A16-8DF2-BE78BA5E1DFF}"/>
              </a:ext>
            </a:extLst>
          </p:cNvPr>
          <p:cNvSpPr>
            <a:spLocks noGrp="1"/>
          </p:cNvSpPr>
          <p:nvPr/>
        </p:nvSpPr>
        <p:spPr>
          <a:xfrm>
            <a:off x="6591300" y="4352925"/>
            <a:ext cx="1714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VALIDATE</a:t>
            </a:r>
          </a:p>
        </p:txBody>
      </p:sp>
      <p:sp>
        <p:nvSpPr>
          <p:cNvPr id="19" name="checkpoint-body-03">
            <a:extLst>
              <a:ext uri="{FF2B5EF4-FFF2-40B4-BE49-F238E27FC236}">
                <a16:creationId xmlns:a16="http://schemas.microsoft.com/office/drawing/2014/main" id="{79936B4E-F624-46B3-BF8D-DA03333D8316}"/>
              </a:ext>
            </a:extLst>
          </p:cNvPr>
          <p:cNvSpPr>
            <a:spLocks noGrp="1"/>
          </p:cNvSpPr>
          <p:nvPr/>
        </p:nvSpPr>
        <p:spPr>
          <a:xfrm>
            <a:off x="6591300" y="4667250"/>
            <a:ext cx="41910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Usage + failure path + exit code</a:t>
            </a:r>
          </a:p>
        </p:txBody>
      </p:sp>
      <p:sp>
        <p:nvSpPr>
          <p:cNvPr id="20" name="checkpoint-rule">
            <a:extLst>
              <a:ext uri="{FF2B5EF4-FFF2-40B4-BE49-F238E27FC236}">
                <a16:creationId xmlns:a16="http://schemas.microsoft.com/office/drawing/2014/main" id="{A528CBD3-4067-4F72-92B8-030BB8155E39}"/>
              </a:ext>
            </a:extLst>
          </p:cNvPr>
          <p:cNvSpPr>
            <a:spLocks noGrp="1"/>
          </p:cNvSpPr>
          <p:nvPr/>
        </p:nvSpPr>
        <p:spPr>
          <a:xfrm>
            <a:off x="457200" y="5619750"/>
            <a:ext cx="109728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checkpoint-next">
            <a:extLst>
              <a:ext uri="{FF2B5EF4-FFF2-40B4-BE49-F238E27FC236}">
                <a16:creationId xmlns:a16="http://schemas.microsoft.com/office/drawing/2014/main" id="{9042D912-1889-431D-9AC0-F4CA5E8132F1}"/>
              </a:ext>
            </a:extLst>
          </p:cNvPr>
          <p:cNvSpPr>
            <a:spLocks noGrp="1"/>
          </p:cNvSpPr>
          <p:nvPr/>
        </p:nvSpPr>
        <p:spPr>
          <a:xfrm>
            <a:off x="457200" y="5857875"/>
            <a:ext cx="95250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NEXT: Week 3 adds tests, exit-status decisions, if/elif/else, and case.</a:t>
            </a:r>
          </a:p>
        </p:txBody>
      </p:sp>
    </p:spTree>
    <p:extLst>
      <p:ext uri="{BB962C8B-B14F-4D97-AF65-F5344CB8AC3E}">
        <p14:creationId xmlns:p14="http://schemas.microsoft.com/office/powerpoint/2010/main" val="7299673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1208</Words>
  <Application>Microsoft Office PowerPoint</Application>
  <DocSecurity>0</DocSecurity>
  <PresentationFormat>Widescreen</PresentationFormat>
  <Paragraphs>241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muhammad khan</cp:lastModifiedBy>
  <cp:revision>1</cp:revision>
  <dcterms:created xsi:type="dcterms:W3CDTF">2026-07-14T00:01:44Z</dcterms:created>
  <dcterms:modified xsi:type="dcterms:W3CDTF">2026-07-19T04:04:03Z</dcterms:modified>
</cp:coreProperties>
</file>