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aa2101e7b84713" /><Relationship Type="http://schemas.openxmlformats.org/officeDocument/2006/relationships/extended-properties" Target="/docProps/app.xml" Id="Rdeaeb4f1176c47d4" /><Relationship Type="http://schemas.openxmlformats.org/officeDocument/2006/relationships/officeDocument" Target="/ppt/presentation.xml" Id="R444c356d6b0c41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e6a95c6c9ee4509"/>
  </p:sldMasterIdLst>
  <p:notesMasterIdLst>
    <p:notesMasterId xmlns:r="http://schemas.openxmlformats.org/officeDocument/2006/relationships" r:id="R17b74d2114b94769"/>
  </p:notesMasterIdLst>
  <p:sldIdLst>
    <p:sldId xmlns:r="http://schemas.openxmlformats.org/officeDocument/2006/relationships" id="256" r:id="Rebebc3d117644ee8"/>
    <p:sldId xmlns:r="http://schemas.openxmlformats.org/officeDocument/2006/relationships" id="257" r:id="R10e65c9129cb4f91"/>
    <p:sldId xmlns:r="http://schemas.openxmlformats.org/officeDocument/2006/relationships" id="258" r:id="R8dd88cb0e1ba4c66"/>
    <p:sldId xmlns:r="http://schemas.openxmlformats.org/officeDocument/2006/relationships" id="259" r:id="R07134bd7f3ee4ba9"/>
    <p:sldId xmlns:r="http://schemas.openxmlformats.org/officeDocument/2006/relationships" id="260" r:id="Rbf9c711f5d44446d"/>
    <p:sldId xmlns:r="http://schemas.openxmlformats.org/officeDocument/2006/relationships" id="261" r:id="R8955d47f27174c3b"/>
    <p:sldId xmlns:r="http://schemas.openxmlformats.org/officeDocument/2006/relationships" id="262" r:id="R271c11237f544159"/>
    <p:sldId xmlns:r="http://schemas.openxmlformats.org/officeDocument/2006/relationships" id="263" r:id="R0607f16a794d41c3"/>
    <p:sldId xmlns:r="http://schemas.openxmlformats.org/officeDocument/2006/relationships" id="264" r:id="R989a354ba4d44370"/>
    <p:sldId xmlns:r="http://schemas.openxmlformats.org/officeDocument/2006/relationships" id="265" r:id="R3b954981ab164006"/>
    <p:sldId xmlns:r="http://schemas.openxmlformats.org/officeDocument/2006/relationships" id="266" r:id="R704bdd3615dc413a"/>
    <p:sldId xmlns:r="http://schemas.openxmlformats.org/officeDocument/2006/relationships" id="267" r:id="R559ba018c439491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83f005b0d864bb8" /><Relationship Type="http://schemas.openxmlformats.org/officeDocument/2006/relationships/slideMaster" Target="/ppt/slideMasters/slideMaster1.xml" Id="R9e6a95c6c9ee4509" /><Relationship Type="http://schemas.openxmlformats.org/officeDocument/2006/relationships/notesMaster" Target="/ppt/notesMasters/notesMaster1.xml" Id="R17b74d2114b94769" /><Relationship Type="http://schemas.openxmlformats.org/officeDocument/2006/relationships/presProps" Target="/ppt/presProps.xml" Id="Re42a5f9268d94c03" /><Relationship Type="http://schemas.openxmlformats.org/officeDocument/2006/relationships/tableStyles" Target="/ppt/tableStyles.xml" Id="R8dc661753d83437b" /><Relationship Type="http://schemas.openxmlformats.org/officeDocument/2006/relationships/slide" Target="/ppt/slides/slide1.xml" Id="Rebebc3d117644ee8" /><Relationship Type="http://schemas.openxmlformats.org/officeDocument/2006/relationships/slide" Target="/ppt/slides/slide2.xml" Id="R10e65c9129cb4f91" /><Relationship Type="http://schemas.openxmlformats.org/officeDocument/2006/relationships/slide" Target="/ppt/slides/slide3.xml" Id="R8dd88cb0e1ba4c66" /><Relationship Type="http://schemas.openxmlformats.org/officeDocument/2006/relationships/slide" Target="/ppt/slides/slide4.xml" Id="R07134bd7f3ee4ba9" /><Relationship Type="http://schemas.openxmlformats.org/officeDocument/2006/relationships/slide" Target="/ppt/slides/slide5.xml" Id="Rbf9c711f5d44446d" /><Relationship Type="http://schemas.openxmlformats.org/officeDocument/2006/relationships/slide" Target="/ppt/slides/slide6.xml" Id="R8955d47f27174c3b" /><Relationship Type="http://schemas.openxmlformats.org/officeDocument/2006/relationships/slide" Target="/ppt/slides/slide7.xml" Id="R271c11237f544159" /><Relationship Type="http://schemas.openxmlformats.org/officeDocument/2006/relationships/slide" Target="/ppt/slides/slide8.xml" Id="R0607f16a794d41c3" /><Relationship Type="http://schemas.openxmlformats.org/officeDocument/2006/relationships/slide" Target="/ppt/slides/slide9.xml" Id="R989a354ba4d44370" /><Relationship Type="http://schemas.openxmlformats.org/officeDocument/2006/relationships/slide" Target="/ppt/slides/slide10.xml" Id="R3b954981ab164006" /><Relationship Type="http://schemas.openxmlformats.org/officeDocument/2006/relationships/slide" Target="/ppt/slides/slide11.xml" Id="R704bdd3615dc413a" /><Relationship Type="http://schemas.openxmlformats.org/officeDocument/2006/relationships/slide" Target="/ppt/slides/slide12.xml" Id="R559ba018c439491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df6925c6174a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c447a066b24149" /><Relationship Type="http://schemas.openxmlformats.org/officeDocument/2006/relationships/notesMaster" Target="/ppt/notesMasters/notesMaster1.xml" Id="R775d4745cc474dd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d7448713c4641b9" /><Relationship Type="http://schemas.openxmlformats.org/officeDocument/2006/relationships/notesMaster" Target="/ppt/notesMasters/notesMaster1.xml" Id="Rdf087018776843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70a5324d5b84ddc" /><Relationship Type="http://schemas.openxmlformats.org/officeDocument/2006/relationships/notesMaster" Target="/ppt/notesMasters/notesMaster1.xml" Id="R2b8a2c4ff494469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55cff05880542a1" /><Relationship Type="http://schemas.openxmlformats.org/officeDocument/2006/relationships/notesMaster" Target="/ppt/notesMasters/notesMaster1.xml" Id="R930521f1929640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99f5796cf743f4" /><Relationship Type="http://schemas.openxmlformats.org/officeDocument/2006/relationships/notesMaster" Target="/ppt/notesMasters/notesMaster1.xml" Id="R5d63d0cffb6e47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99ba53e26b4691" /><Relationship Type="http://schemas.openxmlformats.org/officeDocument/2006/relationships/notesMaster" Target="/ppt/notesMasters/notesMaster1.xml" Id="R7b63ea00f6ed4c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f23c7045d164ab8" /><Relationship Type="http://schemas.openxmlformats.org/officeDocument/2006/relationships/notesMaster" Target="/ppt/notesMasters/notesMaster1.xml" Id="Ra61347a7d5c04a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f9ae3600d64369" /><Relationship Type="http://schemas.openxmlformats.org/officeDocument/2006/relationships/notesMaster" Target="/ppt/notesMasters/notesMaster1.xml" Id="Rcd4bca458a4e497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fb07dfc714e48a6" /><Relationship Type="http://schemas.openxmlformats.org/officeDocument/2006/relationships/notesMaster" Target="/ppt/notesMasters/notesMaster1.xml" Id="Rc95dfc99c14d4f3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692f60dd0744a8" /><Relationship Type="http://schemas.openxmlformats.org/officeDocument/2006/relationships/notesMaster" Target="/ppt/notesMasters/notesMaster1.xml" Id="Rca4885a3aa6e4f4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8149710e81f4630" /><Relationship Type="http://schemas.openxmlformats.org/officeDocument/2006/relationships/notesMaster" Target="/ppt/notesMasters/notesMaster1.xml" Id="R6c0fdef4691f45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a8f7fcd54a7490e" /><Relationship Type="http://schemas.openxmlformats.org/officeDocument/2006/relationships/notesMaster" Target="/ppt/notesMasters/notesMaster1.xml" Id="R48fb7b28146f4d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Connect Week 3 branching to repeated decisions. Introduce M4: Batch Processor.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which outcome prevents infinite loops and which protects filenames containing spaces.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source, process, and control as the recurring loop-tracing language.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 the lifecycle twice. Emphasize that update or external progress is required before the next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Demonstrate one, many, and whitespace-containing arguments. Show why quoted "$@" is the safe default.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Have students choose a loop before writing syntax. The input source and stopping condition determine the choice.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normal, spaced, and empty arguments. Reconcile total, processed, and skipped after every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Physically point to the statements bypassed by continue and those never reached after break.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positive while wording with until-success wording. Always add an attempt limit to retry demonstrations.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Run the batch twice: continue mode and stop-on-error mode. Compare attempted counts and stopped-early state.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Require command output and exit statuses as lab evidence. Source code alone does not prove branch coverage.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checklist as an oral defense. Preview functions as the next way to organize repeated logic.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dbf35f7a1443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d73a323c3ab4940" /><Relationship Type="http://schemas.openxmlformats.org/officeDocument/2006/relationships/slideLayout" Target="/ppt/slideLayouts/slideLayout1.xml" Id="R3ef845a06a854c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f845a06a854c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93529853843c8" /><Relationship Type="http://schemas.openxmlformats.org/officeDocument/2006/relationships/notesSlide" Target="/ppt/notesSlides/notesSlide1.xml" Id="R41b3cfa48cf14d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730b300b804d8b" /><Relationship Type="http://schemas.openxmlformats.org/officeDocument/2006/relationships/notesSlide" Target="/ppt/notesSlides/notesSlide2.xml" Id="R2327aa51f54042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addffd472f404c" /><Relationship Type="http://schemas.openxmlformats.org/officeDocument/2006/relationships/notesSlide" Target="/ppt/notesSlides/notesSlide3.xml" Id="Rf22ea1709e584f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ee89e8c2743ff" /><Relationship Type="http://schemas.openxmlformats.org/officeDocument/2006/relationships/notesSlide" Target="/ppt/notesSlides/notesSlide4.xml" Id="R0e7357bce26d44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2058ebbe84953" /><Relationship Type="http://schemas.openxmlformats.org/officeDocument/2006/relationships/notesSlide" Target="/ppt/notesSlides/notesSlide5.xml" Id="R40c4c82cdd6b44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07a2e51784cb4" /><Relationship Type="http://schemas.openxmlformats.org/officeDocument/2006/relationships/notesSlide" Target="/ppt/notesSlides/notesSlide6.xml" Id="R15b1ed1743f744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933b128314844" /><Relationship Type="http://schemas.openxmlformats.org/officeDocument/2006/relationships/notesSlide" Target="/ppt/notesSlides/notesSlide7.xml" Id="R341341656e7448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633429e5e4082" /><Relationship Type="http://schemas.openxmlformats.org/officeDocument/2006/relationships/notesSlide" Target="/ppt/notesSlides/notesSlide8.xml" Id="Rb56e0e01097040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0230f6c18e490f" /><Relationship Type="http://schemas.openxmlformats.org/officeDocument/2006/relationships/notesSlide" Target="/ppt/notesSlides/notesSlide9.xml" Id="R5b801bde1d614d8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b56055ca74569" /><Relationship Type="http://schemas.openxmlformats.org/officeDocument/2006/relationships/notesSlide" Target="/ppt/notesSlides/notesSlide10.xml" Id="R4a1b356cb2eb408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ed68f97b034474" /><Relationship Type="http://schemas.openxmlformats.org/officeDocument/2006/relationships/notesSlide" Target="/ppt/notesSlides/notesSlide11.xml" Id="Ra7b6e5acdda942f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cf67d4c1f446ed" /><Relationship Type="http://schemas.openxmlformats.org/officeDocument/2006/relationships/notesSlide" Target="/ppt/notesSlides/notesSlide12.xml" Id="R6f605bd37b7f4ae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F29C4EF9-3148-4EDC-A53D-CADEEAA2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39B2893C-FB00-423C-A557-A5262FAF0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3875"/>
            <a:ext cx="457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BASH SCRIPTING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8F11F62-AAF8-4B6A-9957-FBF04B74A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382000" cy="209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Week 4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Loops and Repetition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57B6EA8-D094-430E-A709-F4A3E76A9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905250"/>
            <a:ext cx="7810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Repeat safely, count outcomes, skip, and stop</a:t>
            </a:r>
          </a:p>
        </p:txBody>
      </p:sp>
      <p:sp>
        <p:nvSpPr>
          <p:cNvPr id="5" name="cover-rule">
            <a:extLst xmlns:a="http://schemas.openxmlformats.org/drawingml/2006/main">
              <a:ext uri="{FF2B5EF4-FFF2-40B4-BE49-F238E27FC236}">
                <a16:creationId xmlns:a16="http://schemas.microsoft.com/office/drawing/2014/main" id="{66B110D6-30AB-4625-958B-04D3A2A5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342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AD1948E2-DEEB-490A-B505-000C7ABE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29250"/>
            <a:ext cx="72390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Two 90-minute lessons  |  Milestone M4: Batch Processor</a:t>
            </a:r>
          </a:p>
        </p:txBody>
      </p:sp>
      <p:sp>
        <p:nvSpPr>
          <p:cNvPr id="7" name="cover-instructor">
            <a:extLst xmlns:a="http://schemas.openxmlformats.org/drawingml/2006/main">
              <a:ext uri="{FF2B5EF4-FFF2-40B4-BE49-F238E27FC236}">
                <a16:creationId xmlns:a16="http://schemas.microsoft.com/office/drawing/2014/main" id="{7529F661-7ED4-4516-8D8B-9AEE9205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15050"/>
            <a:ext cx="495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Instructor: Muhammad Khalid Khan</a:t>
            </a:r>
          </a:p>
        </p:txBody>
      </p:sp>
    </p:spTree>
    <p:extLst>
      <p:ext uri="{BB962C8B-B14F-4D97-AF65-F5344CB8AC3E}">
        <p14:creationId xmlns:p14="http://schemas.microsoft.com/office/powerpoint/2010/main" val="113166459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EB155FB7-DA7E-4412-8798-ABF492A81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BASH SCRIPTING | WEEK 4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263FC082-5C44-4E1B-816B-18939B4F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By the end of Week 4, you can control repeated work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A31ECC28-15D7-4F07-9D50-57C3ADF8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3C9A45C8-F802-42EC-AD55-1DE2207AF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D38D3D57-282B-47DD-A858-390677418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outcome-number-1">
            <a:extLst xmlns:a="http://schemas.openxmlformats.org/drawingml/2006/main">
              <a:ext uri="{FF2B5EF4-FFF2-40B4-BE49-F238E27FC236}">
                <a16:creationId xmlns:a16="http://schemas.microsoft.com/office/drawing/2014/main" id="{EDA781FF-6709-42AF-B154-FA986A62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47850"/>
            <a:ext cx="55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outcome-num-text-1">
            <a:extLst xmlns:a="http://schemas.openxmlformats.org/drawingml/2006/main">
              <a:ext uri="{FF2B5EF4-FFF2-40B4-BE49-F238E27FC236}">
                <a16:creationId xmlns:a16="http://schemas.microsoft.com/office/drawing/2014/main" id="{21136BE8-C515-4B6B-8868-0A2F44154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4310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8" name="outcome-text-1">
            <a:extLst xmlns:a="http://schemas.openxmlformats.org/drawingml/2006/main">
              <a:ext uri="{FF2B5EF4-FFF2-40B4-BE49-F238E27FC236}">
                <a16:creationId xmlns:a16="http://schemas.microsoft.com/office/drawing/2014/main" id="{C7FD2EB6-2E43-410F-832A-D6248DE12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895475"/>
            <a:ext cx="971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Explain initialize, test, process, update, and stop</a:t>
            </a:r>
          </a:p>
        </p:txBody>
      </p:sp>
      <p:sp>
        <p:nvSpPr>
          <p:cNvPr id="9" name="outcome-rule-1">
            <a:extLst xmlns:a="http://schemas.openxmlformats.org/drawingml/2006/main">
              <a:ext uri="{FF2B5EF4-FFF2-40B4-BE49-F238E27FC236}">
                <a16:creationId xmlns:a16="http://schemas.microsoft.com/office/drawing/2014/main" id="{88E3E2B5-2DE0-4E8F-A32F-4215672A7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43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outcome-number-2">
            <a:extLst xmlns:a="http://schemas.openxmlformats.org/drawingml/2006/main">
              <a:ext uri="{FF2B5EF4-FFF2-40B4-BE49-F238E27FC236}">
                <a16:creationId xmlns:a16="http://schemas.microsoft.com/office/drawing/2014/main" id="{CD01714D-FEA7-4428-8D84-079D86BA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14600"/>
            <a:ext cx="55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1" name="outcome-num-text-2">
            <a:extLst xmlns:a="http://schemas.openxmlformats.org/drawingml/2006/main">
              <a:ext uri="{FF2B5EF4-FFF2-40B4-BE49-F238E27FC236}">
                <a16:creationId xmlns:a16="http://schemas.microsoft.com/office/drawing/2014/main" id="{8D7FD6D3-C485-49F3-9CCF-509D5BE1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98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outcome-text-2">
            <a:extLst xmlns:a="http://schemas.openxmlformats.org/drawingml/2006/main">
              <a:ext uri="{FF2B5EF4-FFF2-40B4-BE49-F238E27FC236}">
                <a16:creationId xmlns:a16="http://schemas.microsoft.com/office/drawing/2014/main" id="{AC627734-9853-418E-ABC0-6AA34CFF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62225"/>
            <a:ext cx="971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Iterate safely over quoted positional arguments</a:t>
            </a:r>
          </a:p>
        </p:txBody>
      </p:sp>
      <p:sp>
        <p:nvSpPr>
          <p:cNvPr id="13" name="outcome-rule-2">
            <a:extLst xmlns:a="http://schemas.openxmlformats.org/drawingml/2006/main">
              <a:ext uri="{FF2B5EF4-FFF2-40B4-BE49-F238E27FC236}">
                <a16:creationId xmlns:a16="http://schemas.microsoft.com/office/drawing/2014/main" id="{727A6B94-9BDF-453C-A419-4BA5B417D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4" name="outcome-number-3">
            <a:extLst xmlns:a="http://schemas.openxmlformats.org/drawingml/2006/main">
              <a:ext uri="{FF2B5EF4-FFF2-40B4-BE49-F238E27FC236}">
                <a16:creationId xmlns:a16="http://schemas.microsoft.com/office/drawing/2014/main" id="{D026C946-011F-4984-90F1-AFD987CB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81350"/>
            <a:ext cx="55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5" name="outcome-num-text-3">
            <a:extLst xmlns:a="http://schemas.openxmlformats.org/drawingml/2006/main">
              <a:ext uri="{FF2B5EF4-FFF2-40B4-BE49-F238E27FC236}">
                <a16:creationId xmlns:a16="http://schemas.microsoft.com/office/drawing/2014/main" id="{CE511409-81CB-462E-91B5-31D8AE485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7660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outcome-text-3">
            <a:extLst xmlns:a="http://schemas.openxmlformats.org/drawingml/2006/main">
              <a:ext uri="{FF2B5EF4-FFF2-40B4-BE49-F238E27FC236}">
                <a16:creationId xmlns:a16="http://schemas.microsoft.com/office/drawing/2014/main" id="{9590294A-3511-4526-A530-B2AE28BE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228975"/>
            <a:ext cx="971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Choose for, while, or until for the task</a:t>
            </a:r>
          </a:p>
        </p:txBody>
      </p:sp>
      <p:sp>
        <p:nvSpPr>
          <p:cNvPr id="17" name="outcome-rule-3">
            <a:extLst xmlns:a="http://schemas.openxmlformats.org/drawingml/2006/main">
              <a:ext uri="{FF2B5EF4-FFF2-40B4-BE49-F238E27FC236}">
                <a16:creationId xmlns:a16="http://schemas.microsoft.com/office/drawing/2014/main" id="{BDFA86D9-CD1B-4555-B442-A193CE97C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outcome-number-4">
            <a:extLst xmlns:a="http://schemas.openxmlformats.org/drawingml/2006/main">
              <a:ext uri="{FF2B5EF4-FFF2-40B4-BE49-F238E27FC236}">
                <a16:creationId xmlns:a16="http://schemas.microsoft.com/office/drawing/2014/main" id="{DF8186AB-D085-45EE-B87C-09D6E95F2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55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9" name="outcome-num-text-4">
            <a:extLst xmlns:a="http://schemas.openxmlformats.org/drawingml/2006/main">
              <a:ext uri="{FF2B5EF4-FFF2-40B4-BE49-F238E27FC236}">
                <a16:creationId xmlns:a16="http://schemas.microsoft.com/office/drawing/2014/main" id="{F63FA980-8719-439B-8E91-BF05B7C53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433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20" name="outcome-text-4">
            <a:extLst xmlns:a="http://schemas.openxmlformats.org/drawingml/2006/main">
              <a:ext uri="{FF2B5EF4-FFF2-40B4-BE49-F238E27FC236}">
                <a16:creationId xmlns:a16="http://schemas.microsoft.com/office/drawing/2014/main" id="{180B6F4C-5801-43DE-A5E9-4593C3E41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95725"/>
            <a:ext cx="971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Maintain accurate processing counters</a:t>
            </a:r>
          </a:p>
        </p:txBody>
      </p:sp>
      <p:sp>
        <p:nvSpPr>
          <p:cNvPr id="21" name="outcome-rule-4">
            <a:extLst xmlns:a="http://schemas.openxmlformats.org/drawingml/2006/main">
              <a:ext uri="{FF2B5EF4-FFF2-40B4-BE49-F238E27FC236}">
                <a16:creationId xmlns:a16="http://schemas.microsoft.com/office/drawing/2014/main" id="{DB3DA7BD-8DEF-4251-858D-200C26B0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434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2" name="outcome-number-5">
            <a:extLst xmlns:a="http://schemas.openxmlformats.org/drawingml/2006/main">
              <a:ext uri="{FF2B5EF4-FFF2-40B4-BE49-F238E27FC236}">
                <a16:creationId xmlns:a16="http://schemas.microsoft.com/office/drawing/2014/main" id="{8E95CFD8-E784-4674-BB26-E0F338B3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55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3" name="outcome-num-text-5">
            <a:extLst xmlns:a="http://schemas.openxmlformats.org/drawingml/2006/main">
              <a:ext uri="{FF2B5EF4-FFF2-40B4-BE49-F238E27FC236}">
                <a16:creationId xmlns:a16="http://schemas.microsoft.com/office/drawing/2014/main" id="{6C040571-E3F0-478D-BAED-AB7DAC47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010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4" name="outcome-text-5">
            <a:extLst xmlns:a="http://schemas.openxmlformats.org/drawingml/2006/main">
              <a:ext uri="{FF2B5EF4-FFF2-40B4-BE49-F238E27FC236}">
                <a16:creationId xmlns:a16="http://schemas.microsoft.com/office/drawing/2014/main" id="{F5BBCB94-6096-44F9-B4E3-7D3F9FCEA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62475"/>
            <a:ext cx="971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Skip recoverable items with continue</a:t>
            </a:r>
          </a:p>
        </p:txBody>
      </p:sp>
      <p:sp>
        <p:nvSpPr>
          <p:cNvPr id="25" name="outcome-rule-5">
            <a:extLst xmlns:a="http://schemas.openxmlformats.org/drawingml/2006/main">
              <a:ext uri="{FF2B5EF4-FFF2-40B4-BE49-F238E27FC236}">
                <a16:creationId xmlns:a16="http://schemas.microsoft.com/office/drawing/2014/main" id="{F32DA851-84E8-40D2-83D0-0BA9EDF1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1015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6" name="outcome-number-6">
            <a:extLst xmlns:a="http://schemas.openxmlformats.org/drawingml/2006/main">
              <a:ext uri="{FF2B5EF4-FFF2-40B4-BE49-F238E27FC236}">
                <a16:creationId xmlns:a16="http://schemas.microsoft.com/office/drawing/2014/main" id="{DE36D6C3-8886-42D7-A63A-6A02A3E8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81600"/>
            <a:ext cx="5524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7" name="outcome-num-text-6">
            <a:extLst xmlns:a="http://schemas.openxmlformats.org/drawingml/2006/main">
              <a:ext uri="{FF2B5EF4-FFF2-40B4-BE49-F238E27FC236}">
                <a16:creationId xmlns:a16="http://schemas.microsoft.com/office/drawing/2014/main" id="{FAFB0493-535E-475A-9B67-CFD7200A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76850"/>
            <a:ext cx="5524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28" name="outcome-text-6">
            <a:extLst xmlns:a="http://schemas.openxmlformats.org/drawingml/2006/main">
              <a:ext uri="{FF2B5EF4-FFF2-40B4-BE49-F238E27FC236}">
                <a16:creationId xmlns:a16="http://schemas.microsoft.com/office/drawing/2014/main" id="{45BCFF60-D6CC-42F8-AEE5-F628F163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229225"/>
            <a:ext cx="97155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Stop intentionally with break and report a summary</a:t>
            </a:r>
          </a:p>
        </p:txBody>
      </p:sp>
      <p:sp>
        <p:nvSpPr>
          <p:cNvPr id="29" name="outcome-rule-6">
            <a:extLst xmlns:a="http://schemas.openxmlformats.org/drawingml/2006/main">
              <a:ext uri="{FF2B5EF4-FFF2-40B4-BE49-F238E27FC236}">
                <a16:creationId xmlns:a16="http://schemas.microsoft.com/office/drawing/2014/main" id="{5949294E-1E70-4523-9B80-1D675FB7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6769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6920211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041FA14F-106F-4177-AD80-816055CE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BASH SCRIPTING | WEEK 4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8F6B2ADC-64E7-44F8-9055-3D93163A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Reliable loops preserve data and guarantee a stop</a:t>
            </a:r>
          </a:p>
        </p:txBody>
      </p:sp>
      <p:sp>
        <p:nvSpPr>
          <p:cNvPr id="3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DC986DC3-3A83-4609-B478-53D011568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EBDE47DC-70E3-40E0-ADD1-C94518E0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F9EA1177-84B7-4548-8D14-BA367FE1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relationship-path">
            <a:extLst xmlns:a="http://schemas.openxmlformats.org/drawingml/2006/main">
              <a:ext uri="{FF2B5EF4-FFF2-40B4-BE49-F238E27FC236}">
                <a16:creationId xmlns:a16="http://schemas.microsoft.com/office/drawing/2014/main" id="{611DA6F6-2925-4997-86F9-22FCED8CF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24250"/>
            <a:ext cx="78867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7" name="relationship-node-1">
            <a:extLst xmlns:a="http://schemas.openxmlformats.org/drawingml/2006/main">
              <a:ext uri="{FF2B5EF4-FFF2-40B4-BE49-F238E27FC236}">
                <a16:creationId xmlns:a16="http://schemas.microsoft.com/office/drawing/2014/main" id="{F33E9FF6-1F35-4ECD-AD61-1138C6A0B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relationship-title-1">
            <a:extLst xmlns:a="http://schemas.openxmlformats.org/drawingml/2006/main">
              <a:ext uri="{FF2B5EF4-FFF2-40B4-BE49-F238E27FC236}">
                <a16:creationId xmlns:a16="http://schemas.microsoft.com/office/drawing/2014/main" id="{39CF22C8-59E4-470A-B5B7-F663C3690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2609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SOURCE</a:t>
            </a:r>
          </a:p>
        </p:txBody>
      </p:sp>
      <p:sp>
        <p:nvSpPr>
          <p:cNvPr id="9" name="relationship-body-1">
            <a:extLst xmlns:a="http://schemas.openxmlformats.org/drawingml/2006/main">
              <a:ext uri="{FF2B5EF4-FFF2-40B4-BE49-F238E27FC236}">
                <a16:creationId xmlns:a16="http://schemas.microsoft.com/office/drawing/2014/main" id="{89E2F3BC-9DFC-4D5B-828D-F6A2AADD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81375"/>
            <a:ext cx="26098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arguments or condition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Supply the work</a:t>
            </a:r>
          </a:p>
        </p:txBody>
      </p:sp>
      <p:sp>
        <p:nvSpPr>
          <p:cNvPr id="10" name="relationship-node-2">
            <a:extLst xmlns:a="http://schemas.openxmlformats.org/drawingml/2006/main">
              <a:ext uri="{FF2B5EF4-FFF2-40B4-BE49-F238E27FC236}">
                <a16:creationId xmlns:a16="http://schemas.microsoft.com/office/drawing/2014/main" id="{0FB3F145-D143-4468-A861-7B04CD933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1" name="relationship-title-2">
            <a:extLst xmlns:a="http://schemas.openxmlformats.org/drawingml/2006/main">
              <a:ext uri="{FF2B5EF4-FFF2-40B4-BE49-F238E27FC236}">
                <a16:creationId xmlns:a16="http://schemas.microsoft.com/office/drawing/2014/main" id="{227657E8-0483-4099-9207-17557FB3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714625"/>
            <a:ext cx="2609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PROCESS</a:t>
            </a:r>
          </a:p>
        </p:txBody>
      </p:sp>
      <p:sp>
        <p:nvSpPr>
          <p:cNvPr id="12" name="relationship-body-2">
            <a:extLst xmlns:a="http://schemas.openxmlformats.org/drawingml/2006/main">
              <a:ext uri="{FF2B5EF4-FFF2-40B4-BE49-F238E27FC236}">
                <a16:creationId xmlns:a16="http://schemas.microsoft.com/office/drawing/2014/main" id="{47C09B77-BF70-47E1-92FA-28E97F92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81375"/>
            <a:ext cx="26098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validate + act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Handle one item</a:t>
            </a:r>
          </a:p>
        </p:txBody>
      </p:sp>
      <p:sp>
        <p:nvSpPr>
          <p:cNvPr id="13" name="relationship-node-3">
            <a:extLst xmlns:a="http://schemas.openxmlformats.org/drawingml/2006/main">
              <a:ext uri="{FF2B5EF4-FFF2-40B4-BE49-F238E27FC236}">
                <a16:creationId xmlns:a16="http://schemas.microsoft.com/office/drawing/2014/main" id="{74B13D7E-A619-44D5-8466-43C4983A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81250"/>
            <a:ext cx="3143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4" name="relationship-title-3">
            <a:extLst xmlns:a="http://schemas.openxmlformats.org/drawingml/2006/main">
              <a:ext uri="{FF2B5EF4-FFF2-40B4-BE49-F238E27FC236}">
                <a16:creationId xmlns:a16="http://schemas.microsoft.com/office/drawing/2014/main" id="{CFEC1852-757E-4AB1-A5EC-C165776B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14625"/>
            <a:ext cx="2609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CONTROL</a:t>
            </a:r>
          </a:p>
        </p:txBody>
      </p:sp>
      <p:sp>
        <p:nvSpPr>
          <p:cNvPr id="15" name="relationship-body-3">
            <a:extLst xmlns:a="http://schemas.openxmlformats.org/drawingml/2006/main">
              <a:ext uri="{FF2B5EF4-FFF2-40B4-BE49-F238E27FC236}">
                <a16:creationId xmlns:a16="http://schemas.microsoft.com/office/drawing/2014/main" id="{79E96D82-46E3-46D8-98B5-F85DEEC0B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81375"/>
            <a:ext cx="260985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update or stop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Guarantee progress</a:t>
            </a:r>
          </a:p>
        </p:txBody>
      </p:sp>
      <p:sp>
        <p:nvSpPr>
          <p:cNvPr id="16" name="input-label">
            <a:extLst xmlns:a="http://schemas.openxmlformats.org/drawingml/2006/main">
              <a:ext uri="{FF2B5EF4-FFF2-40B4-BE49-F238E27FC236}">
                <a16:creationId xmlns:a16="http://schemas.microsoft.com/office/drawing/2014/main" id="{F6D47144-0975-498B-A0EE-E01FBB7DC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238500"/>
            <a:ext cx="809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ITERATE</a:t>
            </a:r>
          </a:p>
        </p:txBody>
      </p:sp>
      <p:sp>
        <p:nvSpPr>
          <p:cNvPr id="17" name="action-label">
            <a:extLst xmlns:a="http://schemas.openxmlformats.org/drawingml/2006/main">
              <a:ext uri="{FF2B5EF4-FFF2-40B4-BE49-F238E27FC236}">
                <a16:creationId xmlns:a16="http://schemas.microsoft.com/office/drawing/2014/main" id="{FE51A771-E5EA-49F8-8C11-150D48FA0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38500"/>
            <a:ext cx="809625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DECIDE</a:t>
            </a:r>
          </a:p>
        </p:txBody>
      </p:sp>
      <p:sp>
        <p:nvSpPr>
          <p:cNvPr id="18" name="relationship-takeaway">
            <a:extLst xmlns:a="http://schemas.openxmlformats.org/drawingml/2006/main">
              <a:ext uri="{FF2B5EF4-FFF2-40B4-BE49-F238E27FC236}">
                <a16:creationId xmlns:a16="http://schemas.microsoft.com/office/drawing/2014/main" id="{F34F5E5B-2525-441C-9D37-27D7FEF8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38750"/>
            <a:ext cx="9620250" cy="523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 loop is safe when every iteration preserves data and moves toward termination.</a:t>
            </a:r>
          </a:p>
        </p:txBody>
      </p:sp>
    </p:spTree>
    <p:extLst>
      <p:ext uri="{BB962C8B-B14F-4D97-AF65-F5344CB8AC3E}">
        <p14:creationId xmlns:p14="http://schemas.microsoft.com/office/powerpoint/2010/main" val="628048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F570B76C-9F05-477B-A5BA-8220FF0D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WEEK 4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2D3A018-F001-4A1A-8763-37037D9B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 Loop control drives batch processing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EBC005E9-968F-4919-B7C4-2949DD14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24D1D9F1-B903-44B5-962A-A3CB7AB08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500FE300-6093-410B-BE99-009D30BC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execution-path">
            <a:extLst xmlns:a="http://schemas.openxmlformats.org/drawingml/2006/main">
              <a:ext uri="{FF2B5EF4-FFF2-40B4-BE49-F238E27FC236}">
                <a16:creationId xmlns:a16="http://schemas.microsoft.com/office/drawing/2014/main" id="{3F702DAC-ED39-4CB8-8B9C-B37950CA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81375"/>
            <a:ext cx="938212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7" name="execution-step-1">
            <a:extLst xmlns:a="http://schemas.openxmlformats.org/drawingml/2006/main">
              <a:ext uri="{FF2B5EF4-FFF2-40B4-BE49-F238E27FC236}">
                <a16:creationId xmlns:a16="http://schemas.microsoft.com/office/drawing/2014/main" id="{07B98355-83F4-408A-B9E8-2205544BF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57450"/>
            <a:ext cx="2286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execution-num-1">
            <a:extLst xmlns:a="http://schemas.openxmlformats.org/drawingml/2006/main">
              <a:ext uri="{FF2B5EF4-FFF2-40B4-BE49-F238E27FC236}">
                <a16:creationId xmlns:a16="http://schemas.microsoft.com/office/drawing/2014/main" id="{983EECBF-BA31-4A15-8469-043981A5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9" name="execution-title-1">
            <a:extLst xmlns:a="http://schemas.openxmlformats.org/drawingml/2006/main">
              <a:ext uri="{FF2B5EF4-FFF2-40B4-BE49-F238E27FC236}">
                <a16:creationId xmlns:a16="http://schemas.microsoft.com/office/drawing/2014/main" id="{7B858F0E-B991-4F1E-B0A9-A501DEB9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INITIALIZE</a:t>
            </a:r>
          </a:p>
        </p:txBody>
      </p:sp>
      <p:sp>
        <p:nvSpPr>
          <p:cNvPr id="10" name="execution-body-1">
            <a:extLst xmlns:a="http://schemas.openxmlformats.org/drawingml/2006/main">
              <a:ext uri="{FF2B5EF4-FFF2-40B4-BE49-F238E27FC236}">
                <a16:creationId xmlns:a16="http://schemas.microsoft.com/office/drawing/2014/main" id="{0EF33212-9203-453F-9845-C654ED00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62375"/>
            <a:ext cx="180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Set counters</a:t>
            </a:r>
          </a:p>
        </p:txBody>
      </p:sp>
      <p:sp>
        <p:nvSpPr>
          <p:cNvPr id="11" name="execution-step-2">
            <a:extLst xmlns:a="http://schemas.openxmlformats.org/drawingml/2006/main">
              <a:ext uri="{FF2B5EF4-FFF2-40B4-BE49-F238E27FC236}">
                <a16:creationId xmlns:a16="http://schemas.microsoft.com/office/drawing/2014/main" id="{FA4A07CB-9612-4490-8783-77905AFE8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57450"/>
            <a:ext cx="2286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2" name="execution-num-2">
            <a:extLst xmlns:a="http://schemas.openxmlformats.org/drawingml/2006/main">
              <a:ext uri="{FF2B5EF4-FFF2-40B4-BE49-F238E27FC236}">
                <a16:creationId xmlns:a16="http://schemas.microsoft.com/office/drawing/2014/main" id="{C49EF0B8-D641-4AD3-812B-D76FFA4CD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64795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3" name="execution-title-2">
            <a:extLst xmlns:a="http://schemas.openxmlformats.org/drawingml/2006/main">
              <a:ext uri="{FF2B5EF4-FFF2-40B4-BE49-F238E27FC236}">
                <a16:creationId xmlns:a16="http://schemas.microsoft.com/office/drawing/2014/main" id="{DE757F37-9477-40EE-B134-4A114798F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1432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TEST</a:t>
            </a:r>
          </a:p>
        </p:txBody>
      </p:sp>
      <p:sp>
        <p:nvSpPr>
          <p:cNvPr id="14" name="execution-body-2">
            <a:extLst xmlns:a="http://schemas.openxmlformats.org/drawingml/2006/main">
              <a:ext uri="{FF2B5EF4-FFF2-40B4-BE49-F238E27FC236}">
                <a16:creationId xmlns:a16="http://schemas.microsoft.com/office/drawing/2014/main" id="{054335C5-BB77-41E0-8B1F-8EA36C7F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62375"/>
            <a:ext cx="180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More work?</a:t>
            </a:r>
          </a:p>
        </p:txBody>
      </p:sp>
      <p:sp>
        <p:nvSpPr>
          <p:cNvPr id="15" name="execution-step-3">
            <a:extLst xmlns:a="http://schemas.openxmlformats.org/drawingml/2006/main">
              <a:ext uri="{FF2B5EF4-FFF2-40B4-BE49-F238E27FC236}">
                <a16:creationId xmlns:a16="http://schemas.microsoft.com/office/drawing/2014/main" id="{49FFC168-3767-4AA1-A8D9-3842DCF8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457450"/>
            <a:ext cx="2286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6" name="execution-num-3">
            <a:extLst xmlns:a="http://schemas.openxmlformats.org/drawingml/2006/main">
              <a:ext uri="{FF2B5EF4-FFF2-40B4-BE49-F238E27FC236}">
                <a16:creationId xmlns:a16="http://schemas.microsoft.com/office/drawing/2014/main" id="{F2B2BC9F-C098-428D-A63A-BB81CE03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7" name="execution-title-3">
            <a:extLst xmlns:a="http://schemas.openxmlformats.org/drawingml/2006/main">
              <a:ext uri="{FF2B5EF4-FFF2-40B4-BE49-F238E27FC236}">
                <a16:creationId xmlns:a16="http://schemas.microsoft.com/office/drawing/2014/main" id="{B8702EAC-ADEC-434B-B3F2-0068D365B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PROCESS</a:t>
            </a:r>
          </a:p>
        </p:txBody>
      </p:sp>
      <p:sp>
        <p:nvSpPr>
          <p:cNvPr id="18" name="execution-body-3">
            <a:extLst xmlns:a="http://schemas.openxmlformats.org/drawingml/2006/main">
              <a:ext uri="{FF2B5EF4-FFF2-40B4-BE49-F238E27FC236}">
                <a16:creationId xmlns:a16="http://schemas.microsoft.com/office/drawing/2014/main" id="{86B0658D-A335-4AF5-9389-5C0DC047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180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Handle item</a:t>
            </a:r>
          </a:p>
        </p:txBody>
      </p:sp>
      <p:sp>
        <p:nvSpPr>
          <p:cNvPr id="19" name="execution-step-4">
            <a:extLst xmlns:a="http://schemas.openxmlformats.org/drawingml/2006/main">
              <a:ext uri="{FF2B5EF4-FFF2-40B4-BE49-F238E27FC236}">
                <a16:creationId xmlns:a16="http://schemas.microsoft.com/office/drawing/2014/main" id="{8414DC0E-9C4D-43B1-9E4A-BEA5A149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457450"/>
            <a:ext cx="2286000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20" name="execution-num-4">
            <a:extLst xmlns:a="http://schemas.openxmlformats.org/drawingml/2006/main">
              <a:ext uri="{FF2B5EF4-FFF2-40B4-BE49-F238E27FC236}">
                <a16:creationId xmlns:a16="http://schemas.microsoft.com/office/drawing/2014/main" id="{C1116C0C-6503-4E20-A0EA-E632175EB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647950"/>
            <a:ext cx="381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1" name="execution-title-4">
            <a:extLst xmlns:a="http://schemas.openxmlformats.org/drawingml/2006/main">
              <a:ext uri="{FF2B5EF4-FFF2-40B4-BE49-F238E27FC236}">
                <a16:creationId xmlns:a16="http://schemas.microsoft.com/office/drawing/2014/main" id="{1D3B09F2-B96D-4551-9BF4-C99444125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143250"/>
            <a:ext cx="1809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UPDATE</a:t>
            </a:r>
          </a:p>
        </p:txBody>
      </p:sp>
      <p:sp>
        <p:nvSpPr>
          <p:cNvPr id="22" name="execution-body-4">
            <a:extLst xmlns:a="http://schemas.openxmlformats.org/drawingml/2006/main">
              <a:ext uri="{FF2B5EF4-FFF2-40B4-BE49-F238E27FC236}">
                <a16:creationId xmlns:a16="http://schemas.microsoft.com/office/drawing/2014/main" id="{8467F825-5D62-4BC6-94B6-403AFAF55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762375"/>
            <a:ext cx="1809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Repeat or stop</a:t>
            </a:r>
          </a:p>
        </p:txBody>
      </p:sp>
      <p:sp>
        <p:nvSpPr>
          <p:cNvPr id="23" name="execution-command">
            <a:extLst xmlns:a="http://schemas.openxmlformats.org/drawingml/2006/main">
              <a:ext uri="{FF2B5EF4-FFF2-40B4-BE49-F238E27FC236}">
                <a16:creationId xmlns:a16="http://schemas.microsoft.com/office/drawing/2014/main" id="{B48B9923-7B17-4440-B3FF-36A0AB6E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53000"/>
            <a:ext cx="8382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24" name="execution-code">
            <a:extLst xmlns:a="http://schemas.openxmlformats.org/drawingml/2006/main">
              <a:ext uri="{FF2B5EF4-FFF2-40B4-BE49-F238E27FC236}">
                <a16:creationId xmlns:a16="http://schemas.microsoft.com/office/drawing/2014/main" id="{4B9843A0-2184-452E-BEDF-6FE4400E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72075"/>
            <a:ext cx="7905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initialize -&gt; test -&gt; process -&gt; update -&gt; repeat or stop -&gt; summary</a:t>
            </a:r>
          </a:p>
        </p:txBody>
      </p:sp>
    </p:spTree>
    <p:extLst>
      <p:ext uri="{BB962C8B-B14F-4D97-AF65-F5344CB8AC3E}">
        <p14:creationId xmlns:p14="http://schemas.microsoft.com/office/powerpoint/2010/main" val="8852343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5">
            <a:extLst xmlns:a="http://schemas.openxmlformats.org/drawingml/2006/main">
              <a:ext uri="{FF2B5EF4-FFF2-40B4-BE49-F238E27FC236}">
                <a16:creationId xmlns:a16="http://schemas.microsoft.com/office/drawing/2014/main" id="{09913971-F80D-4251-8101-1C2DE336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7 | FOR LOOPS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61C671B4-382C-42F0-8AE1-4949E263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Use for when the collection is already known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3DE6CFB6-C85B-4201-813B-828665EF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1DBA51ED-3636-4850-B68E-7871538A8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15B03105-F2D5-4653-A692-D7D902E6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anatomy-code-bg">
            <a:extLst xmlns:a="http://schemas.openxmlformats.org/drawingml/2006/main">
              <a:ext uri="{FF2B5EF4-FFF2-40B4-BE49-F238E27FC236}">
                <a16:creationId xmlns:a16="http://schemas.microsoft.com/office/drawing/2014/main" id="{0B4E4A24-ABEB-4B67-B1A1-562E7F970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619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7" name="anatomy-code">
            <a:extLst xmlns:a="http://schemas.openxmlformats.org/drawingml/2006/main">
              <a:ext uri="{FF2B5EF4-FFF2-40B4-BE49-F238E27FC236}">
                <a16:creationId xmlns:a16="http://schemas.microsoft.com/office/drawing/2014/main" id="{7DCF98A9-4819-464C-A623-F976356E8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5048250" cy="3000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total=0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for item in "$@"; do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((total += 1))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printf 'Item %s: %s\n' "$total" "$item"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done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printf 'Total: %s\n' "$total"</a:t>
            </a:r>
          </a:p>
        </p:txBody>
      </p:sp>
      <p:sp>
        <p:nvSpPr>
          <p:cNvPr id="8" name="anatomy-num-01">
            <a:extLst xmlns:a="http://schemas.openxmlformats.org/drawingml/2006/main">
              <a:ext uri="{FF2B5EF4-FFF2-40B4-BE49-F238E27FC236}">
                <a16:creationId xmlns:a16="http://schemas.microsoft.com/office/drawing/2014/main" id="{24C2E370-F44B-478F-A290-6DA0939A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9" name="anatomy-title-01">
            <a:extLst xmlns:a="http://schemas.openxmlformats.org/drawingml/2006/main">
              <a:ext uri="{FF2B5EF4-FFF2-40B4-BE49-F238E27FC236}">
                <a16:creationId xmlns:a16="http://schemas.microsoft.com/office/drawing/2014/main" id="{F9737FEC-25B1-4E0D-A6AC-5960297A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81200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SOURCE</a:t>
            </a:r>
          </a:p>
        </p:txBody>
      </p:sp>
      <p:sp>
        <p:nvSpPr>
          <p:cNvPr id="10" name="anatomy-body-01">
            <a:extLst xmlns:a="http://schemas.openxmlformats.org/drawingml/2006/main">
              <a:ext uri="{FF2B5EF4-FFF2-40B4-BE49-F238E27FC236}">
                <a16:creationId xmlns:a16="http://schemas.microsoft.com/office/drawing/2014/main" id="{25E227FB-214B-4680-BD58-3590E627C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52675"/>
            <a:ext cx="4095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Quoted "$@" preserves arguments.</a:t>
            </a:r>
          </a:p>
        </p:txBody>
      </p:sp>
      <p:sp>
        <p:nvSpPr>
          <p:cNvPr id="11" name="anatomy-num-02">
            <a:extLst xmlns:a="http://schemas.openxmlformats.org/drawingml/2006/main">
              <a:ext uri="{FF2B5EF4-FFF2-40B4-BE49-F238E27FC236}">
                <a16:creationId xmlns:a16="http://schemas.microsoft.com/office/drawing/2014/main" id="{564F6392-DE3F-4E2E-919E-31048CF1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2" name="anatomy-title-02">
            <a:extLst xmlns:a="http://schemas.openxmlformats.org/drawingml/2006/main">
              <a:ext uri="{FF2B5EF4-FFF2-40B4-BE49-F238E27FC236}">
                <a16:creationId xmlns:a16="http://schemas.microsoft.com/office/drawing/2014/main" id="{957779C8-3430-4170-B077-ED2D4CF7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05125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ITERATION</a:t>
            </a:r>
          </a:p>
        </p:txBody>
      </p:sp>
      <p:sp>
        <p:nvSpPr>
          <p:cNvPr id="13" name="anatomy-body-02">
            <a:extLst xmlns:a="http://schemas.openxmlformats.org/drawingml/2006/main">
              <a:ext uri="{FF2B5EF4-FFF2-40B4-BE49-F238E27FC236}">
                <a16:creationId xmlns:a16="http://schemas.microsoft.com/office/drawing/2014/main" id="{D48ED6C5-FFED-4B87-A22E-22C7F892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76600"/>
            <a:ext cx="4095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One argument becomes one item.</a:t>
            </a:r>
          </a:p>
        </p:txBody>
      </p:sp>
      <p:sp>
        <p:nvSpPr>
          <p:cNvPr id="14" name="anatomy-num-03">
            <a:extLst xmlns:a="http://schemas.openxmlformats.org/drawingml/2006/main">
              <a:ext uri="{FF2B5EF4-FFF2-40B4-BE49-F238E27FC236}">
                <a16:creationId xmlns:a16="http://schemas.microsoft.com/office/drawing/2014/main" id="{3E18E715-59A4-4156-B892-A72A3EF0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5" name="anatomy-title-03">
            <a:extLst xmlns:a="http://schemas.openxmlformats.org/drawingml/2006/main">
              <a:ext uri="{FF2B5EF4-FFF2-40B4-BE49-F238E27FC236}">
                <a16:creationId xmlns:a16="http://schemas.microsoft.com/office/drawing/2014/main" id="{FE58FDE6-9B2A-48AF-81DE-292E0D00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29050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COUNTER</a:t>
            </a:r>
          </a:p>
        </p:txBody>
      </p:sp>
      <p:sp>
        <p:nvSpPr>
          <p:cNvPr id="16" name="anatomy-body-03">
            <a:extLst xmlns:a="http://schemas.openxmlformats.org/drawingml/2006/main">
              <a:ext uri="{FF2B5EF4-FFF2-40B4-BE49-F238E27FC236}">
                <a16:creationId xmlns:a16="http://schemas.microsoft.com/office/drawing/2014/main" id="{B0D2B9F4-ED1D-4D26-836F-8712C48B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00525"/>
            <a:ext cx="4095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Initialize before the loop.</a:t>
            </a:r>
          </a:p>
        </p:txBody>
      </p:sp>
      <p:sp>
        <p:nvSpPr>
          <p:cNvPr id="17" name="anatomy-num-04">
            <a:extLst xmlns:a="http://schemas.openxmlformats.org/drawingml/2006/main">
              <a:ext uri="{FF2B5EF4-FFF2-40B4-BE49-F238E27FC236}">
                <a16:creationId xmlns:a16="http://schemas.microsoft.com/office/drawing/2014/main" id="{3BF27C17-6DA1-47C7-BEB1-A452313F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52975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8" name="anatomy-title-04">
            <a:extLst xmlns:a="http://schemas.openxmlformats.org/drawingml/2006/main">
              <a:ext uri="{FF2B5EF4-FFF2-40B4-BE49-F238E27FC236}">
                <a16:creationId xmlns:a16="http://schemas.microsoft.com/office/drawing/2014/main" id="{27DE7CEC-526D-48B9-8848-5C18C538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52975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SUMMARY</a:t>
            </a:r>
          </a:p>
        </p:txBody>
      </p:sp>
      <p:sp>
        <p:nvSpPr>
          <p:cNvPr id="19" name="anatomy-body-04">
            <a:extLst xmlns:a="http://schemas.openxmlformats.org/drawingml/2006/main">
              <a:ext uri="{FF2B5EF4-FFF2-40B4-BE49-F238E27FC236}">
                <a16:creationId xmlns:a16="http://schemas.microsoft.com/office/drawing/2014/main" id="{6EC9FE61-0710-4010-855A-D25D5AB8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4095750" cy="3714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Report after the loop finishes.</a:t>
            </a:r>
          </a:p>
        </p:txBody>
      </p:sp>
    </p:spTree>
    <p:extLst>
      <p:ext uri="{BB962C8B-B14F-4D97-AF65-F5344CB8AC3E}">
        <p14:creationId xmlns:p14="http://schemas.microsoft.com/office/powerpoint/2010/main" val="5761892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6">
            <a:extLst xmlns:a="http://schemas.openxmlformats.org/drawingml/2006/main">
              <a:ext uri="{FF2B5EF4-FFF2-40B4-BE49-F238E27FC236}">
                <a16:creationId xmlns:a16="http://schemas.microsoft.com/office/drawing/2014/main" id="{DA0FC8E9-B56B-4A1C-8B97-165F74A8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LOOP TYPES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8963E5D-627C-44CC-9041-7F8EDE31B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Match the loop to the repetition source</a:t>
            </a:r>
          </a:p>
        </p:txBody>
      </p:sp>
      <p:sp>
        <p:nvSpPr>
          <p:cNvPr id="3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5BF57935-73D8-4044-9B9F-90A94190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9C8B7B92-8270-4AEE-A46D-568FBCC2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5C4E846F-FCFE-49FC-939B-6131EAEB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run-bash-panel">
            <a:extLst xmlns:a="http://schemas.openxmlformats.org/drawingml/2006/main">
              <a:ext uri="{FF2B5EF4-FFF2-40B4-BE49-F238E27FC236}">
                <a16:creationId xmlns:a16="http://schemas.microsoft.com/office/drawing/2014/main" id="{3DE93601-35E3-4C20-8AF9-B0E533FB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334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run-direct-panel">
            <a:extLst xmlns:a="http://schemas.openxmlformats.org/drawingml/2006/main">
              <a:ext uri="{FF2B5EF4-FFF2-40B4-BE49-F238E27FC236}">
                <a16:creationId xmlns:a16="http://schemas.microsoft.com/office/drawing/2014/main" id="{478F4704-4666-4F64-80CF-8F72640A0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2625"/>
            <a:ext cx="53340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method1-label">
            <a:extLst xmlns:a="http://schemas.openxmlformats.org/drawingml/2006/main">
              <a:ext uri="{FF2B5EF4-FFF2-40B4-BE49-F238E27FC236}">
                <a16:creationId xmlns:a16="http://schemas.microsoft.com/office/drawing/2014/main" id="{0D997D63-31BF-423C-9EC2-657CEF560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479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3842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KNOWN COLLECTION</a:t>
            </a:r>
          </a:p>
        </p:txBody>
      </p:sp>
      <p:sp>
        <p:nvSpPr>
          <p:cNvPr id="9" name="method1-code">
            <a:extLst xmlns:a="http://schemas.openxmlformats.org/drawingml/2006/main">
              <a:ext uri="{FF2B5EF4-FFF2-40B4-BE49-F238E27FC236}">
                <a16:creationId xmlns:a16="http://schemas.microsoft.com/office/drawing/2014/main" id="{2DDE7B55-4599-46C8-AE8A-81F94598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4476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for item in "$@"</a:t>
            </a:r>
          </a:p>
        </p:txBody>
      </p:sp>
      <p:sp>
        <p:nvSpPr>
          <p:cNvPr id="10" name="method1-body">
            <a:extLst xmlns:a="http://schemas.openxmlformats.org/drawingml/2006/main">
              <a:ext uri="{FF2B5EF4-FFF2-40B4-BE49-F238E27FC236}">
                <a16:creationId xmlns:a16="http://schemas.microsoft.com/office/drawing/2014/main" id="{D43F6CDD-7139-49C5-89CD-088361E2A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4286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Use for arguments, globs, or a numeric sequence.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The item source is known.</a:t>
            </a:r>
          </a:p>
        </p:txBody>
      </p:sp>
      <p:sp>
        <p:nvSpPr>
          <p:cNvPr id="11" name="method2-label">
            <a:extLst xmlns:a="http://schemas.openxmlformats.org/drawingml/2006/main">
              <a:ext uri="{FF2B5EF4-FFF2-40B4-BE49-F238E27FC236}">
                <a16:creationId xmlns:a16="http://schemas.microsoft.com/office/drawing/2014/main" id="{5269CF32-EECF-490C-85E9-F49BC7E26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47900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2364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CONDITION CONTROL</a:t>
            </a:r>
          </a:p>
        </p:txBody>
      </p:sp>
      <p:sp>
        <p:nvSpPr>
          <p:cNvPr id="12" name="method2-code">
            <a:extLst xmlns:a="http://schemas.openxmlformats.org/drawingml/2006/main">
              <a:ext uri="{FF2B5EF4-FFF2-40B4-BE49-F238E27FC236}">
                <a16:creationId xmlns:a16="http://schemas.microsoft.com/office/drawing/2014/main" id="{7E411E53-9859-40F9-AEAF-FD5381E2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09875"/>
            <a:ext cx="44767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while condition</a:t>
            </a:r>
          </a:p>
        </p:txBody>
      </p:sp>
      <p:sp>
        <p:nvSpPr>
          <p:cNvPr id="13" name="method2-body">
            <a:extLst xmlns:a="http://schemas.openxmlformats.org/drawingml/2006/main">
              <a:ext uri="{FF2B5EF4-FFF2-40B4-BE49-F238E27FC236}">
                <a16:creationId xmlns:a16="http://schemas.microsoft.com/office/drawing/2014/main" id="{D334C155-859E-4828-BDF2-96450246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714750"/>
            <a:ext cx="4286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Use while or until when a condition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controls repetition.</a:t>
            </a:r>
          </a:p>
        </p:txBody>
      </p:sp>
      <p:sp>
        <p:nvSpPr>
          <p:cNvPr id="14" name="permission-takeaway-bg">
            <a:extLst xmlns:a="http://schemas.openxmlformats.org/drawingml/2006/main">
              <a:ext uri="{FF2B5EF4-FFF2-40B4-BE49-F238E27FC236}">
                <a16:creationId xmlns:a16="http://schemas.microsoft.com/office/drawing/2014/main" id="{43E6BADE-E45A-4482-9D47-2416E43CE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476875"/>
            <a:ext cx="81534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permission-takeaway">
            <a:extLst xmlns:a="http://schemas.openxmlformats.org/drawingml/2006/main">
              <a:ext uri="{FF2B5EF4-FFF2-40B4-BE49-F238E27FC236}">
                <a16:creationId xmlns:a16="http://schemas.microsoft.com/office/drawing/2014/main" id="{2BC849AD-9BE5-45B8-8239-1553B150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619750"/>
            <a:ext cx="76962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The clearest loop makes its source and stopping rule visible.</a:t>
            </a:r>
          </a:p>
        </p:txBody>
      </p:sp>
    </p:spTree>
    <p:extLst>
      <p:ext uri="{BB962C8B-B14F-4D97-AF65-F5344CB8AC3E}">
        <p14:creationId xmlns:p14="http://schemas.microsoft.com/office/powerpoint/2010/main" val="20041461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7">
            <a:extLst xmlns:a="http://schemas.openxmlformats.org/drawingml/2006/main">
              <a:ext uri="{FF2B5EF4-FFF2-40B4-BE49-F238E27FC236}">
                <a16:creationId xmlns:a16="http://schemas.microsoft.com/office/drawing/2014/main" id="{AE7AC8AB-7816-46AF-A688-6C22148A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DEMO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CB56BA25-468E-4FEC-93D9-904C43896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Guided demo: preserve and count every argument</a:t>
            </a:r>
          </a:p>
        </p:txBody>
      </p:sp>
      <p:sp>
        <p:nvSpPr>
          <p:cNvPr id="3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34A5244D-9F72-478C-A6B7-552E4F3DB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095644F5-BA94-4CAC-B91F-6294CCB17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193CF4C1-69C6-46BB-A680-6C570957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demo1-code-bg">
            <a:extLst xmlns:a="http://schemas.openxmlformats.org/drawingml/2006/main">
              <a:ext uri="{FF2B5EF4-FFF2-40B4-BE49-F238E27FC236}">
                <a16:creationId xmlns:a16="http://schemas.microsoft.com/office/drawing/2014/main" id="{2A82FC4C-13D6-4E30-8D57-3E3A903B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7239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7" name="demo1-code">
            <a:extLst xmlns:a="http://schemas.openxmlformats.org/drawingml/2006/main">
              <a:ext uri="{FF2B5EF4-FFF2-40B4-BE49-F238E27FC236}">
                <a16:creationId xmlns:a16="http://schemas.microsoft.com/office/drawing/2014/main" id="{64333386-F9AD-4EF7-B1DA-B71915B9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38375"/>
            <a:ext cx="6667500" cy="3143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#!/usr/bin/env bash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total=0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processed=0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skipped=0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for item in "$@"; do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((total += 1))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if [[ -z "$item" ]]; then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  ((skipped += 1))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  continue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fi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((processed += 1))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printf '%s: &lt;%s&gt;\n' "$processed" "$item"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done</a:t>
            </a:r>
          </a:p>
        </p:txBody>
      </p:sp>
      <p:sp>
        <p:nvSpPr>
          <p:cNvPr id="8" name="demo1-run-label">
            <a:extLst xmlns:a="http://schemas.openxmlformats.org/drawingml/2006/main">
              <a:ext uri="{FF2B5EF4-FFF2-40B4-BE49-F238E27FC236}">
                <a16:creationId xmlns:a16="http://schemas.microsoft.com/office/drawing/2014/main" id="{51E76662-30E3-460F-9A63-08F48C8DC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1143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TEST</a:t>
            </a:r>
          </a:p>
        </p:txBody>
      </p:sp>
      <p:sp>
        <p:nvSpPr>
          <p:cNvPr id="9" name="demo1-run-code">
            <a:extLst xmlns:a="http://schemas.openxmlformats.org/drawingml/2006/main">
              <a:ext uri="{FF2B5EF4-FFF2-40B4-BE49-F238E27FC236}">
                <a16:creationId xmlns:a16="http://schemas.microsoft.com/office/drawing/2014/main" id="{9814E36F-D784-4E41-A250-37620BE64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24125"/>
            <a:ext cx="3143250" cy="1857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./argument-batch-reporter.sh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One item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A value with spaces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An empty argument</a:t>
            </a:r>
          </a:p>
        </p:txBody>
      </p:sp>
      <p:sp>
        <p:nvSpPr>
          <p:cNvPr id="10" name="demo1-check">
            <a:extLst xmlns:a="http://schemas.openxmlformats.org/drawingml/2006/main">
              <a:ext uri="{FF2B5EF4-FFF2-40B4-BE49-F238E27FC236}">
                <a16:creationId xmlns:a16="http://schemas.microsoft.com/office/drawing/2014/main" id="{BF3465A7-970A-4801-976D-5B126250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62500"/>
            <a:ext cx="3190875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1" name="demo1-check-text">
            <a:extLst xmlns:a="http://schemas.openxmlformats.org/drawingml/2006/main">
              <a:ext uri="{FF2B5EF4-FFF2-40B4-BE49-F238E27FC236}">
                <a16:creationId xmlns:a16="http://schemas.microsoft.com/office/drawing/2014/main" id="{D89D9198-2DFE-4E1B-847E-894CF16D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53000"/>
            <a:ext cx="2714625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CHECK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Quoted items and counters must agree with the input.</a:t>
            </a:r>
          </a:p>
        </p:txBody>
      </p:sp>
    </p:spTree>
    <p:extLst>
      <p:ext uri="{BB962C8B-B14F-4D97-AF65-F5344CB8AC3E}">
        <p14:creationId xmlns:p14="http://schemas.microsoft.com/office/powerpoint/2010/main" val="2488751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8">
            <a:extLst xmlns:a="http://schemas.openxmlformats.org/drawingml/2006/main">
              <a:ext uri="{FF2B5EF4-FFF2-40B4-BE49-F238E27FC236}">
                <a16:creationId xmlns:a16="http://schemas.microsoft.com/office/drawing/2014/main" id="{45FA9238-4C5B-4FAB-A148-7DCDD6406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8 | CONTROL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FF85B6F2-EC8F-458D-9041-3A8E7585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continue skips; break stops the nearest loop</a:t>
            </a:r>
          </a:p>
        </p:txBody>
      </p:sp>
      <p:sp>
        <p:nvSpPr>
          <p:cNvPr id="3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55B326D4-4AE9-41CA-BDB9-2562CF7D8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3994DCB7-48BC-4446-BD6A-FCCDC146B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828B2ECF-52CC-4F0A-8DFD-95FCFA95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evidence-panel-1">
            <a:extLst xmlns:a="http://schemas.openxmlformats.org/drawingml/2006/main">
              <a:ext uri="{FF2B5EF4-FFF2-40B4-BE49-F238E27FC236}">
                <a16:creationId xmlns:a16="http://schemas.microsoft.com/office/drawing/2014/main" id="{07FCABAB-9BE9-4660-BC0F-929D00D39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4787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evidence-title-1">
            <a:extLst xmlns:a="http://schemas.openxmlformats.org/drawingml/2006/main">
              <a:ext uri="{FF2B5EF4-FFF2-40B4-BE49-F238E27FC236}">
                <a16:creationId xmlns:a16="http://schemas.microsoft.com/office/drawing/2014/main" id="{2562575A-9E3E-422B-ABF3-712C80F5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2933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CONTINUE</a:t>
            </a:r>
          </a:p>
        </p:txBody>
      </p:sp>
      <p:sp>
        <p:nvSpPr>
          <p:cNvPr id="8" name="evidence-question-1">
            <a:extLst xmlns:a="http://schemas.openxmlformats.org/drawingml/2006/main">
              <a:ext uri="{FF2B5EF4-FFF2-40B4-BE49-F238E27FC236}">
                <a16:creationId xmlns:a16="http://schemas.microsoft.com/office/drawing/2014/main" id="{C21EEAEC-E396-4A08-94AF-AAF765F76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95625"/>
            <a:ext cx="2933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Skip current item</a:t>
            </a:r>
          </a:p>
        </p:txBody>
      </p:sp>
      <p:sp>
        <p:nvSpPr>
          <p:cNvPr id="9" name="evidence-code-bg-1">
            <a:extLst xmlns:a="http://schemas.openxmlformats.org/drawingml/2006/main">
              <a:ext uri="{FF2B5EF4-FFF2-40B4-BE49-F238E27FC236}">
                <a16:creationId xmlns:a16="http://schemas.microsoft.com/office/drawing/2014/main" id="{E013D934-7CC5-4969-B49D-D0B041818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43375"/>
            <a:ext cx="2933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10" name="evidence-code-1">
            <a:extLst xmlns:a="http://schemas.openxmlformats.org/drawingml/2006/main">
              <a:ext uri="{FF2B5EF4-FFF2-40B4-BE49-F238E27FC236}">
                <a16:creationId xmlns:a16="http://schemas.microsoft.com/office/drawing/2014/main" id="{C442C201-A32D-422E-94E3-ED314054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62450"/>
            <a:ext cx="2590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missing -&gt; count -&gt; continue</a:t>
            </a:r>
          </a:p>
        </p:txBody>
      </p:sp>
      <p:sp>
        <p:nvSpPr>
          <p:cNvPr id="11" name="evidence-panel-2">
            <a:extLst xmlns:a="http://schemas.openxmlformats.org/drawingml/2006/main">
              <a:ext uri="{FF2B5EF4-FFF2-40B4-BE49-F238E27FC236}">
                <a16:creationId xmlns:a16="http://schemas.microsoft.com/office/drawing/2014/main" id="{912F2156-F4B4-46A4-825E-9FD5391C6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4787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2" name="evidence-title-2">
            <a:extLst xmlns:a="http://schemas.openxmlformats.org/drawingml/2006/main">
              <a:ext uri="{FF2B5EF4-FFF2-40B4-BE49-F238E27FC236}">
                <a16:creationId xmlns:a16="http://schemas.microsoft.com/office/drawing/2014/main" id="{D990DB48-CFC0-44EE-936E-3711656F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33625"/>
            <a:ext cx="2933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BREAK</a:t>
            </a:r>
          </a:p>
        </p:txBody>
      </p:sp>
      <p:sp>
        <p:nvSpPr>
          <p:cNvPr id="13" name="evidence-question-2">
            <a:extLst xmlns:a="http://schemas.openxmlformats.org/drawingml/2006/main">
              <a:ext uri="{FF2B5EF4-FFF2-40B4-BE49-F238E27FC236}">
                <a16:creationId xmlns:a16="http://schemas.microsoft.com/office/drawing/2014/main" id="{1371BCEA-1C91-472B-8212-051711806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095625"/>
            <a:ext cx="2933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Leave the loop</a:t>
            </a:r>
          </a:p>
        </p:txBody>
      </p:sp>
      <p:sp>
        <p:nvSpPr>
          <p:cNvPr id="14" name="evidence-code-bg-2">
            <a:extLst xmlns:a="http://schemas.openxmlformats.org/drawingml/2006/main">
              <a:ext uri="{FF2B5EF4-FFF2-40B4-BE49-F238E27FC236}">
                <a16:creationId xmlns:a16="http://schemas.microsoft.com/office/drawing/2014/main" id="{967219A0-3F46-4CBF-9BDC-58413F8E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143375"/>
            <a:ext cx="2933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15" name="evidence-code-2">
            <a:extLst xmlns:a="http://schemas.openxmlformats.org/drawingml/2006/main">
              <a:ext uri="{FF2B5EF4-FFF2-40B4-BE49-F238E27FC236}">
                <a16:creationId xmlns:a16="http://schemas.microsoft.com/office/drawing/2014/main" id="{3023073F-0272-4484-A32B-1E63619C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362450"/>
            <a:ext cx="2590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stop mode -&gt; break</a:t>
            </a:r>
          </a:p>
        </p:txBody>
      </p:sp>
      <p:sp>
        <p:nvSpPr>
          <p:cNvPr id="16" name="evidence-panel-3">
            <a:extLst xmlns:a="http://schemas.openxmlformats.org/drawingml/2006/main">
              <a:ext uri="{FF2B5EF4-FFF2-40B4-BE49-F238E27FC236}">
                <a16:creationId xmlns:a16="http://schemas.microsoft.com/office/drawing/2014/main" id="{0170A2EC-3979-4799-BB10-72E545182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47875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7" name="evidence-title-3">
            <a:extLst xmlns:a="http://schemas.openxmlformats.org/drawingml/2006/main">
              <a:ext uri="{FF2B5EF4-FFF2-40B4-BE49-F238E27FC236}">
                <a16:creationId xmlns:a16="http://schemas.microsoft.com/office/drawing/2014/main" id="{79D1ABD4-289A-4613-8565-996AC47A6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33625"/>
            <a:ext cx="2933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SUMMARY</a:t>
            </a:r>
          </a:p>
        </p:txBody>
      </p:sp>
      <p:sp>
        <p:nvSpPr>
          <p:cNvPr id="18" name="evidence-question-3">
            <a:extLst xmlns:a="http://schemas.openxmlformats.org/drawingml/2006/main">
              <a:ext uri="{FF2B5EF4-FFF2-40B4-BE49-F238E27FC236}">
                <a16:creationId xmlns:a16="http://schemas.microsoft.com/office/drawing/2014/main" id="{E8414609-1BD1-4E93-9A59-7705D3EFC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95625"/>
            <a:ext cx="29337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Runs after the loop</a:t>
            </a:r>
          </a:p>
        </p:txBody>
      </p:sp>
      <p:sp>
        <p:nvSpPr>
          <p:cNvPr id="19" name="evidence-code-bg-3">
            <a:extLst xmlns:a="http://schemas.openxmlformats.org/drawingml/2006/main">
              <a:ext uri="{FF2B5EF4-FFF2-40B4-BE49-F238E27FC236}">
                <a16:creationId xmlns:a16="http://schemas.microsoft.com/office/drawing/2014/main" id="{7E6AD74C-A695-4D82-BFF9-AE5063252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43375"/>
            <a:ext cx="2933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20" name="evidence-code-3">
            <a:extLst xmlns:a="http://schemas.openxmlformats.org/drawingml/2006/main">
              <a:ext uri="{FF2B5EF4-FFF2-40B4-BE49-F238E27FC236}">
                <a16:creationId xmlns:a16="http://schemas.microsoft.com/office/drawing/2014/main" id="{EAA23B77-C754-4BB3-9A99-536F1A8A9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25908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print final counters</a:t>
            </a:r>
          </a:p>
        </p:txBody>
      </p:sp>
      <p:sp>
        <p:nvSpPr>
          <p:cNvPr id="21" name="status-warning">
            <a:extLst xmlns:a="http://schemas.openxmlformats.org/drawingml/2006/main">
              <a:ext uri="{FF2B5EF4-FFF2-40B4-BE49-F238E27FC236}">
                <a16:creationId xmlns:a16="http://schemas.microsoft.com/office/drawing/2014/main" id="{92420787-CEF1-419F-8443-7B51957E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762625"/>
            <a:ext cx="7429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C64B4B"/>
                </a:solidFill>
                <a:latin typeface="Arial"/>
                <a:ea typeface="Arial"/>
                <a:cs typeface="Arial"/>
              </a:defRPr>
            </a:pPr>
            <a:r>
              <a:t>Both controls need an explicit, testable reason.</a:t>
            </a:r>
          </a:p>
        </p:txBody>
      </p:sp>
    </p:spTree>
    <p:extLst>
      <p:ext uri="{BB962C8B-B14F-4D97-AF65-F5344CB8AC3E}">
        <p14:creationId xmlns:p14="http://schemas.microsoft.com/office/powerpoint/2010/main" val="4726151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9">
            <a:extLst xmlns:a="http://schemas.openxmlformats.org/drawingml/2006/main">
              <a:ext uri="{FF2B5EF4-FFF2-40B4-BE49-F238E27FC236}">
                <a16:creationId xmlns:a16="http://schemas.microsoft.com/office/drawing/2014/main" id="{2A69F51D-725C-4556-B633-B1E3431E9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LESSON 8 | WHILE + UNTIL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8540932F-11D4-4B33-8FDC-ACA68529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95631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Condition loops must change state or observe progress</a:t>
            </a:r>
          </a:p>
        </p:txBody>
      </p:sp>
      <p:sp>
        <p:nvSpPr>
          <p:cNvPr id="3" name="header-rule-9">
            <a:extLst xmlns:a="http://schemas.openxmlformats.org/drawingml/2006/main">
              <a:ext uri="{FF2B5EF4-FFF2-40B4-BE49-F238E27FC236}">
                <a16:creationId xmlns:a16="http://schemas.microsoft.com/office/drawing/2014/main" id="{8EF39D69-1E33-4AD6-ABB9-2D1EDDF5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7C3E4A98-EB28-430B-8D7D-ACFDEA7EB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B9206F7C-0924-4A16-9CED-881651A38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and-panel">
            <a:extLst xmlns:a="http://schemas.openxmlformats.org/drawingml/2006/main">
              <a:ext uri="{FF2B5EF4-FFF2-40B4-BE49-F238E27FC236}">
                <a16:creationId xmlns:a16="http://schemas.microsoft.com/office/drawing/2014/main" id="{F95D802C-670A-4C3B-AF76-05C4B6D7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7" name="or-panel">
            <a:extLst xmlns:a="http://schemas.openxmlformats.org/drawingml/2006/main">
              <a:ext uri="{FF2B5EF4-FFF2-40B4-BE49-F238E27FC236}">
                <a16:creationId xmlns:a16="http://schemas.microsoft.com/office/drawing/2014/main" id="{78D8D5FB-B597-465B-81FA-F4B20A80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52625"/>
            <a:ext cx="5334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8" name="and-label">
            <a:extLst xmlns:a="http://schemas.openxmlformats.org/drawingml/2006/main">
              <a:ext uri="{FF2B5EF4-FFF2-40B4-BE49-F238E27FC236}">
                <a16:creationId xmlns:a16="http://schemas.microsoft.com/office/drawing/2014/main" id="{BC3531E2-6D89-49C4-AC15-95E85674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F8A63"/>
                </a:solidFill>
                <a:latin typeface="Arial"/>
                <a:ea typeface="Arial"/>
                <a:cs typeface="Arial"/>
              </a:defRPr>
            </a:pPr>
            <a:r>
              <a:t>WHILE</a:t>
            </a:r>
          </a:p>
        </p:txBody>
      </p:sp>
      <p:sp>
        <p:nvSpPr>
          <p:cNvPr id="9" name="and-code">
            <a:extLst xmlns:a="http://schemas.openxmlformats.org/drawingml/2006/main">
              <a:ext uri="{FF2B5EF4-FFF2-40B4-BE49-F238E27FC236}">
                <a16:creationId xmlns:a16="http://schemas.microsoft.com/office/drawing/2014/main" id="{8B787CAA-1E24-40F1-816D-E5C0053C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while condition</a:t>
            </a:r>
          </a:p>
        </p:txBody>
      </p:sp>
      <p:sp>
        <p:nvSpPr>
          <p:cNvPr id="10" name="and-body">
            <a:extLst xmlns:a="http://schemas.openxmlformats.org/drawingml/2006/main">
              <a:ext uri="{FF2B5EF4-FFF2-40B4-BE49-F238E27FC236}">
                <a16:creationId xmlns:a16="http://schemas.microsoft.com/office/drawing/2014/main" id="{F83FA301-D39D-45FE-98A2-F9A36796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42862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Repeat while the test succeeds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and update relevant state</a:t>
            </a:r>
          </a:p>
        </p:txBody>
      </p:sp>
      <p:sp>
        <p:nvSpPr>
          <p:cNvPr id="11" name="or-label">
            <a:extLst xmlns:a="http://schemas.openxmlformats.org/drawingml/2006/main">
              <a:ext uri="{FF2B5EF4-FFF2-40B4-BE49-F238E27FC236}">
                <a16:creationId xmlns:a16="http://schemas.microsoft.com/office/drawing/2014/main" id="{499FED21-8800-44B6-A7B2-AC1772FC2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38375"/>
            <a:ext cx="2571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64B4B"/>
                </a:solidFill>
                <a:latin typeface="Arial"/>
                <a:ea typeface="Arial"/>
                <a:cs typeface="Arial"/>
              </a:defRPr>
            </a:pPr>
            <a:r>
              <a:t>UNTIL</a:t>
            </a:r>
          </a:p>
        </p:txBody>
      </p:sp>
      <p:sp>
        <p:nvSpPr>
          <p:cNvPr id="12" name="or-code">
            <a:extLst xmlns:a="http://schemas.openxmlformats.org/drawingml/2006/main">
              <a:ext uri="{FF2B5EF4-FFF2-40B4-BE49-F238E27FC236}">
                <a16:creationId xmlns:a16="http://schemas.microsoft.com/office/drawing/2014/main" id="{CA93B9C6-0305-45D9-852F-AA221E3A2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809875"/>
            <a:ext cx="4572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11111"/>
                </a:solidFill>
                <a:latin typeface="Courier New"/>
                <a:ea typeface="Courier New"/>
                <a:cs typeface="Courier New"/>
              </a:defRPr>
            </a:pPr>
            <a:r>
              <a:t>until condition</a:t>
            </a:r>
          </a:p>
        </p:txBody>
      </p:sp>
      <p:sp>
        <p:nvSpPr>
          <p:cNvPr id="13" name="or-body">
            <a:extLst xmlns:a="http://schemas.openxmlformats.org/drawingml/2006/main">
              <a:ext uri="{FF2B5EF4-FFF2-40B4-BE49-F238E27FC236}">
                <a16:creationId xmlns:a16="http://schemas.microsoft.com/office/drawing/2014/main" id="{0CCA83AF-7922-40B0-A965-C43DEAE71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14750"/>
            <a:ext cx="4286250" cy="1000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Repeat until the test succeeds</a:t>
            </a:r>
          </a:p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and enforce a maximum</a:t>
            </a:r>
          </a:p>
        </p:txBody>
      </p:sp>
      <p:sp>
        <p:nvSpPr>
          <p:cNvPr id="14" name="andor-example-bg">
            <a:extLst xmlns:a="http://schemas.openxmlformats.org/drawingml/2006/main">
              <a:ext uri="{FF2B5EF4-FFF2-40B4-BE49-F238E27FC236}">
                <a16:creationId xmlns:a16="http://schemas.microsoft.com/office/drawing/2014/main" id="{E73EC4BD-8B3F-4F86-8CEC-66B7F618F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15" name="andor-example">
            <a:extLst xmlns:a="http://schemas.openxmlformats.org/drawingml/2006/main">
              <a:ext uri="{FF2B5EF4-FFF2-40B4-BE49-F238E27FC236}">
                <a16:creationId xmlns:a16="http://schemas.microsoft.com/office/drawing/2014/main" id="{11E37C21-19A5-4AAA-81A9-AD5FDAE06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591175"/>
            <a:ext cx="8096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attempt=1; until (( attempt &gt; maximum )); do ...; ((attempt += 1)); done</a:t>
            </a:r>
          </a:p>
        </p:txBody>
      </p:sp>
    </p:spTree>
    <p:extLst>
      <p:ext uri="{BB962C8B-B14F-4D97-AF65-F5344CB8AC3E}">
        <p14:creationId xmlns:p14="http://schemas.microsoft.com/office/powerpoint/2010/main" val="20676579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0">
            <a:extLst xmlns:a="http://schemas.openxmlformats.org/drawingml/2006/main">
              <a:ext uri="{FF2B5EF4-FFF2-40B4-BE49-F238E27FC236}">
                <a16:creationId xmlns:a16="http://schemas.microsoft.com/office/drawing/2014/main" id="{D814AF9C-3E9B-430E-9C3A-BE6A989CC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DEMO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C91B384-7106-4E7D-94F4-1647B9F52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 batch processor skips errors or stops early</a:t>
            </a:r>
          </a:p>
        </p:txBody>
      </p:sp>
      <p:sp>
        <p:nvSpPr>
          <p:cNvPr id="3" name="header-rule-10">
            <a:extLst xmlns:a="http://schemas.openxmlformats.org/drawingml/2006/main">
              <a:ext uri="{FF2B5EF4-FFF2-40B4-BE49-F238E27FC236}">
                <a16:creationId xmlns:a16="http://schemas.microsoft.com/office/drawing/2014/main" id="{CBF59525-BD80-439B-92A3-81CD8F577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09978007-92E1-4FC2-A840-C61B3D559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footer-10">
            <a:extLst xmlns:a="http://schemas.openxmlformats.org/drawingml/2006/main">
              <a:ext uri="{FF2B5EF4-FFF2-40B4-BE49-F238E27FC236}">
                <a16:creationId xmlns:a16="http://schemas.microsoft.com/office/drawing/2014/main" id="{5B2C862A-0282-4BE6-943D-EF5F57606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snapshot-code-bg">
            <a:extLst xmlns:a="http://schemas.openxmlformats.org/drawingml/2006/main">
              <a:ext uri="{FF2B5EF4-FFF2-40B4-BE49-F238E27FC236}">
                <a16:creationId xmlns:a16="http://schemas.microsoft.com/office/drawing/2014/main" id="{AD6443B7-967A-4DC8-AB14-0B3DDEBDB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6477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2B"/>
          </a:solidFill>
          <a:ln xmlns:a="http://schemas.openxmlformats.org/drawingml/2006/main" w="0">
            <a:solidFill>
              <a:srgbClr val="17212B"/>
            </a:solidFill>
            <a:prstDash val="solid"/>
          </a:ln>
        </p:spPr>
      </p:sp>
      <p:sp>
        <p:nvSpPr>
          <p:cNvPr id="7" name="snapshot-code">
            <a:extLst xmlns:a="http://schemas.openxmlformats.org/drawingml/2006/main">
              <a:ext uri="{FF2B5EF4-FFF2-40B4-BE49-F238E27FC236}">
                <a16:creationId xmlns:a16="http://schemas.microsoft.com/office/drawing/2014/main" id="{20A89C88-1613-4CCF-B085-3A97C5FA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5953125" cy="3238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for path in "$@"; do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((total += 1))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if [[ ! -e "$path" ]]; then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  ((missing += 1))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  if (( stop_on_error == 1 )); then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    stopped_early=1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    break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  fi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  continue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fi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  process_path "$path"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done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/>
            </a:r>
          </a:p>
          <a:p xmlns:a="http://schemas.openxmlformats.org/drawingml/2006/main">
            <a:pPr algn="l">
              <a:buNone/>
              <a:defRPr sz="1500" b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t>print_summary</a:t>
            </a:r>
          </a:p>
        </p:txBody>
      </p:sp>
      <p:sp>
        <p:nvSpPr>
          <p:cNvPr id="8" name="snapshot-section-label">
            <a:extLst xmlns:a="http://schemas.openxmlformats.org/drawingml/2006/main">
              <a:ext uri="{FF2B5EF4-FFF2-40B4-BE49-F238E27FC236}">
                <a16:creationId xmlns:a16="http://schemas.microsoft.com/office/drawing/2014/main" id="{58631A5E-F822-4A6A-91B6-827725D7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76450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CONTROL ORDER</a:t>
            </a:r>
          </a:p>
        </p:txBody>
      </p:sp>
      <p:sp>
        <p:nvSpPr>
          <p:cNvPr id="9" name="snapshot-num-1">
            <a:extLst xmlns:a="http://schemas.openxmlformats.org/drawingml/2006/main">
              <a:ext uri="{FF2B5EF4-FFF2-40B4-BE49-F238E27FC236}">
                <a16:creationId xmlns:a16="http://schemas.microsoft.com/office/drawing/2014/main" id="{623C89DF-2DC9-4B14-B808-803BD6840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14625"/>
            <a:ext cx="43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snapshot-section-1">
            <a:extLst xmlns:a="http://schemas.openxmlformats.org/drawingml/2006/main">
              <a:ext uri="{FF2B5EF4-FFF2-40B4-BE49-F238E27FC236}">
                <a16:creationId xmlns:a16="http://schemas.microsoft.com/office/drawing/2014/main" id="{FB4510FE-13E3-4B8A-BFFF-52EF13024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14625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Increment attempted count</a:t>
            </a:r>
          </a:p>
        </p:txBody>
      </p:sp>
      <p:sp>
        <p:nvSpPr>
          <p:cNvPr id="11" name="snapshot-rule-1">
            <a:extLst xmlns:a="http://schemas.openxmlformats.org/drawingml/2006/main">
              <a:ext uri="{FF2B5EF4-FFF2-40B4-BE49-F238E27FC236}">
                <a16:creationId xmlns:a16="http://schemas.microsoft.com/office/drawing/2014/main" id="{E06436F2-7088-4F2B-AB72-551AFF69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670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snapshot-num-2">
            <a:extLst xmlns:a="http://schemas.openxmlformats.org/drawingml/2006/main">
              <a:ext uri="{FF2B5EF4-FFF2-40B4-BE49-F238E27FC236}">
                <a16:creationId xmlns:a16="http://schemas.microsoft.com/office/drawing/2014/main" id="{36F68005-31B4-49E9-B07F-E5B3C980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86125"/>
            <a:ext cx="43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3" name="snapshot-section-2">
            <a:extLst xmlns:a="http://schemas.openxmlformats.org/drawingml/2006/main">
              <a:ext uri="{FF2B5EF4-FFF2-40B4-BE49-F238E27FC236}">
                <a16:creationId xmlns:a16="http://schemas.microsoft.com/office/drawing/2014/main" id="{F33591DA-BB59-4389-933E-6BDBAEE1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86125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Validate current item</a:t>
            </a:r>
          </a:p>
        </p:txBody>
      </p:sp>
      <p:sp>
        <p:nvSpPr>
          <p:cNvPr id="14" name="snapshot-rule-2">
            <a:extLst xmlns:a="http://schemas.openxmlformats.org/drawingml/2006/main">
              <a:ext uri="{FF2B5EF4-FFF2-40B4-BE49-F238E27FC236}">
                <a16:creationId xmlns:a16="http://schemas.microsoft.com/office/drawing/2014/main" id="{E750E528-55F5-4DE1-A65E-D8DC65D72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638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snapshot-num-3">
            <a:extLst xmlns:a="http://schemas.openxmlformats.org/drawingml/2006/main">
              <a:ext uri="{FF2B5EF4-FFF2-40B4-BE49-F238E27FC236}">
                <a16:creationId xmlns:a16="http://schemas.microsoft.com/office/drawing/2014/main" id="{E4752FE8-9F24-4D4E-BDC5-DAB740F4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57625"/>
            <a:ext cx="43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6" name="snapshot-section-3">
            <a:extLst xmlns:a="http://schemas.openxmlformats.org/drawingml/2006/main">
              <a:ext uri="{FF2B5EF4-FFF2-40B4-BE49-F238E27FC236}">
                <a16:creationId xmlns:a16="http://schemas.microsoft.com/office/drawing/2014/main" id="{E75403E3-7161-49C5-997A-5FEECEF2F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57625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Count the failure</a:t>
            </a:r>
          </a:p>
        </p:txBody>
      </p:sp>
      <p:sp>
        <p:nvSpPr>
          <p:cNvPr id="17" name="snapshot-rule-3">
            <a:extLst xmlns:a="http://schemas.openxmlformats.org/drawingml/2006/main">
              <a:ext uri="{FF2B5EF4-FFF2-40B4-BE49-F238E27FC236}">
                <a16:creationId xmlns:a16="http://schemas.microsoft.com/office/drawing/2014/main" id="{6B35351E-5E0F-43E3-894A-97A92C19A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2100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8" name="snapshot-num-4">
            <a:extLst xmlns:a="http://schemas.openxmlformats.org/drawingml/2006/main">
              <a:ext uri="{FF2B5EF4-FFF2-40B4-BE49-F238E27FC236}">
                <a16:creationId xmlns:a16="http://schemas.microsoft.com/office/drawing/2014/main" id="{0DFD7C95-1224-4A0F-86EE-0B91A8C94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29125"/>
            <a:ext cx="43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9" name="snapshot-section-4">
            <a:extLst xmlns:a="http://schemas.openxmlformats.org/drawingml/2006/main">
              <a:ext uri="{FF2B5EF4-FFF2-40B4-BE49-F238E27FC236}">
                <a16:creationId xmlns:a16="http://schemas.microsoft.com/office/drawing/2014/main" id="{0E0A47C9-306A-4B03-B3AA-9FB67CE4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429125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Continue or break</a:t>
            </a:r>
          </a:p>
        </p:txBody>
      </p:sp>
      <p:sp>
        <p:nvSpPr>
          <p:cNvPr id="20" name="snapshot-rule-4">
            <a:extLst xmlns:a="http://schemas.openxmlformats.org/drawingml/2006/main">
              <a:ext uri="{FF2B5EF4-FFF2-40B4-BE49-F238E27FC236}">
                <a16:creationId xmlns:a16="http://schemas.microsoft.com/office/drawing/2014/main" id="{D54599B5-55B7-4E04-A088-3D50446A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7815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1" name="snapshot-num-5">
            <a:extLst xmlns:a="http://schemas.openxmlformats.org/drawingml/2006/main">
              <a:ext uri="{FF2B5EF4-FFF2-40B4-BE49-F238E27FC236}">
                <a16:creationId xmlns:a16="http://schemas.microsoft.com/office/drawing/2014/main" id="{84DD665B-76AB-46F1-B24C-6937BB58C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000625"/>
            <a:ext cx="4381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2" name="snapshot-section-5">
            <a:extLst xmlns:a="http://schemas.openxmlformats.org/drawingml/2006/main">
              <a:ext uri="{FF2B5EF4-FFF2-40B4-BE49-F238E27FC236}">
                <a16:creationId xmlns:a16="http://schemas.microsoft.com/office/drawing/2014/main" id="{8F267F2E-8D24-4D70-A92D-96BA0D5FB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000625"/>
            <a:ext cx="31432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Print final summary</a:t>
            </a:r>
          </a:p>
        </p:txBody>
      </p:sp>
      <p:sp>
        <p:nvSpPr>
          <p:cNvPr id="23" name="snapshot-rule-5">
            <a:extLst xmlns:a="http://schemas.openxmlformats.org/drawingml/2006/main">
              <a:ext uri="{FF2B5EF4-FFF2-40B4-BE49-F238E27FC236}">
                <a16:creationId xmlns:a16="http://schemas.microsoft.com/office/drawing/2014/main" id="{B7BE9EFA-0262-4DC6-A1D4-0E082F54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5305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24" name="snapshot-safety">
            <a:extLst xmlns:a="http://schemas.openxmlformats.org/drawingml/2006/main">
              <a:ext uri="{FF2B5EF4-FFF2-40B4-BE49-F238E27FC236}">
                <a16:creationId xmlns:a16="http://schemas.microsoft.com/office/drawing/2014/main" id="{D106E49B-47E2-4C28-B0D1-6639D2B54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5429250"/>
            <a:ext cx="3857625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83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F8A63"/>
                </a:solidFill>
                <a:latin typeface="Arial"/>
                <a:ea typeface="Arial"/>
                <a:cs typeface="Arial"/>
              </a:defRPr>
            </a:pPr>
            <a:r>
              <a:t>Critical test: counters must reconcile after both skip and stop paths.</a:t>
            </a:r>
          </a:p>
        </p:txBody>
      </p:sp>
    </p:spTree>
    <p:extLst>
      <p:ext uri="{BB962C8B-B14F-4D97-AF65-F5344CB8AC3E}">
        <p14:creationId xmlns:p14="http://schemas.microsoft.com/office/powerpoint/2010/main" val="5101007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1">
            <a:extLst xmlns:a="http://schemas.openxmlformats.org/drawingml/2006/main">
              <a:ext uri="{FF2B5EF4-FFF2-40B4-BE49-F238E27FC236}">
                <a16:creationId xmlns:a16="http://schemas.microsoft.com/office/drawing/2014/main" id="{E308FB94-B97B-4CD0-A400-A842CB446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WEEK 4 | STUDENT PRACTICE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E54CFA0A-55B2-4730-B064-6F06DF21C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Two labs turn repetition into batch evidence</a:t>
            </a:r>
          </a:p>
        </p:txBody>
      </p:sp>
      <p:sp>
        <p:nvSpPr>
          <p:cNvPr id="3" name="header-rule-11">
            <a:extLst xmlns:a="http://schemas.openxmlformats.org/drawingml/2006/main">
              <a:ext uri="{FF2B5EF4-FFF2-40B4-BE49-F238E27FC236}">
                <a16:creationId xmlns:a16="http://schemas.microsoft.com/office/drawing/2014/main" id="{DC39F79E-D1DF-4129-8421-E02A7901C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EAF54168-8F26-4EEF-B00B-B4ABDDF58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11</a:t>
            </a:r>
          </a:p>
        </p:txBody>
      </p:sp>
      <p:sp>
        <p:nvSpPr>
          <p:cNvPr id="5" name="footer-11">
            <a:extLst xmlns:a="http://schemas.openxmlformats.org/drawingml/2006/main">
              <a:ext uri="{FF2B5EF4-FFF2-40B4-BE49-F238E27FC236}">
                <a16:creationId xmlns:a16="http://schemas.microsoft.com/office/drawing/2014/main" id="{62BE47A5-51B2-40B6-86C2-E2F093D5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lab1-panel">
            <a:extLst xmlns:a="http://schemas.openxmlformats.org/drawingml/2006/main">
              <a:ext uri="{FF2B5EF4-FFF2-40B4-BE49-F238E27FC236}">
                <a16:creationId xmlns:a16="http://schemas.microsoft.com/office/drawing/2014/main" id="{8AB1B801-3AF3-4277-A13A-4C8043B7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53340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7" name="lab2-panel">
            <a:extLst xmlns:a="http://schemas.openxmlformats.org/drawingml/2006/main">
              <a:ext uri="{FF2B5EF4-FFF2-40B4-BE49-F238E27FC236}">
                <a16:creationId xmlns:a16="http://schemas.microsoft.com/office/drawing/2014/main" id="{D1FE4433-1890-4F19-BE6D-031919F7E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5334000" cy="3286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8" name="lab1-label">
            <a:extLst xmlns:a="http://schemas.openxmlformats.org/drawingml/2006/main">
              <a:ext uri="{FF2B5EF4-FFF2-40B4-BE49-F238E27FC236}">
                <a16:creationId xmlns:a16="http://schemas.microsoft.com/office/drawing/2014/main" id="{2175BBE7-8AF3-4A10-84CC-6A43E6AB6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LAB 1</a:t>
            </a:r>
          </a:p>
        </p:txBody>
      </p:sp>
      <p:sp>
        <p:nvSpPr>
          <p:cNvPr id="9" name="lab1-title">
            <a:extLst xmlns:a="http://schemas.openxmlformats.org/drawingml/2006/main">
              <a:ext uri="{FF2B5EF4-FFF2-40B4-BE49-F238E27FC236}">
                <a16:creationId xmlns:a16="http://schemas.microsoft.com/office/drawing/2014/main" id="{7DC4A901-7AD9-4691-801C-3B3DB6E0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4286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Argument Batch Reporter</a:t>
            </a:r>
          </a:p>
        </p:txBody>
      </p:sp>
      <p:sp>
        <p:nvSpPr>
          <p:cNvPr id="10" name="lab1-list">
            <a:extLst xmlns:a="http://schemas.openxmlformats.org/drawingml/2006/main">
              <a:ext uri="{FF2B5EF4-FFF2-40B4-BE49-F238E27FC236}">
                <a16:creationId xmlns:a16="http://schemas.microsoft.com/office/drawing/2014/main" id="{118C2AF8-169F-4E1D-B2D9-94D4F68B2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Iterate over quoted "$@"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Number each item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Skip empty arguments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Maintain three counters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Verify zero and many inputs</a:t>
            </a:r>
          </a:p>
        </p:txBody>
      </p:sp>
      <p:sp>
        <p:nvSpPr>
          <p:cNvPr id="11" name="lab2-label">
            <a:extLst xmlns:a="http://schemas.openxmlformats.org/drawingml/2006/main">
              <a:ext uri="{FF2B5EF4-FFF2-40B4-BE49-F238E27FC236}">
                <a16:creationId xmlns:a16="http://schemas.microsoft.com/office/drawing/2014/main" id="{A94DB6B2-64C2-46CD-A6F7-3EF293B5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66950"/>
            <a:ext cx="1143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LAB 2</a:t>
            </a:r>
          </a:p>
        </p:txBody>
      </p:sp>
      <p:sp>
        <p:nvSpPr>
          <p:cNvPr id="12" name="lab2-title">
            <a:extLst xmlns:a="http://schemas.openxmlformats.org/drawingml/2006/main">
              <a:ext uri="{FF2B5EF4-FFF2-40B4-BE49-F238E27FC236}">
                <a16:creationId xmlns:a16="http://schemas.microsoft.com/office/drawing/2014/main" id="{82DF3DB1-938C-4965-A87C-68F85D04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62250"/>
            <a:ext cx="4381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Safe Batch Processor</a:t>
            </a:r>
          </a:p>
        </p:txBody>
      </p:sp>
      <p:sp>
        <p:nvSpPr>
          <p:cNvPr id="13" name="lab2-list">
            <a:extLst xmlns:a="http://schemas.openxmlformats.org/drawingml/2006/main">
              <a:ext uri="{FF2B5EF4-FFF2-40B4-BE49-F238E27FC236}">
                <a16:creationId xmlns:a16="http://schemas.microsoft.com/office/drawing/2014/main" id="{403E66A3-D2E3-4ADA-99D7-2D6E7E98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524250"/>
            <a:ext cx="41910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Classify multiple paths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Continue after missing paths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Support stop-on-error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Break intentionally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Reconcile the summary</a:t>
            </a:r>
          </a:p>
        </p:txBody>
      </p:sp>
      <p:sp>
        <p:nvSpPr>
          <p:cNvPr id="14" name="lab-proof-bg">
            <a:extLst xmlns:a="http://schemas.openxmlformats.org/drawingml/2006/main">
              <a:ext uri="{FF2B5EF4-FFF2-40B4-BE49-F238E27FC236}">
                <a16:creationId xmlns:a16="http://schemas.microsoft.com/office/drawing/2014/main" id="{0DF733BA-2AF6-44BA-ACD5-FB0E2298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24500"/>
            <a:ext cx="857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15" name="lab-proof">
            <a:extLst xmlns:a="http://schemas.openxmlformats.org/drawingml/2006/main">
              <a:ext uri="{FF2B5EF4-FFF2-40B4-BE49-F238E27FC236}">
                <a16:creationId xmlns:a16="http://schemas.microsoft.com/office/drawing/2014/main" id="{D887C452-8823-4D0F-B3E6-ABCEE6FB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38800"/>
            <a:ext cx="8191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Required proof: zero + one + many + spaces + continue + break + final counters</a:t>
            </a:r>
          </a:p>
        </p:txBody>
      </p:sp>
    </p:spTree>
    <p:extLst>
      <p:ext uri="{BB962C8B-B14F-4D97-AF65-F5344CB8AC3E}">
        <p14:creationId xmlns:p14="http://schemas.microsoft.com/office/powerpoint/2010/main" val="10815422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2">
            <a:extLst xmlns:a="http://schemas.openxmlformats.org/drawingml/2006/main">
              <a:ext uri="{FF2B5EF4-FFF2-40B4-BE49-F238E27FC236}">
                <a16:creationId xmlns:a16="http://schemas.microsoft.com/office/drawing/2014/main" id="{227ED9C2-4DDB-43F0-9A0A-F12DD078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"/>
            <a:ext cx="4000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W4 | CHECKPOINT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7279A2D4-F17B-4CE3-95F9-38F3E75D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23900"/>
            <a:ext cx="10668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Milestone M4: repeat, count, skip, stop, and report</a:t>
            </a:r>
          </a:p>
        </p:txBody>
      </p:sp>
      <p:sp>
        <p:nvSpPr>
          <p:cNvPr id="3" name="header-rule-12">
            <a:extLst xmlns:a="http://schemas.openxmlformats.org/drawingml/2006/main">
              <a:ext uri="{FF2B5EF4-FFF2-40B4-BE49-F238E27FC236}">
                <a16:creationId xmlns:a16="http://schemas.microsoft.com/office/drawing/2014/main" id="{F4DBF4A3-1F0B-44D2-8C17-2E69E999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525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8AAFF38F-9167-4CA3-A2C1-B077EC56A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38875"/>
            <a:ext cx="4953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12</a:t>
            </a:r>
          </a:p>
        </p:txBody>
      </p:sp>
      <p:sp>
        <p:nvSpPr>
          <p:cNvPr id="5" name="footer-12">
            <a:extLst xmlns:a="http://schemas.openxmlformats.org/drawingml/2006/main">
              <a:ext uri="{FF2B5EF4-FFF2-40B4-BE49-F238E27FC236}">
                <a16:creationId xmlns:a16="http://schemas.microsoft.com/office/drawing/2014/main" id="{58E273CA-1FCD-40CF-8FBB-0946589A4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38875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Muhammad Khalid Khan</a:t>
            </a:r>
          </a:p>
        </p:txBody>
      </p:sp>
      <p:sp>
        <p:nvSpPr>
          <p:cNvPr id="6" name="milestone-title">
            <a:extLst xmlns:a="http://schemas.openxmlformats.org/drawingml/2006/main">
              <a:ext uri="{FF2B5EF4-FFF2-40B4-BE49-F238E27FC236}">
                <a16:creationId xmlns:a16="http://schemas.microsoft.com/office/drawing/2014/main" id="{1B16BE1C-17F9-4329-BC54-DFB1160E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4095750" cy="16668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BATCH</a:t>
            </a:r>
          </a:p>
          <a:p xmlns:a="http://schemas.openxmlformats.org/drawingml/2006/main">
            <a:pPr algn="l">
              <a:buNone/>
              <a:defRPr sz="4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PROCESSOR</a:t>
            </a:r>
          </a:p>
        </p:txBody>
      </p:sp>
      <p:sp>
        <p:nvSpPr>
          <p:cNvPr id="7" name="milestone-body">
            <a:extLst xmlns:a="http://schemas.openxmlformats.org/drawingml/2006/main">
              <a:ext uri="{FF2B5EF4-FFF2-40B4-BE49-F238E27FC236}">
                <a16:creationId xmlns:a16="http://schemas.microsoft.com/office/drawing/2014/main" id="{5BC7E257-8291-4E48-8159-791CE43D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44767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You are ready when every item stays intact, counters reconcile, and the loop always terminates.</a:t>
            </a:r>
          </a:p>
        </p:txBody>
      </p:sp>
      <p:sp>
        <p:nvSpPr>
          <p:cNvPr id="8" name="checkpoint-01">
            <a:extLst xmlns:a="http://schemas.openxmlformats.org/drawingml/2006/main">
              <a:ext uri="{FF2B5EF4-FFF2-40B4-BE49-F238E27FC236}">
                <a16:creationId xmlns:a16="http://schemas.microsoft.com/office/drawing/2014/main" id="{0C8A73AD-FB50-45A7-9322-C9A00141D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000250"/>
            <a:ext cx="571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9" name="checkpoint-num-01">
            <a:extLst xmlns:a="http://schemas.openxmlformats.org/drawingml/2006/main">
              <a:ext uri="{FF2B5EF4-FFF2-40B4-BE49-F238E27FC236}">
                <a16:creationId xmlns:a16="http://schemas.microsoft.com/office/drawing/2014/main" id="{B0D19891-E9CF-460F-BFF1-753739E98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2885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10" name="checkpoint-title-01">
            <a:extLst xmlns:a="http://schemas.openxmlformats.org/drawingml/2006/main">
              <a:ext uri="{FF2B5EF4-FFF2-40B4-BE49-F238E27FC236}">
                <a16:creationId xmlns:a16="http://schemas.microsoft.com/office/drawing/2014/main" id="{DFCEFA17-7B0D-4FD2-A166-2221E93EE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162175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ITERATE</a:t>
            </a:r>
          </a:p>
        </p:txBody>
      </p:sp>
      <p:sp>
        <p:nvSpPr>
          <p:cNvPr id="11" name="checkpoint-body-01">
            <a:extLst xmlns:a="http://schemas.openxmlformats.org/drawingml/2006/main">
              <a:ext uri="{FF2B5EF4-FFF2-40B4-BE49-F238E27FC236}">
                <a16:creationId xmlns:a16="http://schemas.microsoft.com/office/drawing/2014/main" id="{3421AA71-2B40-43E1-A1EB-C438F6D1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476500"/>
            <a:ext cx="419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Correct loop + safe item source</a:t>
            </a:r>
          </a:p>
        </p:txBody>
      </p:sp>
      <p:sp>
        <p:nvSpPr>
          <p:cNvPr id="12" name="checkpoint-02">
            <a:extLst xmlns:a="http://schemas.openxmlformats.org/drawingml/2006/main">
              <a:ext uri="{FF2B5EF4-FFF2-40B4-BE49-F238E27FC236}">
                <a16:creationId xmlns:a16="http://schemas.microsoft.com/office/drawing/2014/main" id="{CAC41DB2-341C-41D8-B8DE-62CDE116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95625"/>
            <a:ext cx="571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solidFill>
              <a:srgbClr val="EDEDED"/>
            </a:solidFill>
            <a:prstDash val="solid"/>
          </a:ln>
        </p:spPr>
      </p:sp>
      <p:sp>
        <p:nvSpPr>
          <p:cNvPr id="13" name="checkpoint-num-02">
            <a:extLst xmlns:a="http://schemas.openxmlformats.org/drawingml/2006/main">
              <a:ext uri="{FF2B5EF4-FFF2-40B4-BE49-F238E27FC236}">
                <a16:creationId xmlns:a16="http://schemas.microsoft.com/office/drawing/2014/main" id="{49C60BDA-395B-4F8D-AE74-0C0DEC07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24225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4" name="checkpoint-title-02">
            <a:extLst xmlns:a="http://schemas.openxmlformats.org/drawingml/2006/main">
              <a:ext uri="{FF2B5EF4-FFF2-40B4-BE49-F238E27FC236}">
                <a16:creationId xmlns:a16="http://schemas.microsoft.com/office/drawing/2014/main" id="{7AAC14B9-C1E1-4F37-9526-BD0345E7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57550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CONTROL</a:t>
            </a:r>
          </a:p>
        </p:txBody>
      </p:sp>
      <p:sp>
        <p:nvSpPr>
          <p:cNvPr id="15" name="checkpoint-body-02">
            <a:extLst xmlns:a="http://schemas.openxmlformats.org/drawingml/2006/main">
              <a:ext uri="{FF2B5EF4-FFF2-40B4-BE49-F238E27FC236}">
                <a16:creationId xmlns:a16="http://schemas.microsoft.com/office/drawing/2014/main" id="{0E031E6F-0737-4D36-B551-5D5EBE08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71875"/>
            <a:ext cx="419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Accurate counters + continue or break</a:t>
            </a:r>
          </a:p>
        </p:txBody>
      </p:sp>
      <p:sp>
        <p:nvSpPr>
          <p:cNvPr id="16" name="checkpoint-03">
            <a:extLst xmlns:a="http://schemas.openxmlformats.org/drawingml/2006/main">
              <a:ext uri="{FF2B5EF4-FFF2-40B4-BE49-F238E27FC236}">
                <a16:creationId xmlns:a16="http://schemas.microsoft.com/office/drawing/2014/main" id="{391C2D55-DB18-481B-B3E9-3427F7F7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91000"/>
            <a:ext cx="57150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7" name="checkpoint-num-03">
            <a:extLst xmlns:a="http://schemas.openxmlformats.org/drawingml/2006/main">
              <a:ext uri="{FF2B5EF4-FFF2-40B4-BE49-F238E27FC236}">
                <a16:creationId xmlns:a16="http://schemas.microsoft.com/office/drawing/2014/main" id="{440FC51A-9B95-4E28-922D-70487DE6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19600"/>
            <a:ext cx="4572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8" name="checkpoint-title-03">
            <a:extLst xmlns:a="http://schemas.openxmlformats.org/drawingml/2006/main">
              <a:ext uri="{FF2B5EF4-FFF2-40B4-BE49-F238E27FC236}">
                <a16:creationId xmlns:a16="http://schemas.microsoft.com/office/drawing/2014/main" id="{93B5C000-5C51-4A16-8DF2-BE78BA5E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352925"/>
            <a:ext cx="17145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REPORT</a:t>
            </a:r>
          </a:p>
        </p:txBody>
      </p:sp>
      <p:sp>
        <p:nvSpPr>
          <p:cNvPr id="19" name="checkpoint-body-03">
            <a:extLst xmlns:a="http://schemas.openxmlformats.org/drawingml/2006/main">
              <a:ext uri="{FF2B5EF4-FFF2-40B4-BE49-F238E27FC236}">
                <a16:creationId xmlns:a16="http://schemas.microsoft.com/office/drawing/2014/main" id="{79936B4E-F624-46B3-BF8D-DA03333D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67250"/>
            <a:ext cx="4191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Summary + documented exit status</a:t>
            </a:r>
          </a:p>
        </p:txBody>
      </p:sp>
      <p:sp>
        <p:nvSpPr>
          <p:cNvPr id="20" name="checkpoint-rule">
            <a:extLst xmlns:a="http://schemas.openxmlformats.org/drawingml/2006/main">
              <a:ext uri="{FF2B5EF4-FFF2-40B4-BE49-F238E27FC236}">
                <a16:creationId xmlns:a16="http://schemas.microsoft.com/office/drawing/2014/main" id="{A528CBD3-4067-4F72-92B8-030BB8155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1" name="checkpoint-next">
            <a:extLst xmlns:a="http://schemas.openxmlformats.org/drawingml/2006/main">
              <a:ext uri="{FF2B5EF4-FFF2-40B4-BE49-F238E27FC236}">
                <a16:creationId xmlns:a16="http://schemas.microsoft.com/office/drawing/2014/main" id="{9042D912-1889-431D-9AC0-F4CA5E81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57875"/>
            <a:ext cx="9525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t>NEXT: Week 5 adds functions, parameters, return status, and reusable design.</a:t>
            </a:r>
          </a:p>
        </p:txBody>
      </p:sp>
    </p:spTree>
    <p:extLst>
      <p:ext uri="{BB962C8B-B14F-4D97-AF65-F5344CB8AC3E}">
        <p14:creationId xmlns:p14="http://schemas.microsoft.com/office/powerpoint/2010/main" val="7299673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2026-07-14T22:23:02.2430000Z</dcterms:created>
  <dcterms:modified xsi:type="dcterms:W3CDTF">2026-07-14T22:23:02.2430000Z</dcterms:modified>
</coreProperties>
</file>