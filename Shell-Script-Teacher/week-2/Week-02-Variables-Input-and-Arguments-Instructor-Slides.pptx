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973b587c445aa" /><Relationship Type="http://schemas.openxmlformats.org/officeDocument/2006/relationships/extended-properties" Target="/docProps/app.xml" Id="Rdacca472bf52440b" /><Relationship Type="http://schemas.openxmlformats.org/officeDocument/2006/relationships/officeDocument" Target="/ppt/presentation.xml" Id="R5d38ffbde8ab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4a30d9d574d56"/>
  </p:sldMasterIdLst>
  <p:notesMasterIdLst>
    <p:notesMasterId xmlns:r="http://schemas.openxmlformats.org/officeDocument/2006/relationships" r:id="Rf9562955521d4913"/>
  </p:notesMasterIdLst>
  <p:sldIdLst>
    <p:sldId xmlns:r="http://schemas.openxmlformats.org/officeDocument/2006/relationships" id="256" r:id="Ra513148e6cd9434a"/>
    <p:sldId xmlns:r="http://schemas.openxmlformats.org/officeDocument/2006/relationships" id="257" r:id="Rc047c565bdf44458"/>
    <p:sldId xmlns:r="http://schemas.openxmlformats.org/officeDocument/2006/relationships" id="258" r:id="Rcb72c697739542df"/>
    <p:sldId xmlns:r="http://schemas.openxmlformats.org/officeDocument/2006/relationships" id="259" r:id="R0d9bf11dfa5f4722"/>
    <p:sldId xmlns:r="http://schemas.openxmlformats.org/officeDocument/2006/relationships" id="260" r:id="R4ffe4e4ac0d9428e"/>
    <p:sldId xmlns:r="http://schemas.openxmlformats.org/officeDocument/2006/relationships" id="261" r:id="R00cb7cd7d5234d1b"/>
    <p:sldId xmlns:r="http://schemas.openxmlformats.org/officeDocument/2006/relationships" id="262" r:id="Rf0371d1ac63941db"/>
    <p:sldId xmlns:r="http://schemas.openxmlformats.org/officeDocument/2006/relationships" id="263" r:id="R1538f26d985a48ff"/>
    <p:sldId xmlns:r="http://schemas.openxmlformats.org/officeDocument/2006/relationships" id="264" r:id="Ra0ed9d8d302c46c1"/>
    <p:sldId xmlns:r="http://schemas.openxmlformats.org/officeDocument/2006/relationships" id="265" r:id="R73beffde4f4a4d3f"/>
    <p:sldId xmlns:r="http://schemas.openxmlformats.org/officeDocument/2006/relationships" id="266" r:id="R9a02b7a7c57d482d"/>
    <p:sldId xmlns:r="http://schemas.openxmlformats.org/officeDocument/2006/relationships" id="267" r:id="R10add28932bc44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6e52cc9944de6" /><Relationship Type="http://schemas.openxmlformats.org/officeDocument/2006/relationships/slideMaster" Target="/ppt/slideMasters/slideMaster1.xml" Id="R1444a30d9d574d56" /><Relationship Type="http://schemas.openxmlformats.org/officeDocument/2006/relationships/notesMaster" Target="/ppt/notesMasters/notesMaster1.xml" Id="Rf9562955521d4913" /><Relationship Type="http://schemas.openxmlformats.org/officeDocument/2006/relationships/presProps" Target="/ppt/presProps.xml" Id="Rcbcbe0ead0a84fa7" /><Relationship Type="http://schemas.openxmlformats.org/officeDocument/2006/relationships/tableStyles" Target="/ppt/tableStyles.xml" Id="R0c63161126bf44e4" /><Relationship Type="http://schemas.openxmlformats.org/officeDocument/2006/relationships/slide" Target="/ppt/slides/slide1.xml" Id="Ra513148e6cd9434a" /><Relationship Type="http://schemas.openxmlformats.org/officeDocument/2006/relationships/slide" Target="/ppt/slides/slide2.xml" Id="Rc047c565bdf44458" /><Relationship Type="http://schemas.openxmlformats.org/officeDocument/2006/relationships/slide" Target="/ppt/slides/slide3.xml" Id="Rcb72c697739542df" /><Relationship Type="http://schemas.openxmlformats.org/officeDocument/2006/relationships/slide" Target="/ppt/slides/slide4.xml" Id="R0d9bf11dfa5f4722" /><Relationship Type="http://schemas.openxmlformats.org/officeDocument/2006/relationships/slide" Target="/ppt/slides/slide5.xml" Id="R4ffe4e4ac0d9428e" /><Relationship Type="http://schemas.openxmlformats.org/officeDocument/2006/relationships/slide" Target="/ppt/slides/slide6.xml" Id="R00cb7cd7d5234d1b" /><Relationship Type="http://schemas.openxmlformats.org/officeDocument/2006/relationships/slide" Target="/ppt/slides/slide7.xml" Id="Rf0371d1ac63941db" /><Relationship Type="http://schemas.openxmlformats.org/officeDocument/2006/relationships/slide" Target="/ppt/slides/slide8.xml" Id="R1538f26d985a48ff" /><Relationship Type="http://schemas.openxmlformats.org/officeDocument/2006/relationships/slide" Target="/ppt/slides/slide9.xml" Id="Ra0ed9d8d302c46c1" /><Relationship Type="http://schemas.openxmlformats.org/officeDocument/2006/relationships/slide" Target="/ppt/slides/slide10.xml" Id="R73beffde4f4a4d3f" /><Relationship Type="http://schemas.openxmlformats.org/officeDocument/2006/relationships/slide" Target="/ppt/slides/slide11.xml" Id="R9a02b7a7c57d482d" /><Relationship Type="http://schemas.openxmlformats.org/officeDocument/2006/relationships/slide" Target="/ppt/slides/slide12.xml" Id="R10add28932bc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9b0beaf55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a2febdaa834ae3" /><Relationship Type="http://schemas.openxmlformats.org/officeDocument/2006/relationships/notesMaster" Target="/ppt/notesMasters/notesMaster1.xml" Id="Rd80410b76f76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74328307d24e7e" /><Relationship Type="http://schemas.openxmlformats.org/officeDocument/2006/relationships/notesMaster" Target="/ppt/notesMasters/notesMaster1.xml" Id="R88179eb79cfc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44f1a2fb9f4362" /><Relationship Type="http://schemas.openxmlformats.org/officeDocument/2006/relationships/notesMaster" Target="/ppt/notesMasters/notesMaster1.xml" Id="R387b8c046d8641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5e73467b544c4" /><Relationship Type="http://schemas.openxmlformats.org/officeDocument/2006/relationships/notesMaster" Target="/ppt/notesMasters/notesMaster1.xml" Id="Rfda22381387d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1ab77994e4a5e" /><Relationship Type="http://schemas.openxmlformats.org/officeDocument/2006/relationships/notesMaster" Target="/ppt/notesMasters/notesMaster1.xml" Id="Rc7dc9440f75e42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7e6b1a3e6f4e67" /><Relationship Type="http://schemas.openxmlformats.org/officeDocument/2006/relationships/notesMaster" Target="/ppt/notesMasters/notesMaster1.xml" Id="Rfdf30b7030a641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146bc898534f68" /><Relationship Type="http://schemas.openxmlformats.org/officeDocument/2006/relationships/notesMaster" Target="/ppt/notesMasters/notesMaster1.xml" Id="R7366d15c71624b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e9429de2fd4104" /><Relationship Type="http://schemas.openxmlformats.org/officeDocument/2006/relationships/notesMaster" Target="/ppt/notesMasters/notesMaster1.xml" Id="R35c4b312cd3a4a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620ca17cd44584" /><Relationship Type="http://schemas.openxmlformats.org/officeDocument/2006/relationships/notesMaster" Target="/ppt/notesMasters/notesMaster1.xml" Id="R3efa6159a539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83efcefcac456a" /><Relationship Type="http://schemas.openxmlformats.org/officeDocument/2006/relationships/notesMaster" Target="/ppt/notesMasters/notesMaster1.xml" Id="R9d9b027024d04d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3d2080e9654671" /><Relationship Type="http://schemas.openxmlformats.org/officeDocument/2006/relationships/notesMaster" Target="/ppt/notesMasters/notesMaster1.xml" Id="Rd718d22bfa0c46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a682369b4b4465" /><Relationship Type="http://schemas.openxmlformats.org/officeDocument/2006/relationships/notesMaster" Target="/ppt/notesMasters/notesMaster1.xml" Id="R4c7177f75c7d4d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Week 2 to Week 1: scripts now receive and transform data.</a:t>
            </a:r>
          </a:p>
          <a:p xmlns:a="http://schemas.openxmlformats.org/drawingml/2006/main">
            <a:r>
              <a:t>State the milestone: students must preserve spaces and reject bad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outcomes as evidence students will produce.</a:t>
            </a:r>
          </a:p>
          <a:p xmlns:a="http://schemas.openxmlformats.org/drawingml/2006/main">
            <a:r>
              <a:t>Ask which input source is interactive and which is automation-friendly.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assignment, expansion, and output with one full name.</a:t>
            </a:r>
          </a:p>
          <a:p xmlns:a="http://schemas.openxmlformats.org/drawingml/2006/main">
            <a:r>
              <a:t>Ask why the value is quoted during expansion.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four-stage model for every Week 2 lab.</a:t>
            </a:r>
          </a:p>
          <a:p xmlns:a="http://schemas.openxmlformats.org/drawingml/2006/main">
            <a:r>
              <a:t>Ask what should happen when validation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no-spaces rule around equals.</a:t>
            </a:r>
          </a:p>
          <a:p xmlns:a="http://schemas.openxmlformats.org/drawingml/2006/main">
            <a:r>
              <a:t>Explain braces as a boundary marker, not a different variable type.</a:t>
            </a:r>
          </a:p>
          <a:p xmlns:a="http://schemas.openxmlformats.org/drawingml/2006/main">
            <a:r>
              <a:t>Preview command substitution as run first, then capture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variable-quoting-demo.sh script.</a:t>
            </a:r>
          </a:p>
          <a:p xmlns:a="http://schemas.openxmlformats.org/drawingml/2006/main">
            <a:r>
              <a:t>Ask students to predict literal versus expanded output.</a:t>
            </a:r>
          </a:p>
          <a:p xmlns:a="http://schemas.openxmlformats.org/drawingml/2006/main">
            <a:r>
              <a:t>Show unquoted expansion only as a risk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interactive-server-greeting.sh script.</a:t>
            </a:r>
          </a:p>
          <a:p xmlns:a="http://schemas.openxmlformats.org/drawingml/2006/main">
            <a:r>
              <a:t>Test a full name, backslash input, and empty input.</a:t>
            </a:r>
          </a:p>
          <a:p xmlns:a="http://schemas.openxmlformats.org/drawingml/2006/main">
            <a:r>
              <a:t>Require students to explain read -r and -z.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read, validate, and use as separate responsibilities.</a:t>
            </a:r>
          </a:p>
          <a:p xmlns:a="http://schemas.openxmlformats.org/drawingml/2006/main">
            <a:r>
              <a:t>Ask whether a prompt guarantees valid input. Expected: 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argument-demo.sh with a quoted first argument.</a:t>
            </a:r>
          </a:p>
          <a:p xmlns:a="http://schemas.openxmlformats.org/drawingml/2006/main">
            <a:r>
              <a:t>Map each token to $0, $1, $2, and $#.</a:t>
            </a:r>
          </a:p>
          <a:p xmlns:a="http://schemas.openxmlformats.org/drawingml/2006/main">
            <a:r>
              <a:t>Emphasize quoted $@ as the safe all-arguments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a file named server report.txt before the demo.</a:t>
            </a:r>
          </a:p>
          <a:p xmlns:a="http://schemas.openxmlformats.org/drawingml/2006/main">
            <a:r>
              <a:t>Test normal, missing, and no-argument invocations.</a:t>
            </a:r>
          </a:p>
          <a:p xmlns:a="http://schemas.openxmlformats.org/drawingml/2006/main">
            <a:r>
              <a:t>Ask why the script checks $# before reading $1.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Week-02-Student-Labs.md.</a:t>
            </a:r>
          </a:p>
          <a:p xmlns:a="http://schemas.openxmlformats.org/drawingml/2006/main">
            <a:r>
              <a:t>Require a spaces test and a failure-path test for each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practical checkpoint in the assessment file.</a:t>
            </a:r>
          </a:p>
          <a:p xmlns:a="http://schemas.openxmlformats.org/drawingml/2006/main">
            <a:r>
              <a:t>Award M2 only when the student explains quoting and validation.</a:t>
            </a:r>
          </a:p>
          <a:p xmlns:a="http://schemas.openxmlformats.org/drawingml/2006/main">
            <a:r>
              <a:t>Preview Week 3 decisions and conditionals.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521aa3d8244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b0770e7434983" /><Relationship Type="http://schemas.openxmlformats.org/officeDocument/2006/relationships/slideLayout" Target="/ppt/slideLayouts/slideLayout1.xml" Id="R158e07468876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8e07468876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b9b6ec5ba4e20" /><Relationship Type="http://schemas.openxmlformats.org/officeDocument/2006/relationships/notesSlide" Target="/ppt/notesSlides/notesSlide1.xml" Id="R274aac387407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3f08201ef4f94" /><Relationship Type="http://schemas.openxmlformats.org/officeDocument/2006/relationships/notesSlide" Target="/ppt/notesSlides/notesSlide2.xml" Id="R1c441c16d1f143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806a61b624cb7" /><Relationship Type="http://schemas.openxmlformats.org/officeDocument/2006/relationships/notesSlide" Target="/ppt/notesSlides/notesSlide3.xml" Id="Rea3c69677772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7635b20ad4d88" /><Relationship Type="http://schemas.openxmlformats.org/officeDocument/2006/relationships/notesSlide" Target="/ppt/notesSlides/notesSlide4.xml" Id="Racfb61e6e94b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1273cd8ce41e0" /><Relationship Type="http://schemas.openxmlformats.org/officeDocument/2006/relationships/notesSlide" Target="/ppt/notesSlides/notesSlide5.xml" Id="Rf386a33746e840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ac66ba8654849" /><Relationship Type="http://schemas.openxmlformats.org/officeDocument/2006/relationships/notesSlide" Target="/ppt/notesSlides/notesSlide6.xml" Id="Rffb3c221e6754a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0f45646304d4a" /><Relationship Type="http://schemas.openxmlformats.org/officeDocument/2006/relationships/notesSlide" Target="/ppt/notesSlides/notesSlide7.xml" Id="R565576815f2341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9b8eb46049e3" /><Relationship Type="http://schemas.openxmlformats.org/officeDocument/2006/relationships/notesSlide" Target="/ppt/notesSlides/notesSlide8.xml" Id="R6146ca3ec16a4d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2d1b4cc524b2a" /><Relationship Type="http://schemas.openxmlformats.org/officeDocument/2006/relationships/notesSlide" Target="/ppt/notesSlides/notesSlide9.xml" Id="R5d000672828840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b516764714540" /><Relationship Type="http://schemas.openxmlformats.org/officeDocument/2006/relationships/notesSlide" Target="/ppt/notesSlides/notesSlide10.xml" Id="Re14fdcda994f4e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d57e0833b471d" /><Relationship Type="http://schemas.openxmlformats.org/officeDocument/2006/relationships/notesSlide" Target="/ppt/notesSlides/notesSlide11.xml" Id="Rff4e9982ccb74b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eb259c86f4041" /><Relationship Type="http://schemas.openxmlformats.org/officeDocument/2006/relationships/notesSlide" Target="/ppt/notesSlides/notesSlide12.xml" Id="R07303e815012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29C4EF9-3148-4EDC-A53D-CADEEAA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9B2893C-FB00-423C-A557-A5262FA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F11F62-AAF8-4B6A-9957-FBF04B74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382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Week 2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Variables and Input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7B6EA8-D094-430E-A709-F4A3E76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781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Store, protect, validate, and use script data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66B110D6-30AB-4625-958B-04D3A2A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AD1948E2-DEEB-490A-B505-000C7ABE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90-minute lessons  |  Milestone M2: Input Handler</a:t>
            </a:r>
          </a:p>
        </p:txBody>
      </p:sp>
      <p:sp>
        <p:nvSpPr>
          <p:cNvPr id="7" name="cover-instructor">
            <a:extLst xmlns:a="http://schemas.openxmlformats.org/drawingml/2006/main">
              <a:ext uri="{FF2B5EF4-FFF2-40B4-BE49-F238E27FC236}">
                <a16:creationId xmlns:a16="http://schemas.microsoft.com/office/drawing/2014/main" id="{7529F661-7ED4-4516-8D8B-9AEE920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Instructor: Muhammad Khalid Khan</a:t>
            </a:r>
          </a:p>
        </p:txBody>
      </p:sp>
    </p:spTree>
    <p:extLst>
      <p:ext uri="{BB962C8B-B14F-4D97-AF65-F5344CB8AC3E}">
        <p14:creationId xmlns:p14="http://schemas.microsoft.com/office/powerpoint/2010/main" val="1131664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EB155FB7-DA7E-4412-8798-ABF492A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63FC082-5C44-4E1B-816B-18939B4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By the end of Week 2, you can control script input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A31ECC28-15D7-4F07-9D50-57C3ADF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C9A45C8-F802-42EC-AD55-1DE2207A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D38D3D57-282B-47DD-A858-3906774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EDA781FF-6709-42AF-B154-FA986A6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outcome-num-text-1">
            <a:extLst xmlns:a="http://schemas.openxmlformats.org/drawingml/2006/main">
              <a:ext uri="{FF2B5EF4-FFF2-40B4-BE49-F238E27FC236}">
                <a16:creationId xmlns:a16="http://schemas.microsoft.com/office/drawing/2014/main" id="{21136BE8-C515-4B6B-8868-0A2F441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outcome-text-1">
            <a:extLst xmlns:a="http://schemas.openxmlformats.org/drawingml/2006/main">
              <a:ext uri="{FF2B5EF4-FFF2-40B4-BE49-F238E27FC236}">
                <a16:creationId xmlns:a16="http://schemas.microsoft.com/office/drawing/2014/main" id="{C7FD2EB6-2E43-410F-832A-D6248DE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Create and expand variables correctly</a:t>
            </a:r>
          </a:p>
        </p:txBody>
      </p:sp>
      <p:sp>
        <p:nvSpPr>
          <p:cNvPr id="9" name="outcome-rule-1">
            <a:extLst xmlns:a="http://schemas.openxmlformats.org/drawingml/2006/main">
              <a:ext uri="{FF2B5EF4-FFF2-40B4-BE49-F238E27FC236}">
                <a16:creationId xmlns:a16="http://schemas.microsoft.com/office/drawing/2014/main" id="{88E3E2B5-2DE0-4E8F-A32F-4215672A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CD01714D-FEA7-4428-8D84-079D86B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outcome-num-text-2">
            <a:extLst xmlns:a="http://schemas.openxmlformats.org/drawingml/2006/main">
              <a:ext uri="{FF2B5EF4-FFF2-40B4-BE49-F238E27FC236}">
                <a16:creationId xmlns:a16="http://schemas.microsoft.com/office/drawing/2014/main" id="{8D7FD6D3-C485-49F3-9CCF-509D5BE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outcome-text-2">
            <a:extLst xmlns:a="http://schemas.openxmlformats.org/drawingml/2006/main">
              <a:ext uri="{FF2B5EF4-FFF2-40B4-BE49-F238E27FC236}">
                <a16:creationId xmlns:a16="http://schemas.microsoft.com/office/drawing/2014/main" id="{AC627734-9853-418E-ABC0-6AA34CF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Compare unquoted, single-quoted, and double-quoted text</a:t>
            </a:r>
          </a:p>
        </p:txBody>
      </p:sp>
      <p:sp>
        <p:nvSpPr>
          <p:cNvPr id="13" name="outcome-rule-2">
            <a:extLst xmlns:a="http://schemas.openxmlformats.org/drawingml/2006/main">
              <a:ext uri="{FF2B5EF4-FFF2-40B4-BE49-F238E27FC236}">
                <a16:creationId xmlns:a16="http://schemas.microsoft.com/office/drawing/2014/main" id="{727A6B94-9BDF-453C-A419-4BA5B41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D026C946-011F-4984-90F1-AFD987C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outcome-num-text-3">
            <a:extLst xmlns:a="http://schemas.openxmlformats.org/drawingml/2006/main">
              <a:ext uri="{FF2B5EF4-FFF2-40B4-BE49-F238E27FC236}">
                <a16:creationId xmlns:a16="http://schemas.microsoft.com/office/drawing/2014/main" id="{CE511409-81CB-462E-91B5-31D8AE4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outcome-text-3">
            <a:extLst xmlns:a="http://schemas.openxmlformats.org/drawingml/2006/main">
              <a:ext uri="{FF2B5EF4-FFF2-40B4-BE49-F238E27FC236}">
                <a16:creationId xmlns:a16="http://schemas.microsoft.com/office/drawing/2014/main" id="{9590294A-3511-4526-A530-B2AE28B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289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Capture command output with $(command)</a:t>
            </a:r>
          </a:p>
        </p:txBody>
      </p:sp>
      <p:sp>
        <p:nvSpPr>
          <p:cNvPr id="17" name="outcome-rule-3">
            <a:extLst xmlns:a="http://schemas.openxmlformats.org/drawingml/2006/main">
              <a:ext uri="{FF2B5EF4-FFF2-40B4-BE49-F238E27FC236}">
                <a16:creationId xmlns:a16="http://schemas.microsoft.com/office/drawing/2014/main" id="{BDFA86D9-CD1B-4555-B442-A193CE9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outcome-number-4">
            <a:extLst xmlns:a="http://schemas.openxmlformats.org/drawingml/2006/main">
              <a:ext uri="{FF2B5EF4-FFF2-40B4-BE49-F238E27FC236}">
                <a16:creationId xmlns:a16="http://schemas.microsoft.com/office/drawing/2014/main" id="{DF8186AB-D085-45EE-B87C-09D6E95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outcome-num-text-4">
            <a:extLst xmlns:a="http://schemas.openxmlformats.org/drawingml/2006/main">
              <a:ext uri="{FF2B5EF4-FFF2-40B4-BE49-F238E27FC236}">
                <a16:creationId xmlns:a16="http://schemas.microsoft.com/office/drawing/2014/main" id="{F63FA980-8719-439B-8E91-BF05B7C5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outcome-text-4">
            <a:extLst xmlns:a="http://schemas.openxmlformats.org/drawingml/2006/main">
              <a:ext uri="{FF2B5EF4-FFF2-40B4-BE49-F238E27FC236}">
                <a16:creationId xmlns:a16="http://schemas.microsoft.com/office/drawing/2014/main" id="{180B6F4C-5801-43DE-A5E9-4593C3E4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Accept interactive input with read -r</a:t>
            </a:r>
          </a:p>
        </p:txBody>
      </p:sp>
      <p:sp>
        <p:nvSpPr>
          <p:cNvPr id="21" name="outcome-rule-4">
            <a:extLst xmlns:a="http://schemas.openxmlformats.org/drawingml/2006/main">
              <a:ext uri="{FF2B5EF4-FFF2-40B4-BE49-F238E27FC236}">
                <a16:creationId xmlns:a16="http://schemas.microsoft.com/office/drawing/2014/main" id="{DB3DA7BD-8DEF-4251-858D-200C26B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outcome-number-5">
            <a:extLst xmlns:a="http://schemas.openxmlformats.org/drawingml/2006/main">
              <a:ext uri="{FF2B5EF4-FFF2-40B4-BE49-F238E27FC236}">
                <a16:creationId xmlns:a16="http://schemas.microsoft.com/office/drawing/2014/main" id="{8E95CFD8-E784-4674-BB26-E0F338B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3" name="outcome-num-text-5">
            <a:extLst xmlns:a="http://schemas.openxmlformats.org/drawingml/2006/main">
              <a:ext uri="{FF2B5EF4-FFF2-40B4-BE49-F238E27FC236}">
                <a16:creationId xmlns:a16="http://schemas.microsoft.com/office/drawing/2014/main" id="{6C040571-E3F0-478D-BAED-AB7DAC4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4" name="outcome-text-5">
            <a:extLst xmlns:a="http://schemas.openxmlformats.org/drawingml/2006/main">
              <a:ext uri="{FF2B5EF4-FFF2-40B4-BE49-F238E27FC236}">
                <a16:creationId xmlns:a16="http://schemas.microsoft.com/office/drawing/2014/main" id="{F5BBCB94-6096-44F9-B4E3-7D3F9FC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$0, $1, $#, and quoted $@</a:t>
            </a:r>
          </a:p>
        </p:txBody>
      </p:sp>
      <p:sp>
        <p:nvSpPr>
          <p:cNvPr id="25" name="outcome-rule-5">
            <a:extLst xmlns:a="http://schemas.openxmlformats.org/drawingml/2006/main">
              <a:ext uri="{FF2B5EF4-FFF2-40B4-BE49-F238E27FC236}">
                <a16:creationId xmlns:a16="http://schemas.microsoft.com/office/drawing/2014/main" id="{F32DA851-84E8-40D2-83D0-0BA9EDF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outcome-number-6">
            <a:extLst xmlns:a="http://schemas.openxmlformats.org/drawingml/2006/main">
              <a:ext uri="{FF2B5EF4-FFF2-40B4-BE49-F238E27FC236}">
                <a16:creationId xmlns:a16="http://schemas.microsoft.com/office/drawing/2014/main" id="{DE36D6C3-8886-42D7-A63A-6A02A3E8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outcome-num-text-6">
            <a:extLst xmlns:a="http://schemas.openxmlformats.org/drawingml/2006/main">
              <a:ext uri="{FF2B5EF4-FFF2-40B4-BE49-F238E27FC236}">
                <a16:creationId xmlns:a16="http://schemas.microsoft.com/office/drawing/2014/main" id="{FAFB0493-535E-475A-9B67-CFD72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8" name="outcome-text-6">
            <a:extLst xmlns:a="http://schemas.openxmlformats.org/drawingml/2006/main">
              <a:ext uri="{FF2B5EF4-FFF2-40B4-BE49-F238E27FC236}">
                <a16:creationId xmlns:a16="http://schemas.microsoft.com/office/drawing/2014/main" id="{45BCFF60-D6CC-42F8-AEE5-F628F16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292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 arguments and preserve spaces</a:t>
            </a:r>
          </a:p>
        </p:txBody>
      </p:sp>
      <p:sp>
        <p:nvSpPr>
          <p:cNvPr id="29" name="outcome-rule-6">
            <a:extLst xmlns:a="http://schemas.openxmlformats.org/drawingml/2006/main">
              <a:ext uri="{FF2B5EF4-FFF2-40B4-BE49-F238E27FC236}">
                <a16:creationId xmlns:a16="http://schemas.microsoft.com/office/drawing/2014/main" id="{5949294E-1E70-4523-9B80-1D675FB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9202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041FA14F-106F-4177-AD80-816055C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F6B2ADC-64E7-44F8-9055-3D93163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Variables give reusable names to script data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DC986DC3-3A83-4609-B478-53D0115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BDE47DC-70E3-40E0-ADD1-C94518E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F9EA1177-84B7-4548-8D14-BA367FE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elationship-path">
            <a:extLst xmlns:a="http://schemas.openxmlformats.org/drawingml/2006/main">
              <a:ext uri="{FF2B5EF4-FFF2-40B4-BE49-F238E27FC236}">
                <a16:creationId xmlns:a16="http://schemas.microsoft.com/office/drawing/2014/main" id="{611DA6F6-2925-4997-86F9-22FCED8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24250"/>
            <a:ext cx="788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relationship-node-1">
            <a:extLst xmlns:a="http://schemas.openxmlformats.org/drawingml/2006/main">
              <a:ext uri="{FF2B5EF4-FFF2-40B4-BE49-F238E27FC236}">
                <a16:creationId xmlns:a16="http://schemas.microsoft.com/office/drawing/2014/main" id="{F33E9FF6-1F35-4ECD-AD61-1138C6A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relationship-title-1">
            <a:extLst xmlns:a="http://schemas.openxmlformats.org/drawingml/2006/main">
              <a:ext uri="{FF2B5EF4-FFF2-40B4-BE49-F238E27FC236}">
                <a16:creationId xmlns:a16="http://schemas.microsoft.com/office/drawing/2014/main" id="{39CF22C8-59E4-470A-B5B7-F663C36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</a:t>
            </a:r>
          </a:p>
        </p:txBody>
      </p:sp>
      <p:sp>
        <p:nvSpPr>
          <p:cNvPr id="9" name="relationship-body-1">
            <a:extLst xmlns:a="http://schemas.openxmlformats.org/drawingml/2006/main">
              <a:ext uri="{FF2B5EF4-FFF2-40B4-BE49-F238E27FC236}">
                <a16:creationId xmlns:a16="http://schemas.microsoft.com/office/drawing/2014/main" id="{89E2F3BC-9DFC-4D5B-828D-F6A2AADD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name="Ali Khan"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Store one value</a:t>
            </a:r>
          </a:p>
        </p:txBody>
      </p:sp>
      <p:sp>
        <p:nvSpPr>
          <p:cNvPr id="10" name="relationship-node-2">
            <a:extLst xmlns:a="http://schemas.openxmlformats.org/drawingml/2006/main">
              <a:ext uri="{FF2B5EF4-FFF2-40B4-BE49-F238E27FC236}">
                <a16:creationId xmlns:a16="http://schemas.microsoft.com/office/drawing/2014/main" id="{0FB3F145-D143-4468-A861-7B04CD9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relationship-title-2">
            <a:extLst xmlns:a="http://schemas.openxmlformats.org/drawingml/2006/main">
              <a:ext uri="{FF2B5EF4-FFF2-40B4-BE49-F238E27FC236}">
                <a16:creationId xmlns:a16="http://schemas.microsoft.com/office/drawing/2014/main" id="{227657E8-0483-4099-9207-17557FB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EXPAND</a:t>
            </a:r>
          </a:p>
        </p:txBody>
      </p:sp>
      <p:sp>
        <p:nvSpPr>
          <p:cNvPr id="12" name="relationship-body-2">
            <a:extLst xmlns:a="http://schemas.openxmlformats.org/drawingml/2006/main">
              <a:ext uri="{FF2B5EF4-FFF2-40B4-BE49-F238E27FC236}">
                <a16:creationId xmlns:a16="http://schemas.microsoft.com/office/drawing/2014/main" id="{47C09B77-BF70-47E1-92FA-28E97F9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"$name"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Read it safely</a:t>
            </a:r>
          </a:p>
        </p:txBody>
      </p:sp>
      <p:sp>
        <p:nvSpPr>
          <p:cNvPr id="13" name="relationship-node-3">
            <a:extLst xmlns:a="http://schemas.openxmlformats.org/drawingml/2006/main">
              <a:ext uri="{FF2B5EF4-FFF2-40B4-BE49-F238E27FC236}">
                <a16:creationId xmlns:a16="http://schemas.microsoft.com/office/drawing/2014/main" id="{74B13D7E-A619-44D5-8466-43C4983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relationship-title-3">
            <a:extLst xmlns:a="http://schemas.openxmlformats.org/drawingml/2006/main">
              <a:ext uri="{FF2B5EF4-FFF2-40B4-BE49-F238E27FC236}">
                <a16:creationId xmlns:a16="http://schemas.microsoft.com/office/drawing/2014/main" id="{CFEC1852-757E-4AB1-A5EC-C165776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15" name="relationship-body-3">
            <a:extLst xmlns:a="http://schemas.openxmlformats.org/drawingml/2006/main">
              <a:ext uri="{FF2B5EF4-FFF2-40B4-BE49-F238E27FC236}">
                <a16:creationId xmlns:a16="http://schemas.microsoft.com/office/drawing/2014/main" id="{79E96D82-46E3-46D8-98B5-F85DEEC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Hello, Ali Khan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Build the result</a:t>
            </a:r>
          </a:p>
        </p:txBody>
      </p:sp>
      <p:sp>
        <p:nvSpPr>
          <p:cNvPr id="16" name="input-label">
            <a:extLst xmlns:a="http://schemas.openxmlformats.org/drawingml/2006/main">
              <a:ext uri="{FF2B5EF4-FFF2-40B4-BE49-F238E27FC236}">
                <a16:creationId xmlns:a16="http://schemas.microsoft.com/office/drawing/2014/main" id="{F6D47144-0975-498B-A0EE-E01FBB7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FE51A771-E5EA-49F8-8C11-150D48F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READ</a:t>
            </a:r>
          </a:p>
        </p:txBody>
      </p:sp>
      <p:sp>
        <p:nvSpPr>
          <p:cNvPr id="18" name="relationship-takeaway">
            <a:extLst xmlns:a="http://schemas.openxmlformats.org/drawingml/2006/main">
              <a:ext uri="{FF2B5EF4-FFF2-40B4-BE49-F238E27FC236}">
                <a16:creationId xmlns:a16="http://schemas.microsoft.com/office/drawing/2014/main" id="{F34F5E5B-2525-441C-9D37-27D7FEF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Assignment stores data. Expansion retrieves it. Quoting protects the value's boundaries.</a:t>
            </a:r>
          </a:p>
        </p:txBody>
      </p:sp>
    </p:spTree>
    <p:extLst>
      <p:ext uri="{BB962C8B-B14F-4D97-AF65-F5344CB8AC3E}">
        <p14:creationId xmlns:p14="http://schemas.microsoft.com/office/powerpoint/2010/main" val="628048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F570B76C-9F05-477B-A5BA-8220FF0D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2D3A018-F001-4A1A-8763-37037D9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Reliable input follows a four-stage path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EBC005E9-968F-4919-B7C4-2949DD1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4D1D9F1-B903-44B5-962A-A3CB7AB0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500FE300-6093-410B-BE99-009D30B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xecution-path">
            <a:extLst xmlns:a="http://schemas.openxmlformats.org/drawingml/2006/main">
              <a:ext uri="{FF2B5EF4-FFF2-40B4-BE49-F238E27FC236}">
                <a16:creationId xmlns:a16="http://schemas.microsoft.com/office/drawing/2014/main" id="{3F702DAC-ED39-4CB8-8B9C-B37950C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38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execution-step-1">
            <a:extLst xmlns:a="http://schemas.openxmlformats.org/drawingml/2006/main">
              <a:ext uri="{FF2B5EF4-FFF2-40B4-BE49-F238E27FC236}">
                <a16:creationId xmlns:a16="http://schemas.microsoft.com/office/drawing/2014/main" id="{07B98355-83F4-408A-B9E8-2205544B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execution-num-1">
            <a:extLst xmlns:a="http://schemas.openxmlformats.org/drawingml/2006/main">
              <a:ext uri="{FF2B5EF4-FFF2-40B4-BE49-F238E27FC236}">
                <a16:creationId xmlns:a16="http://schemas.microsoft.com/office/drawing/2014/main" id="{983EECBF-BA31-4A15-8469-043981A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execution-title-1">
            <a:extLst xmlns:a="http://schemas.openxmlformats.org/drawingml/2006/main">
              <a:ext uri="{FF2B5EF4-FFF2-40B4-BE49-F238E27FC236}">
                <a16:creationId xmlns:a16="http://schemas.microsoft.com/office/drawing/2014/main" id="{7B858F0E-B991-4F1E-B0A9-A501DEB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0" name="execution-body-1">
            <a:extLst xmlns:a="http://schemas.openxmlformats.org/drawingml/2006/main">
              <a:ext uri="{FF2B5EF4-FFF2-40B4-BE49-F238E27FC236}">
                <a16:creationId xmlns:a16="http://schemas.microsoft.com/office/drawing/2014/main" id="{0EF33212-9203-453F-9845-C654ED0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Argument or prompt</a:t>
            </a:r>
          </a:p>
        </p:txBody>
      </p:sp>
      <p:sp>
        <p:nvSpPr>
          <p:cNvPr id="11" name="execution-step-2">
            <a:extLst xmlns:a="http://schemas.openxmlformats.org/drawingml/2006/main">
              <a:ext uri="{FF2B5EF4-FFF2-40B4-BE49-F238E27FC236}">
                <a16:creationId xmlns:a16="http://schemas.microsoft.com/office/drawing/2014/main" id="{FA4A07CB-9612-4490-8783-77905AF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execution-num-2">
            <a:extLst xmlns:a="http://schemas.openxmlformats.org/drawingml/2006/main">
              <a:ext uri="{FF2B5EF4-FFF2-40B4-BE49-F238E27FC236}">
                <a16:creationId xmlns:a16="http://schemas.microsoft.com/office/drawing/2014/main" id="{C49EF0B8-D641-4AD3-812B-D76FFA4C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execution-title-2">
            <a:extLst xmlns:a="http://schemas.openxmlformats.org/drawingml/2006/main">
              <a:ext uri="{FF2B5EF4-FFF2-40B4-BE49-F238E27FC236}">
                <a16:creationId xmlns:a16="http://schemas.microsoft.com/office/drawing/2014/main" id="{DE757F37-9477-40EE-B134-4A114798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4" name="execution-body-2">
            <a:extLst xmlns:a="http://schemas.openxmlformats.org/drawingml/2006/main">
              <a:ext uri="{FF2B5EF4-FFF2-40B4-BE49-F238E27FC236}">
                <a16:creationId xmlns:a16="http://schemas.microsoft.com/office/drawing/2014/main" id="{054335C5-BB77-41E0-8B1F-8EA36C7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Required and usable?</a:t>
            </a:r>
          </a:p>
        </p:txBody>
      </p:sp>
      <p:sp>
        <p:nvSpPr>
          <p:cNvPr id="15" name="execution-step-3">
            <a:extLst xmlns:a="http://schemas.openxmlformats.org/drawingml/2006/main">
              <a:ext uri="{FF2B5EF4-FFF2-40B4-BE49-F238E27FC236}">
                <a16:creationId xmlns:a16="http://schemas.microsoft.com/office/drawing/2014/main" id="{49FFC168-3767-4AA1-A8D9-3842DCF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execution-num-3">
            <a:extLst xmlns:a="http://schemas.openxmlformats.org/drawingml/2006/main">
              <a:ext uri="{FF2B5EF4-FFF2-40B4-BE49-F238E27FC236}">
                <a16:creationId xmlns:a16="http://schemas.microsoft.com/office/drawing/2014/main" id="{F2B2BC9F-C098-428D-A63A-BB81CE0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execution-title-3">
            <a:extLst xmlns:a="http://schemas.openxmlformats.org/drawingml/2006/main">
              <a:ext uri="{FF2B5EF4-FFF2-40B4-BE49-F238E27FC236}">
                <a16:creationId xmlns:a16="http://schemas.microsoft.com/office/drawing/2014/main" id="{B8702EAC-ADEC-434B-B3F2-0068D36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8" name="execution-body-3">
            <a:extLst xmlns:a="http://schemas.openxmlformats.org/drawingml/2006/main">
              <a:ext uri="{FF2B5EF4-FFF2-40B4-BE49-F238E27FC236}">
                <a16:creationId xmlns:a16="http://schemas.microsoft.com/office/drawing/2014/main" id="{86B0658D-A335-4AF5-9389-5C0DC04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Assign a variable</a:t>
            </a:r>
          </a:p>
        </p:txBody>
      </p:sp>
      <p:sp>
        <p:nvSpPr>
          <p:cNvPr id="19" name="execution-step-4">
            <a:extLst xmlns:a="http://schemas.openxmlformats.org/drawingml/2006/main">
              <a:ext uri="{FF2B5EF4-FFF2-40B4-BE49-F238E27FC236}">
                <a16:creationId xmlns:a16="http://schemas.microsoft.com/office/drawing/2014/main" id="{8414DC0E-9C4D-43B1-9E4A-BEA5A14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0" name="execution-num-4">
            <a:extLst xmlns:a="http://schemas.openxmlformats.org/drawingml/2006/main">
              <a:ext uri="{FF2B5EF4-FFF2-40B4-BE49-F238E27FC236}">
                <a16:creationId xmlns:a16="http://schemas.microsoft.com/office/drawing/2014/main" id="{C1116C0C-6503-4E20-A0EA-E632175E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execution-title-4">
            <a:extLst xmlns:a="http://schemas.openxmlformats.org/drawingml/2006/main">
              <a:ext uri="{FF2B5EF4-FFF2-40B4-BE49-F238E27FC236}">
                <a16:creationId xmlns:a16="http://schemas.microsoft.com/office/drawing/2014/main" id="{1D3B09F2-B96D-4551-9BF4-C994441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22" name="execution-body-4">
            <a:extLst xmlns:a="http://schemas.openxmlformats.org/drawingml/2006/main">
              <a:ext uri="{FF2B5EF4-FFF2-40B4-BE49-F238E27FC236}">
                <a16:creationId xmlns:a16="http://schemas.microsoft.com/office/drawing/2014/main" id="{8467F825-5D62-4BC6-94B6-403AFAF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Quote and process</a:t>
            </a:r>
          </a:p>
        </p:txBody>
      </p:sp>
      <p:sp>
        <p:nvSpPr>
          <p:cNvPr id="23" name="execution-command">
            <a:extLst xmlns:a="http://schemas.openxmlformats.org/drawingml/2006/main">
              <a:ext uri="{FF2B5EF4-FFF2-40B4-BE49-F238E27FC236}">
                <a16:creationId xmlns:a16="http://schemas.microsoft.com/office/drawing/2014/main" id="{B48B9923-7B17-4440-B3FF-36A0AB6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4" name="execution-code">
            <a:extLst xmlns:a="http://schemas.openxmlformats.org/drawingml/2006/main">
              <a:ext uri="{FF2B5EF4-FFF2-40B4-BE49-F238E27FC236}">
                <a16:creationId xmlns:a16="http://schemas.microsoft.com/office/drawing/2014/main" id="{4B9843A0-2184-452E-BEDF-6FE4400E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72075"/>
            <a:ext cx="790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input -&gt; validate -&gt; variable -&gt; quoted expansion -&gt; output + exit status</a:t>
            </a:r>
          </a:p>
        </p:txBody>
      </p:sp>
    </p:spTree>
    <p:extLst>
      <p:ext uri="{BB962C8B-B14F-4D97-AF65-F5344CB8AC3E}">
        <p14:creationId xmlns:p14="http://schemas.microsoft.com/office/powerpoint/2010/main" val="88523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09913971-F80D-4251-8101-1C2DE33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VARIABLES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C671B4-382C-42F0-8AE1-4949E26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Four patterns make variable expansion predictable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3DE6CFB6-C85B-4201-813B-828665E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DBA51ED-3636-4850-B68E-7871538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15B03105-F2D5-4653-A692-D7D902E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atomy-code-bg">
            <a:extLst xmlns:a="http://schemas.openxmlformats.org/drawingml/2006/main">
              <a:ext uri="{FF2B5EF4-FFF2-40B4-BE49-F238E27FC236}">
                <a16:creationId xmlns:a16="http://schemas.microsoft.com/office/drawing/2014/main" id="{0B4E4A24-ABEB-4B67-B1A1-562E7F9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7DCF98A9-4819-464C-A623-F976356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048250" cy="3000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course_name="Bash Scripting"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student_name="Ali Khan"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today="$(date +%F)"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'Student: %s\n' "$student_name"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'File: %s\n' "${student_name}_report"</a:t>
            </a:r>
          </a:p>
        </p:txBody>
      </p:sp>
      <p:sp>
        <p:nvSpPr>
          <p:cNvPr id="8" name="anatomy-num-01">
            <a:extLst xmlns:a="http://schemas.openxmlformats.org/drawingml/2006/main">
              <a:ext uri="{FF2B5EF4-FFF2-40B4-BE49-F238E27FC236}">
                <a16:creationId xmlns:a16="http://schemas.microsoft.com/office/drawing/2014/main" id="{24C2E370-F44B-478F-A290-6DA0939A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anatomy-title-01">
            <a:extLst xmlns:a="http://schemas.openxmlformats.org/drawingml/2006/main">
              <a:ext uri="{FF2B5EF4-FFF2-40B4-BE49-F238E27FC236}">
                <a16:creationId xmlns:a16="http://schemas.microsoft.com/office/drawing/2014/main" id="{F9737FEC-25B1-4E0D-A6AC-5960297A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ASSIGNMENT</a:t>
            </a:r>
          </a:p>
        </p:txBody>
      </p:sp>
      <p:sp>
        <p:nvSpPr>
          <p:cNvPr id="10" name="anatomy-body-01">
            <a:extLst xmlns:a="http://schemas.openxmlformats.org/drawingml/2006/main">
              <a:ext uri="{FF2B5EF4-FFF2-40B4-BE49-F238E27FC236}">
                <a16:creationId xmlns:a16="http://schemas.microsoft.com/office/drawing/2014/main" id="{25E227FB-214B-4680-BD58-3590E62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52675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No spaces around the equals sign.</a:t>
            </a:r>
          </a:p>
        </p:txBody>
      </p:sp>
      <p:sp>
        <p:nvSpPr>
          <p:cNvPr id="11" name="anatomy-num-02">
            <a:extLst xmlns:a="http://schemas.openxmlformats.org/drawingml/2006/main">
              <a:ext uri="{FF2B5EF4-FFF2-40B4-BE49-F238E27FC236}">
                <a16:creationId xmlns:a16="http://schemas.microsoft.com/office/drawing/2014/main" id="{564F6392-DE3F-4E2E-919E-31048CF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anatomy-title-02">
            <a:extLst xmlns:a="http://schemas.openxmlformats.org/drawingml/2006/main">
              <a:ext uri="{FF2B5EF4-FFF2-40B4-BE49-F238E27FC236}">
                <a16:creationId xmlns:a16="http://schemas.microsoft.com/office/drawing/2014/main" id="{957779C8-3430-4170-B077-ED2D4CF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0512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EXPANSION</a:t>
            </a:r>
          </a:p>
        </p:txBody>
      </p:sp>
      <p:sp>
        <p:nvSpPr>
          <p:cNvPr id="13" name="anatomy-body-02">
            <a:extLst xmlns:a="http://schemas.openxmlformats.org/drawingml/2006/main">
              <a:ext uri="{FF2B5EF4-FFF2-40B4-BE49-F238E27FC236}">
                <a16:creationId xmlns:a16="http://schemas.microsoft.com/office/drawing/2014/main" id="{D48ED6C5-FFED-4B87-A22E-22C7F89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Double quotes preserve one value.</a:t>
            </a:r>
          </a:p>
        </p:txBody>
      </p:sp>
      <p:sp>
        <p:nvSpPr>
          <p:cNvPr id="14" name="anatomy-num-03">
            <a:extLst xmlns:a="http://schemas.openxmlformats.org/drawingml/2006/main">
              <a:ext uri="{FF2B5EF4-FFF2-40B4-BE49-F238E27FC236}">
                <a16:creationId xmlns:a16="http://schemas.microsoft.com/office/drawing/2014/main" id="{3E18E715-59A4-4156-B892-A72A3EF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anatomy-title-03">
            <a:extLst xmlns:a="http://schemas.openxmlformats.org/drawingml/2006/main">
              <a:ext uri="{FF2B5EF4-FFF2-40B4-BE49-F238E27FC236}">
                <a16:creationId xmlns:a16="http://schemas.microsoft.com/office/drawing/2014/main" id="{FE58FDE6-9B2A-48AF-81DE-292E0D0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BRACES</a:t>
            </a:r>
          </a:p>
        </p:txBody>
      </p:sp>
      <p:sp>
        <p:nvSpPr>
          <p:cNvPr id="16" name="anatomy-body-03">
            <a:extLst xmlns:a="http://schemas.openxmlformats.org/drawingml/2006/main">
              <a:ext uri="{FF2B5EF4-FFF2-40B4-BE49-F238E27FC236}">
                <a16:creationId xmlns:a16="http://schemas.microsoft.com/office/drawing/2014/main" id="{B0D2B9F4-ED1D-4D26-836F-8712C48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00525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Clarify where the name ends.</a:t>
            </a:r>
          </a:p>
        </p:txBody>
      </p:sp>
      <p:sp>
        <p:nvSpPr>
          <p:cNvPr id="17" name="anatomy-num-04">
            <a:extLst xmlns:a="http://schemas.openxmlformats.org/drawingml/2006/main">
              <a:ext uri="{FF2B5EF4-FFF2-40B4-BE49-F238E27FC236}">
                <a16:creationId xmlns:a16="http://schemas.microsoft.com/office/drawing/2014/main" id="{3BF27C17-6DA1-47C7-BEB1-A452313F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anatomy-title-04">
            <a:extLst xmlns:a="http://schemas.openxmlformats.org/drawingml/2006/main">
              <a:ext uri="{FF2B5EF4-FFF2-40B4-BE49-F238E27FC236}">
                <a16:creationId xmlns:a16="http://schemas.microsoft.com/office/drawing/2014/main" id="{27DE7CEC-526D-48B9-8848-5C18C53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529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SUBSTITUTION</a:t>
            </a:r>
          </a:p>
        </p:txBody>
      </p:sp>
      <p:sp>
        <p:nvSpPr>
          <p:cNvPr id="19" name="anatomy-body-04">
            <a:extLst xmlns:a="http://schemas.openxmlformats.org/drawingml/2006/main">
              <a:ext uri="{FF2B5EF4-FFF2-40B4-BE49-F238E27FC236}">
                <a16:creationId xmlns:a16="http://schemas.microsoft.com/office/drawing/2014/main" id="{6EC9FE61-0710-4010-855A-D25D5AB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$(command) captures output.</a:t>
            </a:r>
          </a:p>
        </p:txBody>
      </p:sp>
    </p:spTree>
    <p:extLst>
      <p:ext uri="{BB962C8B-B14F-4D97-AF65-F5344CB8AC3E}">
        <p14:creationId xmlns:p14="http://schemas.microsoft.com/office/powerpoint/2010/main" val="576189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DA0FC8E9-B56B-4A1C-8B97-165F74A8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QUOTING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8963E5D-627C-44CC-9041-7F8EDE31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08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Single and double quotes preserve different meanings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5BF57935-73D8-4044-9B9F-90A9419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C8B7B92-8270-4AEE-A46D-568FBCC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5C4E846F-FCFE-49FC-939B-6131EAEB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un-bash-panel">
            <a:extLst xmlns:a="http://schemas.openxmlformats.org/drawingml/2006/main">
              <a:ext uri="{FF2B5EF4-FFF2-40B4-BE49-F238E27FC236}">
                <a16:creationId xmlns:a16="http://schemas.microsoft.com/office/drawing/2014/main" id="{3DE93601-35E3-4C20-8AF9-B0E533F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run-direct-panel">
            <a:extLst xmlns:a="http://schemas.openxmlformats.org/drawingml/2006/main">
              <a:ext uri="{FF2B5EF4-FFF2-40B4-BE49-F238E27FC236}">
                <a16:creationId xmlns:a16="http://schemas.microsoft.com/office/drawing/2014/main" id="{478F4704-4666-4F64-80CF-8F72640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method1-label">
            <a:extLst xmlns:a="http://schemas.openxmlformats.org/drawingml/2006/main">
              <a:ext uri="{FF2B5EF4-FFF2-40B4-BE49-F238E27FC236}">
                <a16:creationId xmlns:a16="http://schemas.microsoft.com/office/drawing/2014/main" id="{0D997D63-31BF-423C-9EC2-657CEF5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SINGLE QUOTES</a:t>
            </a:r>
          </a:p>
        </p:txBody>
      </p:sp>
      <p:sp>
        <p:nvSpPr>
          <p:cNvPr id="9" name="method1-code">
            <a:extLst xmlns:a="http://schemas.openxmlformats.org/drawingml/2006/main">
              <a:ext uri="{FF2B5EF4-FFF2-40B4-BE49-F238E27FC236}">
                <a16:creationId xmlns:a16="http://schemas.microsoft.com/office/drawing/2014/main" id="{2DDE7B55-4599-46C8-AE8A-81F9459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'$name'</a:t>
            </a:r>
          </a:p>
        </p:txBody>
      </p:sp>
      <p:sp>
        <p:nvSpPr>
          <p:cNvPr id="10" name="method1-body">
            <a:extLst xmlns:a="http://schemas.openxmlformats.org/drawingml/2006/main">
              <a:ext uri="{FF2B5EF4-FFF2-40B4-BE49-F238E27FC236}">
                <a16:creationId xmlns:a16="http://schemas.microsoft.com/office/drawing/2014/main" id="{D43F6CDD-7139-49C5-89CD-088361E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Everything remains literal.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Variables do not expand.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Commands are not substituted.</a:t>
            </a:r>
          </a:p>
        </p:txBody>
      </p:sp>
      <p:sp>
        <p:nvSpPr>
          <p:cNvPr id="11" name="method2-label">
            <a:extLst xmlns:a="http://schemas.openxmlformats.org/drawingml/2006/main">
              <a:ext uri="{FF2B5EF4-FFF2-40B4-BE49-F238E27FC236}">
                <a16:creationId xmlns:a16="http://schemas.microsoft.com/office/drawing/2014/main" id="{5269CF32-EECF-490C-85E9-F49BC7E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DOUBLE QUOTES</a:t>
            </a:r>
          </a:p>
        </p:txBody>
      </p:sp>
      <p:sp>
        <p:nvSpPr>
          <p:cNvPr id="12" name="method2-code">
            <a:extLst xmlns:a="http://schemas.openxmlformats.org/drawingml/2006/main">
              <a:ext uri="{FF2B5EF4-FFF2-40B4-BE49-F238E27FC236}">
                <a16:creationId xmlns:a16="http://schemas.microsoft.com/office/drawing/2014/main" id="{7E411E53-9859-40F9-AEAF-FD5381E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9875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"$name"</a:t>
            </a:r>
          </a:p>
        </p:txBody>
      </p:sp>
      <p:sp>
        <p:nvSpPr>
          <p:cNvPr id="13" name="method2-body">
            <a:extLst xmlns:a="http://schemas.openxmlformats.org/drawingml/2006/main">
              <a:ext uri="{FF2B5EF4-FFF2-40B4-BE49-F238E27FC236}">
                <a16:creationId xmlns:a16="http://schemas.microsoft.com/office/drawing/2014/main" id="{D334C155-859E-4828-BDF2-9645024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Variables expand.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Spaces remain one value.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Wildcards remain protected.</a:t>
            </a:r>
          </a:p>
        </p:txBody>
      </p:sp>
      <p:sp>
        <p:nvSpPr>
          <p:cNvPr id="14" name="permission-takeaway-bg">
            <a:extLst xmlns:a="http://schemas.openxmlformats.org/drawingml/2006/main">
              <a:ext uri="{FF2B5EF4-FFF2-40B4-BE49-F238E27FC236}">
                <a16:creationId xmlns:a16="http://schemas.microsoft.com/office/drawing/2014/main" id="{43E6BADE-E45A-4482-9D47-2416E43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76875"/>
            <a:ext cx="8153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permission-takeaway">
            <a:extLst xmlns:a="http://schemas.openxmlformats.org/drawingml/2006/main">
              <a:ext uri="{FF2B5EF4-FFF2-40B4-BE49-F238E27FC236}">
                <a16:creationId xmlns:a16="http://schemas.microsoft.com/office/drawing/2014/main" id="{2BC849AD-9BE5-45B8-8239-1553B150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Default safety: double quote variable expansions unless splitting or globbing is intentional.</a:t>
            </a:r>
          </a:p>
        </p:txBody>
      </p:sp>
    </p:spTree>
    <p:extLst>
      <p:ext uri="{BB962C8B-B14F-4D97-AF65-F5344CB8AC3E}">
        <p14:creationId xmlns:p14="http://schemas.microsoft.com/office/powerpoint/2010/main" val="2004146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AE7AC8AB-7816-46AF-A688-6C22148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3 | GUIDED DEMONSTRATION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B56BA25-468E-4FEC-93D9-904C438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Guided demo: build a personalized server greeting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34A5244D-9F72-478C-A6B7-552E4F3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95644F5-BA94-4CAC-B91F-6294CCB1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193CF4C1-69C6-46BB-A680-6C570957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demo1-code-bg">
            <a:extLst xmlns:a="http://schemas.openxmlformats.org/drawingml/2006/main">
              <a:ext uri="{FF2B5EF4-FFF2-40B4-BE49-F238E27FC236}">
                <a16:creationId xmlns:a16="http://schemas.microsoft.com/office/drawing/2014/main" id="{2A82FC4C-13D6-4E30-8D57-3E3A903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723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demo1-code">
            <a:extLst xmlns:a="http://schemas.openxmlformats.org/drawingml/2006/main">
              <a:ext uri="{FF2B5EF4-FFF2-40B4-BE49-F238E27FC236}">
                <a16:creationId xmlns:a16="http://schemas.microsoft.com/office/drawing/2014/main" id="{64333386-F9AD-4EF7-B1DA-B71915B9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6667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read -r -p "Enter your full name: " student_name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-z "$student_name" ]]; then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'%s\n' 'Name is required' &gt;&amp;2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current_user="$(whoami)"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'Hello %s from %s\n' "$student_name" "$current_user"</a:t>
            </a:r>
          </a:p>
        </p:txBody>
      </p:sp>
      <p:sp>
        <p:nvSpPr>
          <p:cNvPr id="8" name="demo1-run-label">
            <a:extLst xmlns:a="http://schemas.openxmlformats.org/drawingml/2006/main">
              <a:ext uri="{FF2B5EF4-FFF2-40B4-BE49-F238E27FC236}">
                <a16:creationId xmlns:a16="http://schemas.microsoft.com/office/drawing/2014/main" id="{51E76662-30E3-460F-9A63-08F48C8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TEST</a:t>
            </a:r>
          </a:p>
        </p:txBody>
      </p:sp>
      <p:sp>
        <p:nvSpPr>
          <p:cNvPr id="9" name="demo1-run-code">
            <a:extLst xmlns:a="http://schemas.openxmlformats.org/drawingml/2006/main">
              <a:ext uri="{FF2B5EF4-FFF2-40B4-BE49-F238E27FC236}">
                <a16:creationId xmlns:a16="http://schemas.microsoft.com/office/drawing/2014/main" id="{9814E36F-D784-4E41-A250-37620BE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31432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bash server-greeting.sh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Ali Khan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Lab\User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Input: &lt;empty&gt;</a:t>
            </a:r>
          </a:p>
        </p:txBody>
      </p:sp>
      <p:sp>
        <p:nvSpPr>
          <p:cNvPr id="10" name="demo1-check">
            <a:extLst xmlns:a="http://schemas.openxmlformats.org/drawingml/2006/main">
              <a:ext uri="{FF2B5EF4-FFF2-40B4-BE49-F238E27FC236}">
                <a16:creationId xmlns:a16="http://schemas.microsoft.com/office/drawing/2014/main" id="{BF3465A7-970A-4801-976D-5B126250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demo1-check-text">
            <a:extLst xmlns:a="http://schemas.openxmlformats.org/drawingml/2006/main">
              <a:ext uri="{FF2B5EF4-FFF2-40B4-BE49-F238E27FC236}">
                <a16:creationId xmlns:a16="http://schemas.microsoft.com/office/drawing/2014/main" id="{D89D9198-2DFE-4E1B-847E-894CF16D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714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Spaces stay intact. Empty input fails safely.</a:t>
            </a:r>
          </a:p>
        </p:txBody>
      </p:sp>
    </p:spTree>
    <p:extLst>
      <p:ext uri="{BB962C8B-B14F-4D97-AF65-F5344CB8AC3E}">
        <p14:creationId xmlns:p14="http://schemas.microsoft.com/office/powerpoint/2010/main" val="248875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45FA9238-4C5B-4FAB-A148-7DCDD64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INTERACTIVE INPUT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F85B6F2-EC8F-458D-9041-3A8E758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Interactive input must be read, validated, and quoted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55B326D4-4AE9-41CA-BDB9-2562CF7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3994DCB7-48BC-4446-BD6A-FCCDC14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828B2ECF-52CC-4F0A-8DFD-95FCFA9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vidence-panel-1">
            <a:extLst xmlns:a="http://schemas.openxmlformats.org/drawingml/2006/main">
              <a:ext uri="{FF2B5EF4-FFF2-40B4-BE49-F238E27FC236}">
                <a16:creationId xmlns:a16="http://schemas.microsoft.com/office/drawing/2014/main" id="{07FCABAB-9BE9-4660-BC0F-929D00D3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2562575A-9E3E-422B-ABF3-712C80F5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READ</a:t>
            </a:r>
          </a:p>
        </p:txBody>
      </p:sp>
      <p:sp>
        <p:nvSpPr>
          <p:cNvPr id="8" name="evidence-question-1">
            <a:extLst xmlns:a="http://schemas.openxmlformats.org/drawingml/2006/main">
              <a:ext uri="{FF2B5EF4-FFF2-40B4-BE49-F238E27FC236}">
                <a16:creationId xmlns:a16="http://schemas.microsoft.com/office/drawing/2014/main" id="{C21EEAEC-E396-4A08-94AF-AAF765F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Accept the user's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complete input</a:t>
            </a:r>
          </a:p>
        </p:txBody>
      </p:sp>
      <p:sp>
        <p:nvSpPr>
          <p:cNvPr id="9" name="evidence-code-bg-1">
            <a:extLst xmlns:a="http://schemas.openxmlformats.org/drawingml/2006/main">
              <a:ext uri="{FF2B5EF4-FFF2-40B4-BE49-F238E27FC236}">
                <a16:creationId xmlns:a16="http://schemas.microsoft.com/office/drawing/2014/main" id="{E013D934-7CC5-4969-B49D-D0B0418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0" name="evidence-code-1">
            <a:extLst xmlns:a="http://schemas.openxmlformats.org/drawingml/2006/main">
              <a:ext uri="{FF2B5EF4-FFF2-40B4-BE49-F238E27FC236}">
                <a16:creationId xmlns:a16="http://schemas.microsoft.com/office/drawing/2014/main" id="{C442C201-A32D-422E-94E3-ED31405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read -r name</a:t>
            </a:r>
          </a:p>
        </p:txBody>
      </p:sp>
      <p:sp>
        <p:nvSpPr>
          <p:cNvPr id="11" name="evidence-panel-2">
            <a:extLst xmlns:a="http://schemas.openxmlformats.org/drawingml/2006/main">
              <a:ext uri="{FF2B5EF4-FFF2-40B4-BE49-F238E27FC236}">
                <a16:creationId xmlns:a16="http://schemas.microsoft.com/office/drawing/2014/main" id="{912F2156-F4B4-46A4-825E-9FD5391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D990DB48-CFC0-44EE-936E-3711656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3" name="evidence-question-2">
            <a:extLst xmlns:a="http://schemas.openxmlformats.org/drawingml/2006/main">
              <a:ext uri="{FF2B5EF4-FFF2-40B4-BE49-F238E27FC236}">
                <a16:creationId xmlns:a16="http://schemas.microsoft.com/office/drawing/2014/main" id="{1371BCEA-1C91-472B-8212-05171180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Reject missing or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invalid data</a:t>
            </a:r>
          </a:p>
        </p:txBody>
      </p:sp>
      <p:sp>
        <p:nvSpPr>
          <p:cNvPr id="14" name="evidence-code-bg-2">
            <a:extLst xmlns:a="http://schemas.openxmlformats.org/drawingml/2006/main">
              <a:ext uri="{FF2B5EF4-FFF2-40B4-BE49-F238E27FC236}">
                <a16:creationId xmlns:a16="http://schemas.microsoft.com/office/drawing/2014/main" id="{967219A0-3F46-4CBF-9BDC-58413F8E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5" name="evidence-code-2">
            <a:extLst xmlns:a="http://schemas.openxmlformats.org/drawingml/2006/main">
              <a:ext uri="{FF2B5EF4-FFF2-40B4-BE49-F238E27FC236}">
                <a16:creationId xmlns:a16="http://schemas.microsoft.com/office/drawing/2014/main" id="{3023073F-0272-4484-A32B-1E63619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[[ -z "$name" ]]</a:t>
            </a:r>
          </a:p>
        </p:txBody>
      </p:sp>
      <p:sp>
        <p:nvSpPr>
          <p:cNvPr id="16" name="evidence-panel-3">
            <a:extLst xmlns:a="http://schemas.openxmlformats.org/drawingml/2006/main">
              <a:ext uri="{FF2B5EF4-FFF2-40B4-BE49-F238E27FC236}">
                <a16:creationId xmlns:a16="http://schemas.microsoft.com/office/drawing/2014/main" id="{0170A2EC-3979-4799-BB10-72E5451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79D1ABD4-289A-4613-8565-996AC47A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</a:t>
            </a:r>
          </a:p>
        </p:txBody>
      </p:sp>
      <p:sp>
        <p:nvSpPr>
          <p:cNvPr id="18" name="evidence-question-3">
            <a:extLst xmlns:a="http://schemas.openxmlformats.org/drawingml/2006/main">
              <a:ext uri="{FF2B5EF4-FFF2-40B4-BE49-F238E27FC236}">
                <a16:creationId xmlns:a16="http://schemas.microsoft.com/office/drawing/2014/main" id="{E8414609-1BD1-4E93-9A59-7705D3E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Preserve the value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as one argument</a:t>
            </a:r>
          </a:p>
        </p:txBody>
      </p:sp>
      <p:sp>
        <p:nvSpPr>
          <p:cNvPr id="19" name="evidence-code-bg-3">
            <a:extLst xmlns:a="http://schemas.openxmlformats.org/drawingml/2006/main">
              <a:ext uri="{FF2B5EF4-FFF2-40B4-BE49-F238E27FC236}">
                <a16:creationId xmlns:a16="http://schemas.microsoft.com/office/drawing/2014/main" id="{7E6AD74C-A695-4D82-BFF9-AE50632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0" name="evidence-code-3">
            <a:extLst xmlns:a="http://schemas.openxmlformats.org/drawingml/2006/main">
              <a:ext uri="{FF2B5EF4-FFF2-40B4-BE49-F238E27FC236}">
                <a16:creationId xmlns:a16="http://schemas.microsoft.com/office/drawing/2014/main" id="{EAA23B77-C754-4BB3-9A99-536F1A8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'%s' "$name"</a:t>
            </a:r>
          </a:p>
        </p:txBody>
      </p:sp>
      <p:sp>
        <p:nvSpPr>
          <p:cNvPr id="21" name="status-warning">
            <a:extLst xmlns:a="http://schemas.openxmlformats.org/drawingml/2006/main">
              <a:ext uri="{FF2B5EF4-FFF2-40B4-BE49-F238E27FC236}">
                <a16:creationId xmlns:a16="http://schemas.microsoft.com/office/drawing/2014/main" id="{92420787-CEF1-419F-8443-7B51957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A prompt does not make input trustworthy - validation does.</a:t>
            </a:r>
          </a:p>
        </p:txBody>
      </p:sp>
    </p:spTree>
    <p:extLst>
      <p:ext uri="{BB962C8B-B14F-4D97-AF65-F5344CB8AC3E}">
        <p14:creationId xmlns:p14="http://schemas.microsoft.com/office/powerpoint/2010/main" val="472615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2A69F51D-725C-4556-B633-B1E3431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POSITIONAL ARGUMENTS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540932F-11D4-4B33-8FDC-ACA6852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608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Arguments make scripts reusable and non-interactive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8EF39D69-1E33-4AD6-ABB9-2D1EDDF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7C3E4A98-EB28-430B-8D7D-ACFDEA7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B9206F7C-0924-4A16-9CED-881651A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d-panel">
            <a:extLst xmlns:a="http://schemas.openxmlformats.org/drawingml/2006/main">
              <a:ext uri="{FF2B5EF4-FFF2-40B4-BE49-F238E27FC236}">
                <a16:creationId xmlns:a16="http://schemas.microsoft.com/office/drawing/2014/main" id="{F95D802C-670A-4C3B-AF76-05C4B6D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or-panel">
            <a:extLst xmlns:a="http://schemas.openxmlformats.org/drawingml/2006/main">
              <a:ext uri="{FF2B5EF4-FFF2-40B4-BE49-F238E27FC236}">
                <a16:creationId xmlns:a16="http://schemas.microsoft.com/office/drawing/2014/main" id="{78D8D5FB-B597-465B-81FA-F4B20A8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and-label">
            <a:extLst xmlns:a="http://schemas.openxmlformats.org/drawingml/2006/main">
              <a:ext uri="{FF2B5EF4-FFF2-40B4-BE49-F238E27FC236}">
                <a16:creationId xmlns:a16="http://schemas.microsoft.com/office/drawing/2014/main" id="{BC3531E2-6D89-49C4-AC15-95E85674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POSITIONAL PARAMETERS</a:t>
            </a:r>
          </a:p>
        </p:txBody>
      </p:sp>
      <p:sp>
        <p:nvSpPr>
          <p:cNvPr id="9" name="and-code">
            <a:extLst xmlns:a="http://schemas.openxmlformats.org/drawingml/2006/main">
              <a:ext uri="{FF2B5EF4-FFF2-40B4-BE49-F238E27FC236}">
                <a16:creationId xmlns:a16="http://schemas.microsoft.com/office/drawing/2014/main" id="{8B787CAA-1E24-40F1-816D-E5C0053C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$0   $1   $2   $#</a:t>
            </a:r>
          </a:p>
        </p:txBody>
      </p:sp>
      <p:sp>
        <p:nvSpPr>
          <p:cNvPr id="10" name="and-body">
            <a:extLst xmlns:a="http://schemas.openxmlformats.org/drawingml/2006/main">
              <a:ext uri="{FF2B5EF4-FFF2-40B4-BE49-F238E27FC236}">
                <a16:creationId xmlns:a16="http://schemas.microsoft.com/office/drawing/2014/main" id="{F83FA301-D39D-45FE-98A2-F9A3679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286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$0 = script name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$1 and $2 = arguments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$# = argument count</a:t>
            </a:r>
          </a:p>
        </p:txBody>
      </p:sp>
      <p:sp>
        <p:nvSpPr>
          <p:cNvPr id="11" name="or-label">
            <a:extLst xmlns:a="http://schemas.openxmlformats.org/drawingml/2006/main">
              <a:ext uri="{FF2B5EF4-FFF2-40B4-BE49-F238E27FC236}">
                <a16:creationId xmlns:a16="http://schemas.microsoft.com/office/drawing/2014/main" id="{499FED21-8800-44B6-A7B2-AC1772F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ALL ARGUMENTS</a:t>
            </a:r>
          </a:p>
        </p:txBody>
      </p:sp>
      <p:sp>
        <p:nvSpPr>
          <p:cNvPr id="12" name="or-code">
            <a:extLst xmlns:a="http://schemas.openxmlformats.org/drawingml/2006/main">
              <a:ext uri="{FF2B5EF4-FFF2-40B4-BE49-F238E27FC236}">
                <a16:creationId xmlns:a16="http://schemas.microsoft.com/office/drawing/2014/main" id="{CA93B9C6-0305-45D9-852F-AA221E3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"$@"</a:t>
            </a:r>
          </a:p>
        </p:txBody>
      </p:sp>
      <p:sp>
        <p:nvSpPr>
          <p:cNvPr id="13" name="or-body">
            <a:extLst xmlns:a="http://schemas.openxmlformats.org/drawingml/2006/main">
              <a:ext uri="{FF2B5EF4-FFF2-40B4-BE49-F238E27FC236}">
                <a16:creationId xmlns:a16="http://schemas.microsoft.com/office/drawing/2014/main" id="{0CCA83AF-7922-40B0-A965-C43DEAE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286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Every argument is preserved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including values with spaces</a:t>
            </a:r>
          </a:p>
        </p:txBody>
      </p:sp>
      <p:sp>
        <p:nvSpPr>
          <p:cNvPr id="14" name="andor-example-bg">
            <a:extLst xmlns:a="http://schemas.openxmlformats.org/drawingml/2006/main">
              <a:ext uri="{FF2B5EF4-FFF2-40B4-BE49-F238E27FC236}">
                <a16:creationId xmlns:a16="http://schemas.microsoft.com/office/drawing/2014/main" id="{E73EC4BD-8B3F-4F86-8CEC-66B7F618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5" name="andor-example">
            <a:extLst xmlns:a="http://schemas.openxmlformats.org/drawingml/2006/main">
              <a:ext uri="{FF2B5EF4-FFF2-40B4-BE49-F238E27FC236}">
                <a16:creationId xmlns:a16="http://schemas.microsoft.com/office/drawing/2014/main" id="{11E37C21-19A5-4AAA-81A9-AD5FDAE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91175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./argument-demo.sh "Linux Admin" WSL AWS</a:t>
            </a:r>
          </a:p>
        </p:txBody>
      </p:sp>
    </p:spTree>
    <p:extLst>
      <p:ext uri="{BB962C8B-B14F-4D97-AF65-F5344CB8AC3E}">
        <p14:creationId xmlns:p14="http://schemas.microsoft.com/office/powerpoint/2010/main" val="2067657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D814AF9C-3E9B-430E-9C3A-BE6A989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4 | GUIDED DEMONSTRATION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C91B384-7106-4E7D-94F4-1647B9F5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safe file inspector validates before using $1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CBF59525-BD80-439B-92A3-81CD8F5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09978007-92E1-4FC2-A840-C61B3D5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5B2C862A-0282-4BE6-943D-EF5F5760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snapshot-code-bg">
            <a:extLst xmlns:a="http://schemas.openxmlformats.org/drawingml/2006/main">
              <a:ext uri="{FF2B5EF4-FFF2-40B4-BE49-F238E27FC236}">
                <a16:creationId xmlns:a16="http://schemas.microsoft.com/office/drawing/2014/main" id="{AD6443B7-967A-4DC8-AB14-0B3DDEB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647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snapshot-code">
            <a:extLst xmlns:a="http://schemas.openxmlformats.org/drawingml/2006/main">
              <a:ext uri="{FF2B5EF4-FFF2-40B4-BE49-F238E27FC236}">
                <a16:creationId xmlns:a16="http://schemas.microsoft.com/office/drawing/2014/main" id="{20A89C88-1613-4CCF-B085-3A97C5F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5953125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$# -ne 1 ]]; then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'Usage: %s &lt;path&gt;\n' "$0" &gt;&amp;2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target_path="$1"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if [[ ! -e "$target_path" ]]; then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'Missing: %s\n' "$target_path" &gt;&amp;2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exit 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fi</a:t>
            </a:r>
          </a:p>
        </p:txBody>
      </p:sp>
      <p:sp>
        <p:nvSpPr>
          <p:cNvPr id="8" name="snapshot-section-label">
            <a:extLst xmlns:a="http://schemas.openxmlformats.org/drawingml/2006/main">
              <a:ext uri="{FF2B5EF4-FFF2-40B4-BE49-F238E27FC236}">
                <a16:creationId xmlns:a16="http://schemas.microsoft.com/office/drawing/2014/main" id="{58631A5E-F822-4A6A-91B6-827725D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VALIDATION ORDER</a:t>
            </a:r>
          </a:p>
        </p:txBody>
      </p:sp>
      <p:sp>
        <p:nvSpPr>
          <p:cNvPr id="9" name="snapshot-num-1">
            <a:extLst xmlns:a="http://schemas.openxmlformats.org/drawingml/2006/main">
              <a:ext uri="{FF2B5EF4-FFF2-40B4-BE49-F238E27FC236}">
                <a16:creationId xmlns:a16="http://schemas.microsoft.com/office/drawing/2014/main" id="{623C89DF-2DC9-4B14-B808-803BD68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napshot-section-1">
            <a:extLst xmlns:a="http://schemas.openxmlformats.org/drawingml/2006/main">
              <a:ext uri="{FF2B5EF4-FFF2-40B4-BE49-F238E27FC236}">
                <a16:creationId xmlns:a16="http://schemas.microsoft.com/office/drawing/2014/main" id="{FB4510FE-13E3-4B8A-BFFF-52EF130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 argument count</a:t>
            </a:r>
          </a:p>
        </p:txBody>
      </p:sp>
      <p:sp>
        <p:nvSpPr>
          <p:cNvPr id="11" name="snapshot-rule-1">
            <a:extLst xmlns:a="http://schemas.openxmlformats.org/drawingml/2006/main">
              <a:ext uri="{FF2B5EF4-FFF2-40B4-BE49-F238E27FC236}">
                <a16:creationId xmlns:a16="http://schemas.microsoft.com/office/drawing/2014/main" id="{E06436F2-7088-4F2B-AB72-551AFF6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snapshot-num-2">
            <a:extLst xmlns:a="http://schemas.openxmlformats.org/drawingml/2006/main">
              <a:ext uri="{FF2B5EF4-FFF2-40B4-BE49-F238E27FC236}">
                <a16:creationId xmlns:a16="http://schemas.microsoft.com/office/drawing/2014/main" id="{36F68005-31B4-49E9-B07F-E5B3C980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napshot-section-2">
            <a:extLst xmlns:a="http://schemas.openxmlformats.org/drawingml/2006/main">
              <a:ext uri="{FF2B5EF4-FFF2-40B4-BE49-F238E27FC236}">
                <a16:creationId xmlns:a16="http://schemas.microsoft.com/office/drawing/2014/main" id="{F33591DA-BB59-4389-933E-6BDBAEE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Display usage</a:t>
            </a:r>
          </a:p>
        </p:txBody>
      </p:sp>
      <p:sp>
        <p:nvSpPr>
          <p:cNvPr id="14" name="snapshot-rule-2">
            <a:extLst xmlns:a="http://schemas.openxmlformats.org/drawingml/2006/main">
              <a:ext uri="{FF2B5EF4-FFF2-40B4-BE49-F238E27FC236}">
                <a16:creationId xmlns:a16="http://schemas.microsoft.com/office/drawing/2014/main" id="{E750E528-55F5-4DE1-A65E-D8DC65D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snapshot-num-3">
            <a:extLst xmlns:a="http://schemas.openxmlformats.org/drawingml/2006/main">
              <a:ext uri="{FF2B5EF4-FFF2-40B4-BE49-F238E27FC236}">
                <a16:creationId xmlns:a16="http://schemas.microsoft.com/office/drawing/2014/main" id="{E4752FE8-9F24-4D4E-BDC5-DAB740F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napshot-section-3">
            <a:extLst xmlns:a="http://schemas.openxmlformats.org/drawingml/2006/main">
              <a:ext uri="{FF2B5EF4-FFF2-40B4-BE49-F238E27FC236}">
                <a16:creationId xmlns:a16="http://schemas.microsoft.com/office/drawing/2014/main" id="{E75403E3-7161-49C5-997A-5FEECEF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 quoted $1</a:t>
            </a:r>
          </a:p>
        </p:txBody>
      </p:sp>
      <p:sp>
        <p:nvSpPr>
          <p:cNvPr id="17" name="snapshot-rule-3">
            <a:extLst xmlns:a="http://schemas.openxmlformats.org/drawingml/2006/main">
              <a:ext uri="{FF2B5EF4-FFF2-40B4-BE49-F238E27FC236}">
                <a16:creationId xmlns:a16="http://schemas.microsoft.com/office/drawing/2014/main" id="{6B35351E-5E0F-43E3-894A-97A92C19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snapshot-num-4">
            <a:extLst xmlns:a="http://schemas.openxmlformats.org/drawingml/2006/main">
              <a:ext uri="{FF2B5EF4-FFF2-40B4-BE49-F238E27FC236}">
                <a16:creationId xmlns:a16="http://schemas.microsoft.com/office/drawing/2014/main" id="{0DFD7C95-1224-4A0F-86EE-0B91A8C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snapshot-section-4">
            <a:extLst xmlns:a="http://schemas.openxmlformats.org/drawingml/2006/main">
              <a:ext uri="{FF2B5EF4-FFF2-40B4-BE49-F238E27FC236}">
                <a16:creationId xmlns:a16="http://schemas.microsoft.com/office/drawing/2014/main" id="{0E0A47C9-306A-4B03-B3AA-9FB67CE4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 the path</a:t>
            </a:r>
          </a:p>
        </p:txBody>
      </p:sp>
      <p:sp>
        <p:nvSpPr>
          <p:cNvPr id="20" name="snapshot-rule-4">
            <a:extLst xmlns:a="http://schemas.openxmlformats.org/drawingml/2006/main">
              <a:ext uri="{FF2B5EF4-FFF2-40B4-BE49-F238E27FC236}">
                <a16:creationId xmlns:a16="http://schemas.microsoft.com/office/drawing/2014/main" id="{D54599B5-55B7-4E04-A088-3D50446A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snapshot-num-5">
            <a:extLst xmlns:a="http://schemas.openxmlformats.org/drawingml/2006/main">
              <a:ext uri="{FF2B5EF4-FFF2-40B4-BE49-F238E27FC236}">
                <a16:creationId xmlns:a16="http://schemas.microsoft.com/office/drawing/2014/main" id="{84DD665B-76AB-46F1-B24C-6937BB5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snapshot-section-5">
            <a:extLst xmlns:a="http://schemas.openxmlformats.org/drawingml/2006/main">
              <a:ext uri="{FF2B5EF4-FFF2-40B4-BE49-F238E27FC236}">
                <a16:creationId xmlns:a16="http://schemas.microsoft.com/office/drawing/2014/main" id="{8F267F2E-8D24-4D70-A92D-96BA0D5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00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Report and exit</a:t>
            </a:r>
          </a:p>
        </p:txBody>
      </p:sp>
      <p:sp>
        <p:nvSpPr>
          <p:cNvPr id="23" name="snapshot-rule-5">
            <a:extLst xmlns:a="http://schemas.openxmlformats.org/drawingml/2006/main">
              <a:ext uri="{FF2B5EF4-FFF2-40B4-BE49-F238E27FC236}">
                <a16:creationId xmlns:a16="http://schemas.microsoft.com/office/drawing/2014/main" id="{B7BE9EFA-0262-4DC6-A1D4-0E082F5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snapshot-safety">
            <a:extLst xmlns:a="http://schemas.openxmlformats.org/drawingml/2006/main">
              <a:ext uri="{FF2B5EF4-FFF2-40B4-BE49-F238E27FC236}">
                <a16:creationId xmlns:a16="http://schemas.microsoft.com/office/drawing/2014/main" id="{D106E49B-47E2-4C28-B0D1-6639D2B5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3857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Critical test: a path containing spaces must remain one value.</a:t>
            </a:r>
          </a:p>
        </p:txBody>
      </p:sp>
    </p:spTree>
    <p:extLst>
      <p:ext uri="{BB962C8B-B14F-4D97-AF65-F5344CB8AC3E}">
        <p14:creationId xmlns:p14="http://schemas.microsoft.com/office/powerpoint/2010/main" val="5101007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E308FB94-B97B-4CD0-A400-A842CB4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2 | STUDENT PRACTICE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54CFA0A-55B2-4730-B064-6F06DF2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labs turn data handling into evidence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DC39F79E-D1DF-4129-8421-E02A790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EAF54168-8F26-4EEF-B00B-B4ABDDF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62BE47A5-51B2-40B6-86C2-E2F093D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lab1-panel">
            <a:extLst xmlns:a="http://schemas.openxmlformats.org/drawingml/2006/main">
              <a:ext uri="{FF2B5EF4-FFF2-40B4-BE49-F238E27FC236}">
                <a16:creationId xmlns:a16="http://schemas.microsoft.com/office/drawing/2014/main" id="{8AB1B801-3AF3-4277-A13A-4C8043B7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lab2-panel">
            <a:extLst xmlns:a="http://schemas.openxmlformats.org/drawingml/2006/main">
              <a:ext uri="{FF2B5EF4-FFF2-40B4-BE49-F238E27FC236}">
                <a16:creationId xmlns:a16="http://schemas.microsoft.com/office/drawing/2014/main" id="{D1FE4433-1890-4F19-BE6D-031919F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lab1-label">
            <a:extLst xmlns:a="http://schemas.openxmlformats.org/drawingml/2006/main">
              <a:ext uri="{FF2B5EF4-FFF2-40B4-BE49-F238E27FC236}">
                <a16:creationId xmlns:a16="http://schemas.microsoft.com/office/drawing/2014/main" id="{2175BBE7-8AF3-4A10-84CC-6A43E6A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1</a:t>
            </a:r>
          </a:p>
        </p:txBody>
      </p:sp>
      <p:sp>
        <p:nvSpPr>
          <p:cNvPr id="9" name="lab1-title">
            <a:extLst xmlns:a="http://schemas.openxmlformats.org/drawingml/2006/main">
              <a:ext uri="{FF2B5EF4-FFF2-40B4-BE49-F238E27FC236}">
                <a16:creationId xmlns:a16="http://schemas.microsoft.com/office/drawing/2014/main" id="{7DC4A901-7AD9-4691-801C-3B3DB6E0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28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Server Greeting</a:t>
            </a:r>
          </a:p>
        </p:txBody>
      </p:sp>
      <p:sp>
        <p:nvSpPr>
          <p:cNvPr id="10" name="lab1-list">
            <a:extLst xmlns:a="http://schemas.openxmlformats.org/drawingml/2006/main">
              <a:ext uri="{FF2B5EF4-FFF2-40B4-BE49-F238E27FC236}">
                <a16:creationId xmlns:a16="http://schemas.microsoft.com/office/drawing/2014/main" id="{118C2AF8-169F-4E1D-B2D9-94D4F68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Prompt with read -r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Reject empty input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command substitution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Preserve a full name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Explain each expansion</a:t>
            </a:r>
          </a:p>
        </p:txBody>
      </p:sp>
      <p:sp>
        <p:nvSpPr>
          <p:cNvPr id="11" name="lab2-label">
            <a:extLst xmlns:a="http://schemas.openxmlformats.org/drawingml/2006/main">
              <a:ext uri="{FF2B5EF4-FFF2-40B4-BE49-F238E27FC236}">
                <a16:creationId xmlns:a16="http://schemas.microsoft.com/office/drawing/2014/main" id="{A94DB6B2-64C2-46CD-A6F7-3EF293B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2</a:t>
            </a:r>
          </a:p>
        </p:txBody>
      </p:sp>
      <p:sp>
        <p:nvSpPr>
          <p:cNvPr id="12" name="lab2-title">
            <a:extLst xmlns:a="http://schemas.openxmlformats.org/drawingml/2006/main">
              <a:ext uri="{FF2B5EF4-FFF2-40B4-BE49-F238E27FC236}">
                <a16:creationId xmlns:a16="http://schemas.microsoft.com/office/drawing/2014/main" id="{82DF3DB1-938C-4965-A87C-68F85D0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38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Safe File Inspector</a:t>
            </a:r>
          </a:p>
        </p:txBody>
      </p:sp>
      <p:sp>
        <p:nvSpPr>
          <p:cNvPr id="13" name="lab2-list">
            <a:extLst xmlns:a="http://schemas.openxmlformats.org/drawingml/2006/main">
              <a:ext uri="{FF2B5EF4-FFF2-40B4-BE49-F238E27FC236}">
                <a16:creationId xmlns:a16="http://schemas.microsoft.com/office/drawing/2014/main" id="{403E66A3-D2E3-4ADA-99D7-2D6E7E9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19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Require one path argument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Display usage on error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Quote $1 every time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Test a path with spaces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meaningful exit codes</a:t>
            </a:r>
          </a:p>
        </p:txBody>
      </p:sp>
      <p:sp>
        <p:nvSpPr>
          <p:cNvPr id="14" name="lab-proof-bg">
            <a:extLst xmlns:a="http://schemas.openxmlformats.org/drawingml/2006/main">
              <a:ext uri="{FF2B5EF4-FFF2-40B4-BE49-F238E27FC236}">
                <a16:creationId xmlns:a16="http://schemas.microsoft.com/office/drawing/2014/main" id="{0DF733BA-2AF6-44BA-ACD5-FB0E2298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lab-proof">
            <a:extLst xmlns:a="http://schemas.openxmlformats.org/drawingml/2006/main">
              <a:ext uri="{FF2B5EF4-FFF2-40B4-BE49-F238E27FC236}">
                <a16:creationId xmlns:a16="http://schemas.microsoft.com/office/drawing/2014/main" id="{D887C452-8823-4D0F-B3E6-ABCEE6F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Required proof: normal input + spaces + empty input + missing path + exit status</a:t>
            </a:r>
          </a:p>
        </p:txBody>
      </p:sp>
    </p:spTree>
    <p:extLst>
      <p:ext uri="{BB962C8B-B14F-4D97-AF65-F5344CB8AC3E}">
        <p14:creationId xmlns:p14="http://schemas.microsoft.com/office/powerpoint/2010/main" val="10815422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227ED9C2-4DDB-43F0-9A0A-F12DD07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2 | CHECKPOINT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279A2D4-F17B-4CE3-95F9-38F3E75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Milestone M2: accept, validate, and preserve input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F4DBF4A3-1F0B-44D2-8C17-2E69E999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8AAFF38F-9167-4CA3-A2C1-B077EC56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58E273CA-1FCD-40CF-8FBB-0946589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milestone-title">
            <a:extLst xmlns:a="http://schemas.openxmlformats.org/drawingml/2006/main">
              <a:ext uri="{FF2B5EF4-FFF2-40B4-BE49-F238E27FC236}">
                <a16:creationId xmlns:a16="http://schemas.microsoft.com/office/drawing/2014/main" id="{1B16BE1C-17F9-4329-BC54-DFB1160E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09575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HANDLER</a:t>
            </a:r>
          </a:p>
        </p:txBody>
      </p:sp>
      <p:sp>
        <p:nvSpPr>
          <p:cNvPr id="7" name="milestone-body">
            <a:extLst xmlns:a="http://schemas.openxmlformats.org/drawingml/2006/main">
              <a:ext uri="{FF2B5EF4-FFF2-40B4-BE49-F238E27FC236}">
                <a16:creationId xmlns:a16="http://schemas.microsoft.com/office/drawing/2014/main" id="{5BC7E257-8291-4E48-8159-791CE43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4476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You are ready when your script accepts data, rejects bad input, preserves spaces, and explains each expansion.</a:t>
            </a:r>
          </a:p>
        </p:txBody>
      </p:sp>
      <p:sp>
        <p:nvSpPr>
          <p:cNvPr id="8" name="checkpoint-01">
            <a:extLst xmlns:a="http://schemas.openxmlformats.org/drawingml/2006/main">
              <a:ext uri="{FF2B5EF4-FFF2-40B4-BE49-F238E27FC236}">
                <a16:creationId xmlns:a16="http://schemas.microsoft.com/office/drawing/2014/main" id="{0C8A73AD-FB50-45A7-9322-C9A00141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checkpoint-num-01">
            <a:extLst xmlns:a="http://schemas.openxmlformats.org/drawingml/2006/main">
              <a:ext uri="{FF2B5EF4-FFF2-40B4-BE49-F238E27FC236}">
                <a16:creationId xmlns:a16="http://schemas.microsoft.com/office/drawing/2014/main" id="{B0D19891-E9CF-460F-BFF1-753739E9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288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checkpoint-title-01">
            <a:extLst xmlns:a="http://schemas.openxmlformats.org/drawingml/2006/main">
              <a:ext uri="{FF2B5EF4-FFF2-40B4-BE49-F238E27FC236}">
                <a16:creationId xmlns:a16="http://schemas.microsoft.com/office/drawing/2014/main" id="{DFCEFA17-7B0D-4FD2-A166-2221E93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6217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STORE</a:t>
            </a:r>
          </a:p>
        </p:txBody>
      </p:sp>
      <p:sp>
        <p:nvSpPr>
          <p:cNvPr id="11" name="checkpoint-body-01">
            <a:extLst xmlns:a="http://schemas.openxmlformats.org/drawingml/2006/main">
              <a:ext uri="{FF2B5EF4-FFF2-40B4-BE49-F238E27FC236}">
                <a16:creationId xmlns:a16="http://schemas.microsoft.com/office/drawing/2014/main" id="{3421AA71-2B40-43E1-A1EB-C438F6D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Correct assignment + command substitution</a:t>
            </a:r>
          </a:p>
        </p:txBody>
      </p:sp>
      <p:sp>
        <p:nvSpPr>
          <p:cNvPr id="12" name="checkpoint-02">
            <a:extLst xmlns:a="http://schemas.openxmlformats.org/drawingml/2006/main">
              <a:ext uri="{FF2B5EF4-FFF2-40B4-BE49-F238E27FC236}">
                <a16:creationId xmlns:a16="http://schemas.microsoft.com/office/drawing/2014/main" id="{CAC41DB2-341C-41D8-B8DE-62CDE11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checkpoint-num-02">
            <a:extLst xmlns:a="http://schemas.openxmlformats.org/drawingml/2006/main">
              <a:ext uri="{FF2B5EF4-FFF2-40B4-BE49-F238E27FC236}">
                <a16:creationId xmlns:a16="http://schemas.microsoft.com/office/drawing/2014/main" id="{49C60BDA-395B-4F8D-AE74-0C0DEC0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2422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checkpoint-title-02">
            <a:extLst xmlns:a="http://schemas.openxmlformats.org/drawingml/2006/main">
              <a:ext uri="{FF2B5EF4-FFF2-40B4-BE49-F238E27FC236}">
                <a16:creationId xmlns:a16="http://schemas.microsoft.com/office/drawing/2014/main" id="{7AAC14B9-C1E1-4F37-9526-BD0345E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PROTECT</a:t>
            </a:r>
          </a:p>
        </p:txBody>
      </p:sp>
      <p:sp>
        <p:nvSpPr>
          <p:cNvPr id="15" name="checkpoint-body-02">
            <a:extLst xmlns:a="http://schemas.openxmlformats.org/drawingml/2006/main">
              <a:ext uri="{FF2B5EF4-FFF2-40B4-BE49-F238E27FC236}">
                <a16:creationId xmlns:a16="http://schemas.microsoft.com/office/drawing/2014/main" id="{0E031E6F-0737-4D36-B551-5D5EBE0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71875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Double quotes preserve boundaries</a:t>
            </a:r>
          </a:p>
        </p:txBody>
      </p:sp>
      <p:sp>
        <p:nvSpPr>
          <p:cNvPr id="16" name="checkpoint-03">
            <a:extLst xmlns:a="http://schemas.openxmlformats.org/drawingml/2006/main">
              <a:ext uri="{FF2B5EF4-FFF2-40B4-BE49-F238E27FC236}">
                <a16:creationId xmlns:a16="http://schemas.microsoft.com/office/drawing/2014/main" id="{391C2D55-DB18-481B-B3E9-3427F7F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91000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7" name="checkpoint-num-03">
            <a:extLst xmlns:a="http://schemas.openxmlformats.org/drawingml/2006/main">
              <a:ext uri="{FF2B5EF4-FFF2-40B4-BE49-F238E27FC236}">
                <a16:creationId xmlns:a16="http://schemas.microsoft.com/office/drawing/2014/main" id="{440FC51A-9B95-4E28-922D-70487DE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1960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checkpoint-title-03">
            <a:extLst xmlns:a="http://schemas.openxmlformats.org/drawingml/2006/main">
              <a:ext uri="{FF2B5EF4-FFF2-40B4-BE49-F238E27FC236}">
                <a16:creationId xmlns:a16="http://schemas.microsoft.com/office/drawing/2014/main" id="{93B5C000-5C51-4A16-8DF2-BE78BA5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529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9" name="checkpoint-body-03">
            <a:extLst xmlns:a="http://schemas.openxmlformats.org/drawingml/2006/main">
              <a:ext uri="{FF2B5EF4-FFF2-40B4-BE49-F238E27FC236}">
                <a16:creationId xmlns:a16="http://schemas.microsoft.com/office/drawing/2014/main" id="{79936B4E-F624-46B3-BF8D-DA03333D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Usage + failure path + exit code</a:t>
            </a:r>
          </a:p>
        </p:txBody>
      </p:sp>
      <p:sp>
        <p:nvSpPr>
          <p:cNvPr id="20" name="checkpoint-rule">
            <a:extLst xmlns:a="http://schemas.openxmlformats.org/drawingml/2006/main">
              <a:ext uri="{FF2B5EF4-FFF2-40B4-BE49-F238E27FC236}">
                <a16:creationId xmlns:a16="http://schemas.microsoft.com/office/drawing/2014/main" id="{A528CBD3-4067-4F72-92B8-030BB81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checkpoint-next">
            <a:extLst xmlns:a="http://schemas.openxmlformats.org/drawingml/2006/main">
              <a:ext uri="{FF2B5EF4-FFF2-40B4-BE49-F238E27FC236}">
                <a16:creationId xmlns:a16="http://schemas.microsoft.com/office/drawing/2014/main" id="{9042D912-1889-431D-9AC0-F4CA5E81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NEXT: Week 3 adds tests, exit-status decisions, if/elif/else, and case.</a:t>
            </a:r>
          </a:p>
        </p:txBody>
      </p:sp>
    </p:spTree>
    <p:extLst>
      <p:ext uri="{BB962C8B-B14F-4D97-AF65-F5344CB8AC3E}">
        <p14:creationId xmlns:p14="http://schemas.microsoft.com/office/powerpoint/2010/main" val="729967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2026-07-14T00:01:44.1860000Z</dcterms:created>
  <dcterms:modified xsi:type="dcterms:W3CDTF">2026-07-14T00:01:44.1860000Z</dcterms:modified>
</coreProperties>
</file>